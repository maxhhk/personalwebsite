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92" r:id="rId2"/>
    <p:sldId id="313" r:id="rId3"/>
    <p:sldId id="280" r:id="rId4"/>
    <p:sldId id="328" r:id="rId5"/>
    <p:sldId id="343" r:id="rId6"/>
    <p:sldId id="333" r:id="rId7"/>
    <p:sldId id="334" r:id="rId8"/>
    <p:sldId id="335" r:id="rId9"/>
    <p:sldId id="330" r:id="rId10"/>
    <p:sldId id="307" r:id="rId11"/>
    <p:sldId id="308" r:id="rId12"/>
    <p:sldId id="336" r:id="rId13"/>
    <p:sldId id="342" r:id="rId14"/>
    <p:sldId id="323" r:id="rId15"/>
    <p:sldId id="297" r:id="rId16"/>
    <p:sldId id="324" r:id="rId17"/>
    <p:sldId id="325" r:id="rId18"/>
    <p:sldId id="326" r:id="rId19"/>
    <p:sldId id="338" r:id="rId20"/>
    <p:sldId id="340" r:id="rId21"/>
    <p:sldId id="306" r:id="rId22"/>
    <p:sldId id="341" r:id="rId23"/>
    <p:sldId id="327" r:id="rId24"/>
    <p:sldId id="269" r:id="rId25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4"/>
    <p:restoredTop sz="89615"/>
  </p:normalViewPr>
  <p:slideViewPr>
    <p:cSldViewPr>
      <p:cViewPr varScale="1">
        <p:scale>
          <a:sx n="113" d="100"/>
          <a:sy n="113" d="100"/>
        </p:scale>
        <p:origin x="1160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2A9973-B9ED-494B-B091-AE3EF8FAC81C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F9622-C0D5-4923-B7D7-4C8D505DD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04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335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F9622-C0D5-4923-B7D7-4C8D505DDBF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970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F9622-C0D5-4923-B7D7-4C8D505DDBF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420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F9622-C0D5-4923-B7D7-4C8D505DDBF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807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F9622-C0D5-4923-B7D7-4C8D505DDBF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657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1: Initialization - Keyword: Weights</a:t>
            </a:r>
          </a:p>
          <a:p>
            <a:r>
              <a:rPr lang="en-US" dirty="0"/>
              <a:t>Assign initial weights to each training sample.</a:t>
            </a:r>
          </a:p>
          <a:p>
            <a:r>
              <a:rPr lang="en-US" dirty="0"/>
              <a:t>Step 2: Weak Learner Training - Keyword: Learning</a:t>
            </a:r>
          </a:p>
          <a:p>
            <a:r>
              <a:rPr lang="en-US" dirty="0"/>
              <a:t>Train a weak learner (e.g., decision stump) on the weighted training data.</a:t>
            </a:r>
          </a:p>
          <a:p>
            <a:r>
              <a:rPr lang="en-US" dirty="0"/>
              <a:t>Step 3: Weight Update - Keyword: Adjustments</a:t>
            </a:r>
          </a:p>
          <a:p>
            <a:r>
              <a:rPr lang="en-US" dirty="0"/>
              <a:t>Adjust the weights of misclassified samples to emphasize their importance in the next iteration.</a:t>
            </a:r>
          </a:p>
          <a:p>
            <a:r>
              <a:rPr lang="en-US" dirty="0"/>
              <a:t>Step 4: Iteration - Keyword: Iterative</a:t>
            </a:r>
          </a:p>
          <a:p>
            <a:r>
              <a:rPr lang="en-US" dirty="0"/>
              <a:t>Repeat steps 2 and 3 for a specified number of iterations or until a stopping criterion is met.</a:t>
            </a:r>
          </a:p>
          <a:p>
            <a:r>
              <a:rPr lang="en-US" dirty="0"/>
              <a:t>Step 5: Combining Weak Learners - Keyword: Aggregation</a:t>
            </a:r>
          </a:p>
          <a:p>
            <a:r>
              <a:rPr lang="en-US" dirty="0"/>
              <a:t>Combine the predictions of the weak learners, typically through weighted voting, to form the final strong learner.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F9622-C0D5-4923-B7D7-4C8D505DDBF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703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F9622-C0D5-4923-B7D7-4C8D505DDBF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192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F9622-C0D5-4923-B7D7-4C8D505DDBF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496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F9622-C0D5-4923-B7D7-4C8D505DDBF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564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F9622-C0D5-4923-B7D7-4C8D505DDBF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426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F9622-C0D5-4923-B7D7-4C8D505DDBF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466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F9622-C0D5-4923-B7D7-4C8D505DDBF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2663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F9622-C0D5-4923-B7D7-4C8D505DDBF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35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F9622-C0D5-4923-B7D7-4C8D505DDBF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1828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F9622-C0D5-4923-B7D7-4C8D505DDBFE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878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1078" y="2353563"/>
            <a:ext cx="10309842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0827" y="2846323"/>
            <a:ext cx="11470345" cy="1579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7415" y="6428920"/>
            <a:ext cx="2444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2473289"/>
            <a:ext cx="8686800" cy="1911421"/>
          </a:xfrm>
          <a:prstGeom prst="rect">
            <a:avLst/>
          </a:prstGeom>
        </p:spPr>
        <p:txBody>
          <a:bodyPr vert="horz" wrap="square" lIns="0" tIns="231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7200" spc="-65" dirty="0"/>
              <a:t>Tutorial</a:t>
            </a:r>
            <a:r>
              <a:rPr lang="en-US" sz="7200" spc="-65" dirty="0"/>
              <a:t> 6</a:t>
            </a:r>
            <a:endParaRPr sz="7200" dirty="0"/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3200" b="0" dirty="0">
                <a:latin typeface="Times New Roman"/>
                <a:cs typeface="Times New Roman"/>
              </a:rPr>
              <a:t>C</a:t>
            </a:r>
            <a:r>
              <a:rPr sz="3200" b="0" spc="5" dirty="0">
                <a:latin typeface="Times New Roman"/>
                <a:cs typeface="Times New Roman"/>
              </a:rPr>
              <a:t>O</a:t>
            </a:r>
            <a:r>
              <a:rPr sz="3200" b="0" spc="-5" dirty="0">
                <a:latin typeface="Times New Roman"/>
                <a:cs typeface="Times New Roman"/>
              </a:rPr>
              <a:t>M</a:t>
            </a:r>
            <a:r>
              <a:rPr sz="3200" b="0" dirty="0">
                <a:latin typeface="Times New Roman"/>
                <a:cs typeface="Times New Roman"/>
              </a:rPr>
              <a:t>P</a:t>
            </a:r>
            <a:r>
              <a:rPr lang="en-US" sz="3200" b="0" dirty="0"/>
              <a:t> 5511</a:t>
            </a:r>
            <a:r>
              <a:rPr sz="3200" b="0" dirty="0">
                <a:latin typeface="Times New Roman"/>
                <a:cs typeface="Times New Roman"/>
              </a:rPr>
              <a:t>:</a:t>
            </a:r>
            <a:r>
              <a:rPr sz="3200" b="0" spc="-120" dirty="0">
                <a:latin typeface="Times New Roman"/>
                <a:cs typeface="Times New Roman"/>
              </a:rPr>
              <a:t> </a:t>
            </a:r>
            <a:r>
              <a:rPr lang="en-US" altLang="zh-CN" sz="3200" b="0" spc="5" dirty="0">
                <a:latin typeface="Times New Roman"/>
                <a:cs typeface="Times New Roman"/>
              </a:rPr>
              <a:t>A</a:t>
            </a:r>
            <a:r>
              <a:rPr lang="en-US" altLang="zh-CN" sz="3200" b="0" spc="-5" dirty="0">
                <a:latin typeface="Times New Roman"/>
                <a:cs typeface="Times New Roman"/>
              </a:rPr>
              <a:t>r</a:t>
            </a:r>
            <a:r>
              <a:rPr lang="en-US" altLang="zh-CN" sz="3200" b="0" spc="-10" dirty="0">
                <a:latin typeface="Times New Roman"/>
                <a:cs typeface="Times New Roman"/>
              </a:rPr>
              <a:t>ti</a:t>
            </a:r>
            <a:r>
              <a:rPr lang="en-US" altLang="zh-CN" sz="3200" b="0" spc="-5" dirty="0">
                <a:latin typeface="Times New Roman"/>
                <a:cs typeface="Times New Roman"/>
              </a:rPr>
              <a:t>f</a:t>
            </a:r>
            <a:r>
              <a:rPr lang="en-US" altLang="zh-CN" sz="3200" b="0" spc="-10" dirty="0">
                <a:latin typeface="Times New Roman"/>
                <a:cs typeface="Times New Roman"/>
              </a:rPr>
              <a:t>i</a:t>
            </a:r>
            <a:r>
              <a:rPr lang="en-US" altLang="zh-CN" sz="3200" b="0" spc="-5" dirty="0">
                <a:latin typeface="Times New Roman"/>
                <a:cs typeface="Times New Roman"/>
              </a:rPr>
              <a:t>c</a:t>
            </a:r>
            <a:r>
              <a:rPr lang="en-US" altLang="zh-CN" sz="3200" b="0" spc="-10" dirty="0">
                <a:latin typeface="Times New Roman"/>
                <a:cs typeface="Times New Roman"/>
              </a:rPr>
              <a:t>i</a:t>
            </a:r>
            <a:r>
              <a:rPr lang="en-US" altLang="zh-CN" sz="3200" b="0" spc="-5" dirty="0">
                <a:latin typeface="Times New Roman"/>
                <a:cs typeface="Times New Roman"/>
              </a:rPr>
              <a:t>a</a:t>
            </a:r>
            <a:r>
              <a:rPr lang="en-US" altLang="zh-CN" sz="3200" b="0" dirty="0">
                <a:latin typeface="Times New Roman"/>
                <a:cs typeface="Times New Roman"/>
              </a:rPr>
              <a:t>l</a:t>
            </a:r>
            <a:r>
              <a:rPr lang="en-US" altLang="zh-CN" sz="3200" b="0" spc="-10" dirty="0">
                <a:latin typeface="Times New Roman"/>
                <a:cs typeface="Times New Roman"/>
              </a:rPr>
              <a:t> </a:t>
            </a:r>
            <a:r>
              <a:rPr lang="en-US" altLang="zh-CN" sz="3200" b="0" spc="-5" dirty="0">
                <a:latin typeface="Times New Roman"/>
                <a:cs typeface="Times New Roman"/>
              </a:rPr>
              <a:t>I</a:t>
            </a:r>
            <a:r>
              <a:rPr lang="en-US" altLang="zh-CN" sz="3200" b="0" dirty="0">
                <a:latin typeface="Times New Roman"/>
                <a:cs typeface="Times New Roman"/>
              </a:rPr>
              <a:t>n</a:t>
            </a:r>
            <a:r>
              <a:rPr lang="en-US" altLang="zh-CN" sz="3200" b="0" spc="-10" dirty="0">
                <a:latin typeface="Times New Roman"/>
                <a:cs typeface="Times New Roman"/>
              </a:rPr>
              <a:t>t</a:t>
            </a:r>
            <a:r>
              <a:rPr lang="en-US" altLang="zh-CN" sz="3200" b="0" spc="-5" dirty="0">
                <a:latin typeface="Times New Roman"/>
                <a:cs typeface="Times New Roman"/>
              </a:rPr>
              <a:t>e</a:t>
            </a:r>
            <a:r>
              <a:rPr lang="en-US" altLang="zh-CN" sz="3200" b="0" spc="-10" dirty="0">
                <a:latin typeface="Times New Roman"/>
                <a:cs typeface="Times New Roman"/>
              </a:rPr>
              <a:t>lli</a:t>
            </a:r>
            <a:r>
              <a:rPr lang="en-US" altLang="zh-CN" sz="3200" b="0" dirty="0">
                <a:latin typeface="Times New Roman"/>
                <a:cs typeface="Times New Roman"/>
              </a:rPr>
              <a:t>g</a:t>
            </a:r>
            <a:r>
              <a:rPr lang="en-US" altLang="zh-CN" sz="3200" b="0" spc="-5" dirty="0">
                <a:latin typeface="Times New Roman"/>
                <a:cs typeface="Times New Roman"/>
              </a:rPr>
              <a:t>e</a:t>
            </a:r>
            <a:r>
              <a:rPr lang="en-US" altLang="zh-CN" sz="3200" b="0" dirty="0">
                <a:latin typeface="Times New Roman"/>
                <a:cs typeface="Times New Roman"/>
              </a:rPr>
              <a:t>n</a:t>
            </a:r>
            <a:r>
              <a:rPr lang="en-US" altLang="zh-CN" sz="3200" b="0" spc="-5" dirty="0">
                <a:latin typeface="Times New Roman"/>
                <a:cs typeface="Times New Roman"/>
              </a:rPr>
              <a:t>c</a:t>
            </a:r>
            <a:r>
              <a:rPr lang="en-US" altLang="zh-CN" sz="3200" b="0" dirty="0">
                <a:latin typeface="Times New Roman"/>
                <a:cs typeface="Times New Roman"/>
              </a:rPr>
              <a:t>e</a:t>
            </a:r>
            <a:r>
              <a:rPr lang="en-US" altLang="zh-CN" sz="3200" b="0" spc="-5" dirty="0">
                <a:latin typeface="Times New Roman"/>
                <a:cs typeface="Times New Roman"/>
              </a:rPr>
              <a:t> </a:t>
            </a:r>
            <a:r>
              <a:rPr lang="en-US" altLang="zh-CN" sz="3200" b="0" dirty="0">
                <a:latin typeface="Times New Roman"/>
                <a:cs typeface="Times New Roman"/>
              </a:rPr>
              <a:t>Con</a:t>
            </a:r>
            <a:r>
              <a:rPr lang="en-US" altLang="zh-CN" sz="3200" b="0" spc="-5" dirty="0">
                <a:latin typeface="Times New Roman"/>
                <a:cs typeface="Times New Roman"/>
              </a:rPr>
              <a:t>ce</a:t>
            </a:r>
            <a:r>
              <a:rPr lang="en-US" altLang="zh-CN" sz="3200" b="0" dirty="0">
                <a:latin typeface="Times New Roman"/>
                <a:cs typeface="Times New Roman"/>
              </a:rPr>
              <a:t>p</a:t>
            </a:r>
            <a:r>
              <a:rPr lang="en-US" altLang="zh-CN" sz="3200" b="0" spc="-10" dirty="0">
                <a:latin typeface="Times New Roman"/>
                <a:cs typeface="Times New Roman"/>
              </a:rPr>
              <a:t>t</a:t>
            </a:r>
            <a:r>
              <a:rPr lang="en-US" altLang="zh-CN" sz="3200" b="0" dirty="0">
                <a:latin typeface="Times New Roman"/>
                <a:cs typeface="Times New Roman"/>
              </a:rPr>
              <a:t>s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67400" y="0"/>
            <a:ext cx="6325047" cy="1295400"/>
          </a:xfrm>
          <a:custGeom>
            <a:avLst/>
            <a:gdLst/>
            <a:ahLst/>
            <a:cxnLst/>
            <a:rect l="l" t="t" r="r" b="b"/>
            <a:pathLst>
              <a:path w="7084695" h="2131060">
                <a:moveTo>
                  <a:pt x="7084247" y="0"/>
                </a:moveTo>
                <a:lnTo>
                  <a:pt x="986725" y="0"/>
                </a:lnTo>
                <a:lnTo>
                  <a:pt x="0" y="2130552"/>
                </a:lnTo>
                <a:lnTo>
                  <a:pt x="7084247" y="2130552"/>
                </a:lnTo>
                <a:lnTo>
                  <a:pt x="7084247" y="0"/>
                </a:lnTo>
                <a:close/>
              </a:path>
            </a:pathLst>
          </a:custGeom>
          <a:solidFill>
            <a:srgbClr val="B4B4B4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67388" y="5181600"/>
            <a:ext cx="5735003" cy="1536318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lang="en-CN" altLang="zh-CN" sz="2800" b="1" dirty="0">
                <a:latin typeface="Times New Roman"/>
                <a:cs typeface="Times New Roman"/>
              </a:rPr>
              <a:t>Haokai HONG</a:t>
            </a: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2800" spc="-5" dirty="0">
                <a:latin typeface="Times New Roman"/>
                <a:cs typeface="Times New Roman"/>
              </a:rPr>
              <a:t>Department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>
                <a:latin typeface="Times New Roman"/>
                <a:cs typeface="Times New Roman"/>
              </a:rPr>
              <a:t>of</a:t>
            </a:r>
            <a:r>
              <a:rPr sz="2800" spc="-10">
                <a:latin typeface="Times New Roman"/>
                <a:cs typeface="Times New Roman"/>
              </a:rPr>
              <a:t> </a:t>
            </a:r>
            <a:r>
              <a:rPr lang="en-US" sz="2800" spc="-5">
                <a:latin typeface="Times New Roman"/>
                <a:cs typeface="Times New Roman"/>
              </a:rPr>
              <a:t>DSAI</a:t>
            </a:r>
            <a:endParaRPr lang="en-US" sz="2800" spc="-5" dirty="0">
              <a:latin typeface="Times New Roman"/>
              <a:cs typeface="Times New Roman"/>
            </a:endParaRPr>
          </a:p>
          <a:p>
            <a:pPr marL="12700" marR="5080" algn="ctr">
              <a:lnSpc>
                <a:spcPts val="3340"/>
              </a:lnSpc>
            </a:pPr>
            <a:r>
              <a:rPr lang="en-US" altLang="zh-CN" sz="2800" spc="-5" dirty="0" err="1">
                <a:latin typeface="Times New Roman"/>
                <a:cs typeface="Times New Roman"/>
              </a:rPr>
              <a:t>haokai.hong@connect.polyu.hk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209290"/>
            <a:ext cx="4754889" cy="9111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56568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O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utlines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2</a:t>
            </a:fld>
            <a:endParaRPr spc="-60" dirty="0"/>
          </a:p>
        </p:txBody>
      </p:sp>
      <p:sp>
        <p:nvSpPr>
          <p:cNvPr id="7" name="文本框 18">
            <a:extLst>
              <a:ext uri="{FF2B5EF4-FFF2-40B4-BE49-F238E27FC236}">
                <a16:creationId xmlns:a16="http://schemas.microsoft.com/office/drawing/2014/main" id="{AC8028D2-8E25-7079-372D-54A5B79E83A0}"/>
              </a:ext>
            </a:extLst>
          </p:cNvPr>
          <p:cNvSpPr txBox="1"/>
          <p:nvPr/>
        </p:nvSpPr>
        <p:spPr>
          <a:xfrm>
            <a:off x="628649" y="2551400"/>
            <a:ext cx="109347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  <a:p>
            <a:pPr marL="457200" indent="-457200">
              <a:buFont typeface="+mj-lt"/>
              <a:buAutoNum type="arabicPeriod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and Underfitting</a:t>
            </a:r>
          </a:p>
          <a:p>
            <a:pPr marL="457200" indent="-457200">
              <a:buFont typeface="+mj-lt"/>
              <a:buAutoNum type="arabicPeriod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2920913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56568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Review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3</a:t>
            </a:fld>
            <a:endParaRPr spc="-60" dirty="0"/>
          </a:p>
        </p:txBody>
      </p:sp>
      <p:sp>
        <p:nvSpPr>
          <p:cNvPr id="7" name="文本框 18">
            <a:extLst>
              <a:ext uri="{FF2B5EF4-FFF2-40B4-BE49-F238E27FC236}">
                <a16:creationId xmlns:a16="http://schemas.microsoft.com/office/drawing/2014/main" id="{AC8028D2-8E25-7079-372D-54A5B79E83A0}"/>
              </a:ext>
            </a:extLst>
          </p:cNvPr>
          <p:cNvSpPr txBox="1"/>
          <p:nvPr/>
        </p:nvSpPr>
        <p:spPr>
          <a:xfrm>
            <a:off x="628650" y="1428235"/>
            <a:ext cx="10934700" cy="4658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templates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feature template is a group of features all computed in a similar way.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 features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Underfitting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classical unsupervised learning method;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aims at discovering structure in unlabeled data;</a:t>
            </a:r>
          </a:p>
        </p:txBody>
      </p:sp>
    </p:spTree>
    <p:extLst>
      <p:ext uri="{BB962C8B-B14F-4D97-AF65-F5344CB8AC3E}">
        <p14:creationId xmlns:p14="http://schemas.microsoft.com/office/powerpoint/2010/main" val="828243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1749" y="1947651"/>
            <a:ext cx="11711504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and Underfitting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1295400"/>
            <a:ext cx="155575" cy="2332990"/>
            <a:chOff x="-6350" y="1981368"/>
            <a:chExt cx="155575" cy="2332990"/>
          </a:xfrm>
        </p:grpSpPr>
        <p:sp>
          <p:nvSpPr>
            <p:cNvPr id="4" name="object 4"/>
            <p:cNvSpPr/>
            <p:nvPr/>
          </p:nvSpPr>
          <p:spPr>
            <a:xfrm>
              <a:off x="0" y="1987718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2320141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2320141"/>
                  </a:lnTo>
                  <a:lnTo>
                    <a:pt x="0" y="232014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987718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0"/>
                  </a:moveTo>
                  <a:lnTo>
                    <a:pt x="142504" y="0"/>
                  </a:lnTo>
                  <a:lnTo>
                    <a:pt x="142504" y="2320142"/>
                  </a:lnTo>
                  <a:lnTo>
                    <a:pt x="0" y="2320142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98699" y="3173513"/>
            <a:ext cx="11317605" cy="0"/>
          </a:xfrm>
          <a:custGeom>
            <a:avLst/>
            <a:gdLst/>
            <a:ahLst/>
            <a:cxnLst/>
            <a:rect l="l" t="t" r="r" b="b"/>
            <a:pathLst>
              <a:path w="11317605">
                <a:moveTo>
                  <a:pt x="0" y="0"/>
                </a:moveTo>
                <a:lnTo>
                  <a:pt x="11317115" y="1"/>
                </a:lnTo>
              </a:path>
            </a:pathLst>
          </a:custGeom>
          <a:ln w="12700">
            <a:solidFill>
              <a:srgbClr val="D0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0149BB-174B-D8D9-49F0-A82593187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700" y="3370889"/>
            <a:ext cx="73406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955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1749" y="1947651"/>
            <a:ext cx="11711504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zh-C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and Underfitting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1295400"/>
            <a:ext cx="155575" cy="2332990"/>
            <a:chOff x="-6350" y="1981368"/>
            <a:chExt cx="155575" cy="2332990"/>
          </a:xfrm>
        </p:grpSpPr>
        <p:sp>
          <p:nvSpPr>
            <p:cNvPr id="4" name="object 4"/>
            <p:cNvSpPr/>
            <p:nvPr/>
          </p:nvSpPr>
          <p:spPr>
            <a:xfrm>
              <a:off x="0" y="1987718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2320141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2320141"/>
                  </a:lnTo>
                  <a:lnTo>
                    <a:pt x="0" y="232014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987718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0"/>
                  </a:moveTo>
                  <a:lnTo>
                    <a:pt x="142504" y="0"/>
                  </a:lnTo>
                  <a:lnTo>
                    <a:pt x="142504" y="2320142"/>
                  </a:lnTo>
                  <a:lnTo>
                    <a:pt x="0" y="2320142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98699" y="3173513"/>
            <a:ext cx="11317605" cy="0"/>
          </a:xfrm>
          <a:custGeom>
            <a:avLst/>
            <a:gdLst/>
            <a:ahLst/>
            <a:cxnLst/>
            <a:rect l="l" t="t" r="r" b="b"/>
            <a:pathLst>
              <a:path w="11317605">
                <a:moveTo>
                  <a:pt x="0" y="0"/>
                </a:moveTo>
                <a:lnTo>
                  <a:pt x="11317115" y="1"/>
                </a:lnTo>
              </a:path>
            </a:pathLst>
          </a:custGeom>
          <a:ln w="12700">
            <a:solidFill>
              <a:srgbClr val="D0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6AF7FE-770C-E6C2-F18C-94726012F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0" y="3177262"/>
            <a:ext cx="7239000" cy="368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51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69522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Methods for Overfitting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6</a:t>
            </a:fld>
            <a:endParaRPr spc="-60" dirty="0"/>
          </a:p>
        </p:txBody>
      </p:sp>
      <p:sp>
        <p:nvSpPr>
          <p:cNvPr id="8" name="文本框 18">
            <a:extLst>
              <a:ext uri="{FF2B5EF4-FFF2-40B4-BE49-F238E27FC236}">
                <a16:creationId xmlns:a16="http://schemas.microsoft.com/office/drawing/2014/main" id="{577D6342-E156-A340-28D5-5E020F69B9F7}"/>
              </a:ext>
            </a:extLst>
          </p:cNvPr>
          <p:cNvSpPr txBox="1"/>
          <p:nvPr/>
        </p:nvSpPr>
        <p:spPr>
          <a:xfrm>
            <a:off x="800100" y="1074539"/>
            <a:ext cx="65913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methods for addressing overfitting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Hold-out: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using all of our data for training, we can simply split our dataset into two sets: training and testing.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split our dataset into k groups (k-fold cross-validation). We let one of the groups to be the testing set (please see hold-out explanation) and the others as the training set, and repeat this process until each individual group has been used as the testing set (e.g., k repeats).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Augmentation: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technique that artificially increases the size of the training set by applying transformations to the existing data.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0493AC-51C5-1117-D7D2-0CAAEBD8E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906" y="1184969"/>
            <a:ext cx="4594094" cy="31164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03EB7A-484C-CB3B-AD07-186E9D1F29BB}"/>
              </a:ext>
            </a:extLst>
          </p:cNvPr>
          <p:cNvSpPr txBox="1"/>
          <p:nvPr/>
        </p:nvSpPr>
        <p:spPr>
          <a:xfrm>
            <a:off x="8450726" y="4186045"/>
            <a:ext cx="3427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23CAA6-79FE-A922-E047-AF636DE3D1E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035"/>
          <a:stretch/>
        </p:blipFill>
        <p:spPr>
          <a:xfrm>
            <a:off x="7597907" y="4670762"/>
            <a:ext cx="4517894" cy="16362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8BD2CE7-D0C2-9468-9359-9A05F0276C2D}"/>
              </a:ext>
            </a:extLst>
          </p:cNvPr>
          <p:cNvSpPr txBox="1"/>
          <p:nvPr/>
        </p:nvSpPr>
        <p:spPr>
          <a:xfrm>
            <a:off x="8498008" y="6307014"/>
            <a:ext cx="3427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223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69522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Methods for Overfitting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7</a:t>
            </a:fld>
            <a:endParaRPr spc="-60" dirty="0"/>
          </a:p>
        </p:txBody>
      </p:sp>
      <p:sp>
        <p:nvSpPr>
          <p:cNvPr id="8" name="文本框 18">
            <a:extLst>
              <a:ext uri="{FF2B5EF4-FFF2-40B4-BE49-F238E27FC236}">
                <a16:creationId xmlns:a16="http://schemas.microsoft.com/office/drawing/2014/main" id="{577D6342-E156-A340-28D5-5E020F69B9F7}"/>
              </a:ext>
            </a:extLst>
          </p:cNvPr>
          <p:cNvSpPr txBox="1"/>
          <p:nvPr/>
        </p:nvSpPr>
        <p:spPr>
          <a:xfrm>
            <a:off x="800100" y="1074539"/>
            <a:ext cx="59817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methods for addressing overfitting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selecting which features to keep (by domain knowledge)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layers/number of units per layer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deactivates a fraction of neurons during training, preventing over-reliance on specific features.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validation loss begins to degrade (e.g., stops decreasing but rather begins increasing), we stop the training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/ L2 regularization: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all features, but reduce their influence by giving smaller values to the parameter.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DAD341-C095-1F29-551A-AE863EE2D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825" y="1116801"/>
            <a:ext cx="4691997" cy="24898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833014-7BDF-1BFC-89FB-F36CDE646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502" y="4072705"/>
            <a:ext cx="4505325" cy="224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731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69522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Methods for Overfitting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8</a:t>
            </a:fld>
            <a:endParaRPr spc="-60" dirty="0"/>
          </a:p>
        </p:txBody>
      </p:sp>
      <p:sp>
        <p:nvSpPr>
          <p:cNvPr id="8" name="文本框 18">
            <a:extLst>
              <a:ext uri="{FF2B5EF4-FFF2-40B4-BE49-F238E27FC236}">
                <a16:creationId xmlns:a16="http://schemas.microsoft.com/office/drawing/2014/main" id="{577D6342-E156-A340-28D5-5E020F69B9F7}"/>
              </a:ext>
            </a:extLst>
          </p:cNvPr>
          <p:cNvSpPr txBox="1"/>
          <p:nvPr/>
        </p:nvSpPr>
        <p:spPr>
          <a:xfrm>
            <a:off x="800100" y="1074539"/>
            <a:ext cx="59817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methods for addressing overfitting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selecting which features to keep (by domain knowledge)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layers/number of units per layer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deactivates a fraction of neurons during training, preventing over-reliance on specific features.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validation loss begins to degrade (e.g., stops decreasing but rather begins increasing), we stop the training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/ L2 regularization: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all features, but reduce their influence by giving smaller values to the parameter.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267236-B275-DB40-1A6D-8971A0B4C88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9896"/>
          <a:stretch/>
        </p:blipFill>
        <p:spPr>
          <a:xfrm>
            <a:off x="7970289" y="1322184"/>
            <a:ext cx="3060700" cy="2120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5FC71E-887E-C73F-8A66-EB59F80512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556" t="4513" r="340" b="-4513"/>
          <a:stretch/>
        </p:blipFill>
        <p:spPr>
          <a:xfrm>
            <a:off x="8006715" y="4038600"/>
            <a:ext cx="3060700" cy="2120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5B5103-C486-5A70-E0CB-F420C262E163}"/>
                  </a:ext>
                </a:extLst>
              </p:cNvPr>
              <p:cNvSpPr txBox="1"/>
              <p:nvPr/>
            </p:nvSpPr>
            <p:spPr>
              <a:xfrm>
                <a:off x="6934200" y="344308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i="1" u="none" strike="noStrike" dirty="0">
                    <a:effectLst/>
                    <a:latin typeface="Inter"/>
                  </a:rPr>
                  <a:t>L1 Regularization</a:t>
                </a:r>
                <a:r>
                  <a:rPr lang="zh-CN" altLang="en-US" b="0" i="1" u="none" strike="noStrike" dirty="0">
                    <a:effectLst/>
                    <a:latin typeface="Inter"/>
                  </a:rPr>
                  <a:t> </a:t>
                </a:r>
                <a:r>
                  <a:rPr lang="en-US" i="1" dirty="0">
                    <a:latin typeface="Inter"/>
                  </a:rPr>
                  <a:t>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∗ (|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| + |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| + … + |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|)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5B5103-C486-5A70-E0CB-F420C262E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3443084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l="-1040" t="-10345" b="-3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4DC43A-75AD-36BD-DFF9-38670B35FE1F}"/>
                  </a:ext>
                </a:extLst>
              </p:cNvPr>
              <p:cNvSpPr txBox="1"/>
              <p:nvPr/>
            </p:nvSpPr>
            <p:spPr>
              <a:xfrm>
                <a:off x="7100339" y="6059588"/>
                <a:ext cx="4800600" cy="3730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0" i="1" u="none" strike="noStrike" dirty="0">
                    <a:effectLst/>
                    <a:latin typeface="Inter"/>
                  </a:rPr>
                  <a:t>L2 Regularization</a:t>
                </a:r>
                <a:r>
                  <a:rPr lang="zh-CN" altLang="en-US" b="0" i="1" u="none" strike="noStrike" dirty="0">
                    <a:effectLst/>
                    <a:latin typeface="Inter"/>
                  </a:rPr>
                  <a:t> </a:t>
                </a:r>
                <a:r>
                  <a:rPr lang="en-US" i="1" dirty="0">
                    <a:latin typeface="Inter"/>
                  </a:rPr>
                  <a:t>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∗ (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nor/>
                      </m:rPr>
                      <a:rPr lang="en-US" i="1"/>
                      <m:t> +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nor/>
                      </m:rPr>
                      <a:rPr lang="en-US" i="1"/>
                      <m:t>+ ... +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4DC43A-75AD-36BD-DFF9-38670B35F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339" y="6059588"/>
                <a:ext cx="4800600" cy="373051"/>
              </a:xfrm>
              <a:prstGeom prst="rect">
                <a:avLst/>
              </a:prstGeom>
              <a:blipFill>
                <a:blip r:embed="rId6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6917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69522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Methods for Underfitting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9</a:t>
            </a:fld>
            <a:endParaRPr spc="-60" dirty="0"/>
          </a:p>
        </p:txBody>
      </p:sp>
      <p:sp>
        <p:nvSpPr>
          <p:cNvPr id="8" name="文本框 18">
            <a:extLst>
              <a:ext uri="{FF2B5EF4-FFF2-40B4-BE49-F238E27FC236}">
                <a16:creationId xmlns:a16="http://schemas.microsoft.com/office/drawing/2014/main" id="{577D6342-E156-A340-28D5-5E020F69B9F7}"/>
              </a:ext>
            </a:extLst>
          </p:cNvPr>
          <p:cNvSpPr txBox="1"/>
          <p:nvPr/>
        </p:nvSpPr>
        <p:spPr>
          <a:xfrm>
            <a:off x="800100" y="1074539"/>
            <a:ext cx="109347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classical methods for underfitting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powerful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combines multiple models to create a stronger predictor by averaging or majority voting.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leverages knowledge from pre-trained models on similar tasks to boost performance on new tasks.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2359F1-99E8-07E6-036F-DDEC9E26CA3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89" b="-497"/>
          <a:stretch/>
        </p:blipFill>
        <p:spPr>
          <a:xfrm>
            <a:off x="1391295" y="4266986"/>
            <a:ext cx="9467215" cy="23077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C2121E-A00D-62D9-8D41-4C9248EE6B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9" b="85156"/>
          <a:stretch/>
        </p:blipFill>
        <p:spPr>
          <a:xfrm>
            <a:off x="1362392" y="3828523"/>
            <a:ext cx="9467215" cy="58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512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10</a:t>
            </a:fld>
            <a:endParaRPr spc="-60" dirty="0"/>
          </a:p>
        </p:txBody>
      </p:sp>
      <p:sp>
        <p:nvSpPr>
          <p:cNvPr id="7" name="文本框 18">
            <a:extLst>
              <a:ext uri="{FF2B5EF4-FFF2-40B4-BE49-F238E27FC236}">
                <a16:creationId xmlns:a16="http://schemas.microsoft.com/office/drawing/2014/main" id="{600BB1CA-6612-7D40-141B-E62FE088AA65}"/>
              </a:ext>
            </a:extLst>
          </p:cNvPr>
          <p:cNvSpPr txBox="1"/>
          <p:nvPr/>
        </p:nvSpPr>
        <p:spPr>
          <a:xfrm>
            <a:off x="628650" y="1428235"/>
            <a:ext cx="10934700" cy="1569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Bagging: Combines predictions from multiple independently trained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Boosting: Sequentially trains a series of models, where each subsequent model focuses on correcting the mistakes made by the previous models.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3426DB-EE59-2740-8F91-548148469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750" y="3351590"/>
            <a:ext cx="7556500" cy="2895600"/>
          </a:xfrm>
          <a:prstGeom prst="rect">
            <a:avLst/>
          </a:prstGeom>
        </p:spPr>
      </p:pic>
      <p:sp>
        <p:nvSpPr>
          <p:cNvPr id="11" name="object 2">
            <a:extLst>
              <a:ext uri="{FF2B5EF4-FFF2-40B4-BE49-F238E27FC236}">
                <a16:creationId xmlns:a16="http://schemas.microsoft.com/office/drawing/2014/main" id="{9E59EECA-4C8C-8998-F650-586893E429C5}"/>
              </a:ext>
            </a:extLst>
          </p:cNvPr>
          <p:cNvSpPr txBox="1">
            <a:spLocks/>
          </p:cNvSpPr>
          <p:nvPr/>
        </p:nvSpPr>
        <p:spPr>
          <a:xfrm>
            <a:off x="439154" y="321563"/>
            <a:ext cx="69522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400" u="heavy" kern="0" spc="-15" dirty="0">
                <a:uFill>
                  <a:solidFill>
                    <a:srgbClr val="D0CECE"/>
                  </a:solidFill>
                </a:uFill>
              </a:rPr>
              <a:t>Methods for Underfitting</a:t>
            </a: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728286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B95C9F2-368F-3F92-A84B-6A247687B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076" y="1943943"/>
            <a:ext cx="7772400" cy="3615573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66474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4400" u="heavy" kern="0" spc="-15" dirty="0">
                <a:uFill>
                  <a:solidFill>
                    <a:srgbClr val="D0CECE"/>
                  </a:solidFill>
                </a:uFill>
              </a:rPr>
              <a:t>Methods for Underfitting</a:t>
            </a:r>
            <a:endParaRPr lang="en-US" sz="4400" kern="0" dirty="0"/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11</a:t>
            </a:fld>
            <a:endParaRPr spc="-60" dirty="0"/>
          </a:p>
        </p:txBody>
      </p:sp>
      <p:sp>
        <p:nvSpPr>
          <p:cNvPr id="7" name="文本框 18">
            <a:extLst>
              <a:ext uri="{FF2B5EF4-FFF2-40B4-BE49-F238E27FC236}">
                <a16:creationId xmlns:a16="http://schemas.microsoft.com/office/drawing/2014/main" id="{600BB1CA-6612-7D40-141B-E62FE088AA65}"/>
              </a:ext>
            </a:extLst>
          </p:cNvPr>
          <p:cNvSpPr txBox="1"/>
          <p:nvPr/>
        </p:nvSpPr>
        <p:spPr>
          <a:xfrm>
            <a:off x="628650" y="1459422"/>
            <a:ext cx="4400550" cy="3453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Boosting: AdaBoost: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Initialization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Weak Learner Training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Weight Update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Iteration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Combining Weak Learners</a:t>
            </a:r>
          </a:p>
        </p:txBody>
      </p:sp>
    </p:spTree>
    <p:extLst>
      <p:ext uri="{BB962C8B-B14F-4D97-AF65-F5344CB8AC3E}">
        <p14:creationId xmlns:p14="http://schemas.microsoft.com/office/powerpoint/2010/main" val="2547379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12</a:t>
            </a:fld>
            <a:endParaRPr spc="-60" dirty="0"/>
          </a:p>
        </p:txBody>
      </p:sp>
      <p:sp>
        <p:nvSpPr>
          <p:cNvPr id="7" name="文本框 18">
            <a:extLst>
              <a:ext uri="{FF2B5EF4-FFF2-40B4-BE49-F238E27FC236}">
                <a16:creationId xmlns:a16="http://schemas.microsoft.com/office/drawing/2014/main" id="{600BB1CA-6612-7D40-141B-E62FE088AA65}"/>
              </a:ext>
            </a:extLst>
          </p:cNvPr>
          <p:cNvSpPr txBox="1"/>
          <p:nvPr/>
        </p:nvSpPr>
        <p:spPr>
          <a:xfrm>
            <a:off x="628650" y="1428235"/>
            <a:ext cx="10934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is a technique that utilizes a trained model's knowledge to learn another set of data.</a:t>
            </a: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9E59EECA-4C8C-8998-F650-586893E429C5}"/>
              </a:ext>
            </a:extLst>
          </p:cNvPr>
          <p:cNvSpPr txBox="1">
            <a:spLocks/>
          </p:cNvSpPr>
          <p:nvPr/>
        </p:nvSpPr>
        <p:spPr>
          <a:xfrm>
            <a:off x="439154" y="321563"/>
            <a:ext cx="69522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400" u="heavy" kern="0" spc="-15" dirty="0">
                <a:uFill>
                  <a:solidFill>
                    <a:srgbClr val="D0CECE"/>
                  </a:solidFill>
                </a:uFill>
              </a:rPr>
              <a:t>Methods for Underfitting</a:t>
            </a:r>
            <a:endParaRPr lang="en-US" sz="4400" kern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02E63A-E448-584D-A2D1-CA8B41DAC9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558"/>
          <a:stretch/>
        </p:blipFill>
        <p:spPr>
          <a:xfrm>
            <a:off x="2209800" y="2799116"/>
            <a:ext cx="7772400" cy="373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788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13</a:t>
            </a:fld>
            <a:endParaRPr spc="-60" dirty="0"/>
          </a:p>
        </p:txBody>
      </p:sp>
      <p:sp>
        <p:nvSpPr>
          <p:cNvPr id="7" name="文本框 18">
            <a:extLst>
              <a:ext uri="{FF2B5EF4-FFF2-40B4-BE49-F238E27FC236}">
                <a16:creationId xmlns:a16="http://schemas.microsoft.com/office/drawing/2014/main" id="{600BB1CA-6612-7D40-141B-E62FE088AA65}"/>
              </a:ext>
            </a:extLst>
          </p:cNvPr>
          <p:cNvSpPr txBox="1"/>
          <p:nvPr/>
        </p:nvSpPr>
        <p:spPr>
          <a:xfrm>
            <a:off x="628650" y="1428235"/>
            <a:ext cx="10934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is a technique that utilizes a trained model's knowledge to learn another set of data.</a:t>
            </a: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9E59EECA-4C8C-8998-F650-586893E429C5}"/>
              </a:ext>
            </a:extLst>
          </p:cNvPr>
          <p:cNvSpPr txBox="1">
            <a:spLocks/>
          </p:cNvSpPr>
          <p:nvPr/>
        </p:nvSpPr>
        <p:spPr>
          <a:xfrm>
            <a:off x="439154" y="321563"/>
            <a:ext cx="69522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400" u="heavy" kern="0" spc="-15" dirty="0">
                <a:uFill>
                  <a:solidFill>
                    <a:srgbClr val="D0CECE"/>
                  </a:solidFill>
                </a:uFill>
              </a:rPr>
              <a:t>Methods for Underfitting</a:t>
            </a:r>
            <a:endParaRPr lang="en-US" sz="4400" kern="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A09275-26CE-BDBE-F5EA-3B0BFC8F9E1C}"/>
              </a:ext>
            </a:extLst>
          </p:cNvPr>
          <p:cNvSpPr/>
          <p:nvPr/>
        </p:nvSpPr>
        <p:spPr>
          <a:xfrm>
            <a:off x="1981200" y="3013304"/>
            <a:ext cx="2948770" cy="1839403"/>
          </a:xfrm>
          <a:prstGeom prst="roundRect">
            <a:avLst>
              <a:gd name="adj" fmla="val 7756"/>
            </a:avLst>
          </a:prstGeom>
          <a:solidFill>
            <a:srgbClr val="DBE8FC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6471E05-0BA5-C0CB-2DD1-D40BD1574223}"/>
              </a:ext>
            </a:extLst>
          </p:cNvPr>
          <p:cNvGrpSpPr/>
          <p:nvPr/>
        </p:nvGrpSpPr>
        <p:grpSpPr>
          <a:xfrm>
            <a:off x="2286016" y="3241568"/>
            <a:ext cx="2386637" cy="304800"/>
            <a:chOff x="2610533" y="2740504"/>
            <a:chExt cx="2386637" cy="3048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91B76B8-0024-1FEF-AC88-DF21D56B5539}"/>
                </a:ext>
              </a:extLst>
            </p:cNvPr>
            <p:cNvSpPr/>
            <p:nvPr/>
          </p:nvSpPr>
          <p:spPr>
            <a:xfrm>
              <a:off x="2610533" y="2740504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92AC0EF-0361-6177-9D22-D6778B64233C}"/>
                </a:ext>
              </a:extLst>
            </p:cNvPr>
            <p:cNvSpPr/>
            <p:nvPr/>
          </p:nvSpPr>
          <p:spPr>
            <a:xfrm>
              <a:off x="3130992" y="2740504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8EE4C8-738A-7167-EC65-71761DA03C06}"/>
                </a:ext>
              </a:extLst>
            </p:cNvPr>
            <p:cNvSpPr/>
            <p:nvPr/>
          </p:nvSpPr>
          <p:spPr>
            <a:xfrm>
              <a:off x="3651451" y="2740504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E9F196-E9FC-0721-27ED-864B5A2E2902}"/>
                </a:ext>
              </a:extLst>
            </p:cNvPr>
            <p:cNvSpPr/>
            <p:nvPr/>
          </p:nvSpPr>
          <p:spPr>
            <a:xfrm>
              <a:off x="4171910" y="2740504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5B6A392-4FE1-BDB0-8A5B-A93346748F05}"/>
                </a:ext>
              </a:extLst>
            </p:cNvPr>
            <p:cNvSpPr/>
            <p:nvPr/>
          </p:nvSpPr>
          <p:spPr>
            <a:xfrm>
              <a:off x="4692370" y="2740504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5BD6D711-63FD-DDE3-85B0-B55DDFD736C2}"/>
                  </a:ext>
                </a:extLst>
              </p:cNvPr>
              <p:cNvSpPr/>
              <p:nvPr/>
            </p:nvSpPr>
            <p:spPr>
              <a:xfrm>
                <a:off x="3029511" y="5556916"/>
                <a:ext cx="852148" cy="702669"/>
              </a:xfrm>
              <a:prstGeom prst="roundRect">
                <a:avLst>
                  <a:gd name="adj" fmla="val 7756"/>
                </a:avLst>
              </a:prstGeom>
              <a:solidFill>
                <a:srgbClr val="DBE8FC"/>
              </a:solidFill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5BD6D711-63FD-DDE3-85B0-B55DDFD736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511" y="5556916"/>
                <a:ext cx="852148" cy="702669"/>
              </a:xfrm>
              <a:prstGeom prst="roundRect">
                <a:avLst>
                  <a:gd name="adj" fmla="val 7756"/>
                </a:avLst>
              </a:prstGeom>
              <a:blipFill>
                <a:blip r:embed="rId3"/>
                <a:stretch>
                  <a:fillRect b="-1724"/>
                </a:stretch>
              </a:blipFill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47F67D6-FE4B-F797-307C-C8248521C824}"/>
              </a:ext>
            </a:extLst>
          </p:cNvPr>
          <p:cNvCxnSpPr>
            <a:cxnSpLocks/>
            <a:stCxn id="9" idx="2"/>
            <a:endCxn id="27" idx="0"/>
          </p:cNvCxnSpPr>
          <p:nvPr/>
        </p:nvCxnSpPr>
        <p:spPr>
          <a:xfrm>
            <a:off x="3455585" y="4852707"/>
            <a:ext cx="0" cy="7042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A658C51-D074-FB15-5BC0-C3F6234487EC}"/>
              </a:ext>
            </a:extLst>
          </p:cNvPr>
          <p:cNvGrpSpPr/>
          <p:nvPr/>
        </p:nvGrpSpPr>
        <p:grpSpPr>
          <a:xfrm>
            <a:off x="2286016" y="3771878"/>
            <a:ext cx="2386637" cy="304800"/>
            <a:chOff x="2610533" y="2740504"/>
            <a:chExt cx="2386637" cy="3048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4F90A0A-4127-C87B-5414-80E7412D3974}"/>
                </a:ext>
              </a:extLst>
            </p:cNvPr>
            <p:cNvSpPr/>
            <p:nvPr/>
          </p:nvSpPr>
          <p:spPr>
            <a:xfrm>
              <a:off x="2610533" y="2740504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3BD0F31-A5D9-252C-C197-E0077B4CF21C}"/>
                </a:ext>
              </a:extLst>
            </p:cNvPr>
            <p:cNvSpPr/>
            <p:nvPr/>
          </p:nvSpPr>
          <p:spPr>
            <a:xfrm>
              <a:off x="3130992" y="2740504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3C34F34-F4C1-D60F-82D3-551F77084635}"/>
                </a:ext>
              </a:extLst>
            </p:cNvPr>
            <p:cNvSpPr/>
            <p:nvPr/>
          </p:nvSpPr>
          <p:spPr>
            <a:xfrm>
              <a:off x="3651451" y="2740504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0FE59FF-3AAD-E475-D0D8-2E99F301A6CE}"/>
                </a:ext>
              </a:extLst>
            </p:cNvPr>
            <p:cNvSpPr/>
            <p:nvPr/>
          </p:nvSpPr>
          <p:spPr>
            <a:xfrm>
              <a:off x="4171910" y="2740504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9133F2A-B5C9-F402-5D7C-1CFAA08F1B7B}"/>
                </a:ext>
              </a:extLst>
            </p:cNvPr>
            <p:cNvSpPr/>
            <p:nvPr/>
          </p:nvSpPr>
          <p:spPr>
            <a:xfrm>
              <a:off x="4692370" y="2740504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D7DAC0-5F55-1AB6-3E73-A077389FB048}"/>
              </a:ext>
            </a:extLst>
          </p:cNvPr>
          <p:cNvGrpSpPr/>
          <p:nvPr/>
        </p:nvGrpSpPr>
        <p:grpSpPr>
          <a:xfrm>
            <a:off x="2286016" y="4302187"/>
            <a:ext cx="2386637" cy="304800"/>
            <a:chOff x="2610533" y="2740504"/>
            <a:chExt cx="2386637" cy="3048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9CE7C9C-506E-53E5-E214-E60F67227662}"/>
                </a:ext>
              </a:extLst>
            </p:cNvPr>
            <p:cNvSpPr/>
            <p:nvPr/>
          </p:nvSpPr>
          <p:spPr>
            <a:xfrm>
              <a:off x="2610533" y="2740504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D11EE0A-1E5F-38E8-8F2C-78F3843BAF87}"/>
                </a:ext>
              </a:extLst>
            </p:cNvPr>
            <p:cNvSpPr/>
            <p:nvPr/>
          </p:nvSpPr>
          <p:spPr>
            <a:xfrm>
              <a:off x="3130992" y="2740504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CD09C00-6E80-7CF3-99C6-6354B1D24765}"/>
                </a:ext>
              </a:extLst>
            </p:cNvPr>
            <p:cNvSpPr/>
            <p:nvPr/>
          </p:nvSpPr>
          <p:spPr>
            <a:xfrm>
              <a:off x="3651451" y="2740504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BAE4478-FF92-E22E-09A9-8A6C9E3DE723}"/>
                </a:ext>
              </a:extLst>
            </p:cNvPr>
            <p:cNvSpPr/>
            <p:nvPr/>
          </p:nvSpPr>
          <p:spPr>
            <a:xfrm>
              <a:off x="4171910" y="2740504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BD73366-AF3B-564C-9AE7-56B276834F1B}"/>
                </a:ext>
              </a:extLst>
            </p:cNvPr>
            <p:cNvSpPr/>
            <p:nvPr/>
          </p:nvSpPr>
          <p:spPr>
            <a:xfrm>
              <a:off x="4692370" y="2740504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0AF7C6C9-84D2-6532-AA00-93A961D3AD4A}"/>
              </a:ext>
            </a:extLst>
          </p:cNvPr>
          <p:cNvSpPr/>
          <p:nvPr/>
        </p:nvSpPr>
        <p:spPr>
          <a:xfrm>
            <a:off x="6629400" y="3013304"/>
            <a:ext cx="2948770" cy="1839403"/>
          </a:xfrm>
          <a:prstGeom prst="roundRect">
            <a:avLst>
              <a:gd name="adj" fmla="val 7756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riangle 56">
            <a:extLst>
              <a:ext uri="{FF2B5EF4-FFF2-40B4-BE49-F238E27FC236}">
                <a16:creationId xmlns:a16="http://schemas.microsoft.com/office/drawing/2014/main" id="{4104C95A-D6AF-1FE4-3B3B-9B7DA153A483}"/>
              </a:ext>
            </a:extLst>
          </p:cNvPr>
          <p:cNvSpPr/>
          <p:nvPr/>
        </p:nvSpPr>
        <p:spPr>
          <a:xfrm>
            <a:off x="7262032" y="3484810"/>
            <a:ext cx="425686" cy="366971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riangle 57">
            <a:extLst>
              <a:ext uri="{FF2B5EF4-FFF2-40B4-BE49-F238E27FC236}">
                <a16:creationId xmlns:a16="http://schemas.microsoft.com/office/drawing/2014/main" id="{1CCC9D24-5159-095C-8969-3AA5A41432B0}"/>
              </a:ext>
            </a:extLst>
          </p:cNvPr>
          <p:cNvSpPr/>
          <p:nvPr/>
        </p:nvSpPr>
        <p:spPr>
          <a:xfrm>
            <a:off x="8610600" y="3473871"/>
            <a:ext cx="425686" cy="366971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riangle 58">
            <a:extLst>
              <a:ext uri="{FF2B5EF4-FFF2-40B4-BE49-F238E27FC236}">
                <a16:creationId xmlns:a16="http://schemas.microsoft.com/office/drawing/2014/main" id="{056A4B46-4B38-87DB-FBA2-84AAC686EEBA}"/>
              </a:ext>
            </a:extLst>
          </p:cNvPr>
          <p:cNvSpPr/>
          <p:nvPr/>
        </p:nvSpPr>
        <p:spPr>
          <a:xfrm>
            <a:off x="7936316" y="4046204"/>
            <a:ext cx="425686" cy="366971"/>
          </a:xfrm>
          <a:prstGeom prst="triangl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AADEE7B6-9CBB-48A0-B691-ED14DB4E00B5}"/>
                  </a:ext>
                </a:extLst>
              </p:cNvPr>
              <p:cNvSpPr/>
              <p:nvPr/>
            </p:nvSpPr>
            <p:spPr>
              <a:xfrm>
                <a:off x="7677711" y="5556916"/>
                <a:ext cx="852148" cy="702669"/>
              </a:xfrm>
              <a:prstGeom prst="roundRect">
                <a:avLst>
                  <a:gd name="adj" fmla="val 7756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AADEE7B6-9CBB-48A0-B691-ED14DB4E00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711" y="5556916"/>
                <a:ext cx="852148" cy="702669"/>
              </a:xfrm>
              <a:prstGeom prst="roundRect">
                <a:avLst>
                  <a:gd name="adj" fmla="val 7756"/>
                </a:avLst>
              </a:prstGeom>
              <a:blipFill>
                <a:blip r:embed="rId4"/>
                <a:stretch>
                  <a:fillRect b="-1724"/>
                </a:stretch>
              </a:blip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69844FF-3F12-082C-F1CF-CE3B14A1064E}"/>
              </a:ext>
            </a:extLst>
          </p:cNvPr>
          <p:cNvCxnSpPr>
            <a:cxnSpLocks/>
            <a:stCxn id="56" idx="2"/>
            <a:endCxn id="60" idx="0"/>
          </p:cNvCxnSpPr>
          <p:nvPr/>
        </p:nvCxnSpPr>
        <p:spPr>
          <a:xfrm>
            <a:off x="8103785" y="4852707"/>
            <a:ext cx="0" cy="7042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3236771-918E-B4C6-82B6-95331D74F668}"/>
              </a:ext>
            </a:extLst>
          </p:cNvPr>
          <p:cNvCxnSpPr>
            <a:cxnSpLocks/>
            <a:stCxn id="27" idx="3"/>
            <a:endCxn id="60" idx="1"/>
          </p:cNvCxnSpPr>
          <p:nvPr/>
        </p:nvCxnSpPr>
        <p:spPr>
          <a:xfrm>
            <a:off x="3881659" y="5908251"/>
            <a:ext cx="37960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259B8C6F-E4E4-F2FB-CBDA-A2452E1E0665}"/>
              </a:ext>
            </a:extLst>
          </p:cNvPr>
          <p:cNvSpPr txBox="1"/>
          <p:nvPr/>
        </p:nvSpPr>
        <p:spPr>
          <a:xfrm>
            <a:off x="4367065" y="5429765"/>
            <a:ext cx="1999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</a:t>
            </a:r>
            <a:endParaRPr lang="en-US" dirty="0"/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ABC668CC-FCA1-8977-F9E8-F71EF14052AA}"/>
              </a:ext>
            </a:extLst>
          </p:cNvPr>
          <p:cNvSpPr/>
          <p:nvPr/>
        </p:nvSpPr>
        <p:spPr>
          <a:xfrm>
            <a:off x="6428198" y="2644669"/>
            <a:ext cx="3428967" cy="3924636"/>
          </a:xfrm>
          <a:prstGeom prst="roundRect">
            <a:avLst>
              <a:gd name="adj" fmla="val 6676"/>
            </a:avLst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33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1749" y="2633619"/>
            <a:ext cx="11711504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6600" spc="5" dirty="0"/>
              <a:t>Exercise</a:t>
            </a:r>
            <a:endParaRPr sz="6600" dirty="0"/>
          </a:p>
        </p:txBody>
      </p:sp>
      <p:grpSp>
        <p:nvGrpSpPr>
          <p:cNvPr id="3" name="object 3"/>
          <p:cNvGrpSpPr/>
          <p:nvPr/>
        </p:nvGrpSpPr>
        <p:grpSpPr>
          <a:xfrm>
            <a:off x="-6350" y="1981368"/>
            <a:ext cx="155575" cy="2332990"/>
            <a:chOff x="-6350" y="1981368"/>
            <a:chExt cx="155575" cy="2332990"/>
          </a:xfrm>
        </p:grpSpPr>
        <p:sp>
          <p:nvSpPr>
            <p:cNvPr id="4" name="object 4"/>
            <p:cNvSpPr/>
            <p:nvPr/>
          </p:nvSpPr>
          <p:spPr>
            <a:xfrm>
              <a:off x="0" y="1987718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2320141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2320141"/>
                  </a:lnTo>
                  <a:lnTo>
                    <a:pt x="0" y="232014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987718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0"/>
                  </a:moveTo>
                  <a:lnTo>
                    <a:pt x="142504" y="0"/>
                  </a:lnTo>
                  <a:lnTo>
                    <a:pt x="142504" y="2320142"/>
                  </a:lnTo>
                  <a:lnTo>
                    <a:pt x="0" y="2320142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98699" y="3859481"/>
            <a:ext cx="11317605" cy="0"/>
          </a:xfrm>
          <a:custGeom>
            <a:avLst/>
            <a:gdLst/>
            <a:ahLst/>
            <a:cxnLst/>
            <a:rect l="l" t="t" r="r" b="b"/>
            <a:pathLst>
              <a:path w="11317605">
                <a:moveTo>
                  <a:pt x="0" y="0"/>
                </a:moveTo>
                <a:lnTo>
                  <a:pt x="11317115" y="1"/>
                </a:lnTo>
              </a:path>
            </a:pathLst>
          </a:custGeom>
          <a:ln w="12700">
            <a:solidFill>
              <a:srgbClr val="D0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43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69522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Exercise 1: Feature Scaling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15</a:t>
            </a:fld>
            <a:endParaRPr spc="-60" dirty="0"/>
          </a:p>
        </p:txBody>
      </p:sp>
      <p:sp>
        <p:nvSpPr>
          <p:cNvPr id="8" name="文本框 18">
            <a:extLst>
              <a:ext uri="{FF2B5EF4-FFF2-40B4-BE49-F238E27FC236}">
                <a16:creationId xmlns:a16="http://schemas.microsoft.com/office/drawing/2014/main" id="{577D6342-E156-A340-28D5-5E020F69B9F7}"/>
              </a:ext>
            </a:extLst>
          </p:cNvPr>
          <p:cNvSpPr txBox="1"/>
          <p:nvPr/>
        </p:nvSpPr>
        <p:spPr>
          <a:xfrm>
            <a:off x="800100" y="1074539"/>
            <a:ext cx="109347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dataset with two features: 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 (in centimeters) and weight (in kilograms). The height values range from 150 to 190, while the weight values range from 50 to 100. Apply min-max scaling to these features.</a:t>
            </a:r>
          </a:p>
        </p:txBody>
      </p:sp>
    </p:spTree>
    <p:extLst>
      <p:ext uri="{BB962C8B-B14F-4D97-AF65-F5344CB8AC3E}">
        <p14:creationId xmlns:p14="http://schemas.microsoft.com/office/powerpoint/2010/main" val="1417803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69522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Exercise 1: Feature Scaling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16</a:t>
            </a:fld>
            <a:endParaRPr spc="-60" dirty="0"/>
          </a:p>
        </p:txBody>
      </p:sp>
      <p:sp>
        <p:nvSpPr>
          <p:cNvPr id="8" name="文本框 18">
            <a:extLst>
              <a:ext uri="{FF2B5EF4-FFF2-40B4-BE49-F238E27FC236}">
                <a16:creationId xmlns:a16="http://schemas.microsoft.com/office/drawing/2014/main" id="{577D6342-E156-A340-28D5-5E020F69B9F7}"/>
              </a:ext>
            </a:extLst>
          </p:cNvPr>
          <p:cNvSpPr txBox="1"/>
          <p:nvPr/>
        </p:nvSpPr>
        <p:spPr>
          <a:xfrm>
            <a:off x="800100" y="1074539"/>
            <a:ext cx="109347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dataset with two features: 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 (in centimeters) and weight (in kilograms). The height values range from 150 to 190, while the weight values range from 50 to 100. Apply min-max scaling to these features.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77630-3208-E34B-12D3-140BA5BA735E}"/>
              </a:ext>
            </a:extLst>
          </p:cNvPr>
          <p:cNvSpPr txBox="1"/>
          <p:nvPr/>
        </p:nvSpPr>
        <p:spPr>
          <a:xfrm>
            <a:off x="800100" y="2958895"/>
            <a:ext cx="1026731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min-max scaling, we need to transform the features to a common range, usually between 0 and 1. Let's calculate the scaled values: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Scaled Height = (Height - Min(Height)) / (Max(Height) - Min(Height))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Scaled Weight = (Weight - Min(Weight)) / (Max(Weight) - Min(Weight))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Let's plug in the values: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Scaled Height = (Height - 150) / (190 - 150)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Scaled Weight = (Weight - 50) / (100 - 50)</a:t>
            </a:r>
            <a:endParaRPr lang="en-US" sz="24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983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3" y="321563"/>
            <a:ext cx="939064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3200" u="heavy" spc="-15" dirty="0">
                <a:uFill>
                  <a:solidFill>
                    <a:srgbClr val="D0CECE"/>
                  </a:solidFill>
                </a:uFill>
              </a:rPr>
              <a:t>Exercise 2: Overfitting &amp; Underfitting</a:t>
            </a:r>
            <a:endParaRPr sz="32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17</a:t>
            </a:fld>
            <a:endParaRPr spc="-60" dirty="0"/>
          </a:p>
        </p:txBody>
      </p:sp>
      <p:sp>
        <p:nvSpPr>
          <p:cNvPr id="8" name="文本框 18">
            <a:extLst>
              <a:ext uri="{FF2B5EF4-FFF2-40B4-BE49-F238E27FC236}">
                <a16:creationId xmlns:a16="http://schemas.microsoft.com/office/drawing/2014/main" id="{577D6342-E156-A340-28D5-5E020F69B9F7}"/>
              </a:ext>
            </a:extLst>
          </p:cNvPr>
          <p:cNvSpPr txBox="1"/>
          <p:nvPr/>
        </p:nvSpPr>
        <p:spPr>
          <a:xfrm>
            <a:off x="800100" y="1074539"/>
            <a:ext cx="109347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have a dataset with 100 samples and a simple linear regression model with only one feature. 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has 10 parameters (including the bias term). Is this model prone to overfitting or underfitting?</a:t>
            </a:r>
          </a:p>
        </p:txBody>
      </p:sp>
    </p:spTree>
    <p:extLst>
      <p:ext uri="{BB962C8B-B14F-4D97-AF65-F5344CB8AC3E}">
        <p14:creationId xmlns:p14="http://schemas.microsoft.com/office/powerpoint/2010/main" val="2993693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3" y="321563"/>
            <a:ext cx="939064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3200" u="heavy" spc="-15" dirty="0">
                <a:uFill>
                  <a:solidFill>
                    <a:srgbClr val="D0CECE"/>
                  </a:solidFill>
                </a:uFill>
              </a:rPr>
              <a:t>Exercise 2: Overfitting &amp; Underfitting</a:t>
            </a:r>
            <a:endParaRPr sz="32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18</a:t>
            </a:fld>
            <a:endParaRPr spc="-60" dirty="0"/>
          </a:p>
        </p:txBody>
      </p:sp>
      <p:sp>
        <p:nvSpPr>
          <p:cNvPr id="8" name="文本框 18">
            <a:extLst>
              <a:ext uri="{FF2B5EF4-FFF2-40B4-BE49-F238E27FC236}">
                <a16:creationId xmlns:a16="http://schemas.microsoft.com/office/drawing/2014/main" id="{577D6342-E156-A340-28D5-5E020F69B9F7}"/>
              </a:ext>
            </a:extLst>
          </p:cNvPr>
          <p:cNvSpPr txBox="1"/>
          <p:nvPr/>
        </p:nvSpPr>
        <p:spPr>
          <a:xfrm>
            <a:off x="800100" y="1074539"/>
            <a:ext cx="109347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have a dataset with 100 samples and a simple linear regression model with only one feature. 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has 10 parameters (including the bias term). Is this model prone to overfitting or underfitting?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77630-3208-E34B-12D3-140BA5BA735E}"/>
              </a:ext>
            </a:extLst>
          </p:cNvPr>
          <p:cNvSpPr txBox="1"/>
          <p:nvPr/>
        </p:nvSpPr>
        <p:spPr>
          <a:xfrm>
            <a:off x="800100" y="3248999"/>
            <a:ext cx="107839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the model has more parameters (10) and insufficient samples (100).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that the model is more complex than necessary and may lead to overfitting.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occurs when a model has too much capacity relative to the available data.</a:t>
            </a:r>
            <a:endParaRPr lang="en-US" sz="2400" b="0" i="1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756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3" y="321563"/>
            <a:ext cx="939064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3200" u="heavy" spc="-15" dirty="0">
                <a:uFill>
                  <a:solidFill>
                    <a:srgbClr val="D0CECE"/>
                  </a:solidFill>
                </a:uFill>
              </a:rPr>
              <a:t>Exercise 3: Overfitting &amp; Underfitting</a:t>
            </a:r>
            <a:endParaRPr sz="32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19</a:t>
            </a:fld>
            <a:endParaRPr spc="-6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8">
                <a:extLst>
                  <a:ext uri="{FF2B5EF4-FFF2-40B4-BE49-F238E27FC236}">
                    <a16:creationId xmlns:a16="http://schemas.microsoft.com/office/drawing/2014/main" id="{577D6342-E156-A340-28D5-5E020F69B9F7}"/>
                  </a:ext>
                </a:extLst>
              </p:cNvPr>
              <p:cNvSpPr txBox="1"/>
              <p:nvPr/>
            </p:nvSpPr>
            <p:spPr>
              <a:xfrm>
                <a:off x="800100" y="1074539"/>
                <a:ext cx="10934700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a linear regression model with L1 and L2 regularization.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model is trained on a dataset with 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data points and 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features.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loss function is given by:</a:t>
                </a: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linear regression model is:</a:t>
                </a: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Please calculate L1 and L2 regularization,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=0.1,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18">
                <a:extLst>
                  <a:ext uri="{FF2B5EF4-FFF2-40B4-BE49-F238E27FC236}">
                    <a16:creationId xmlns:a16="http://schemas.microsoft.com/office/drawing/2014/main" id="{577D6342-E156-A340-28D5-5E020F69B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1074539"/>
                <a:ext cx="10934700" cy="4154984"/>
              </a:xfrm>
              <a:prstGeom prst="rect">
                <a:avLst/>
              </a:prstGeom>
              <a:blipFill>
                <a:blip r:embed="rId4"/>
                <a:stretch>
                  <a:fillRect l="-811" t="-1220" b="-2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2987C637-CFF9-390E-9DA0-776F38F65B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348406"/>
            <a:ext cx="7772400" cy="10805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95C23D-DFC1-CCDC-029C-F2B850A2A0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0" y="4325967"/>
            <a:ext cx="7772400" cy="37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942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3" y="321563"/>
            <a:ext cx="939064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3200" u="heavy" spc="-15" dirty="0">
                <a:uFill>
                  <a:solidFill>
                    <a:srgbClr val="D0CECE"/>
                  </a:solidFill>
                </a:uFill>
              </a:rPr>
              <a:t>Exercise 3: Overfitting &amp; Underfitting</a:t>
            </a:r>
            <a:endParaRPr sz="32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20</a:t>
            </a:fld>
            <a:endParaRPr spc="-6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18">
                <a:extLst>
                  <a:ext uri="{FF2B5EF4-FFF2-40B4-BE49-F238E27FC236}">
                    <a16:creationId xmlns:a16="http://schemas.microsoft.com/office/drawing/2014/main" id="{577D6342-E156-A340-28D5-5E020F69B9F7}"/>
                  </a:ext>
                </a:extLst>
              </p:cNvPr>
              <p:cNvSpPr txBox="1"/>
              <p:nvPr/>
            </p:nvSpPr>
            <p:spPr>
              <a:xfrm>
                <a:off x="800100" y="1074539"/>
                <a:ext cx="10934700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a linear regression model with L1 and L2 regularization.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model is trained on a dataset with 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data points and 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features.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loss function is given by:</a:t>
                </a: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linear regression model is:</a:t>
                </a: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Please calculate L1 and L2 regularization,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=0.1,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18">
                <a:extLst>
                  <a:ext uri="{FF2B5EF4-FFF2-40B4-BE49-F238E27FC236}">
                    <a16:creationId xmlns:a16="http://schemas.microsoft.com/office/drawing/2014/main" id="{577D6342-E156-A340-28D5-5E020F69B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1074539"/>
                <a:ext cx="10934700" cy="4154984"/>
              </a:xfrm>
              <a:prstGeom prst="rect">
                <a:avLst/>
              </a:prstGeom>
              <a:blipFill>
                <a:blip r:embed="rId4"/>
                <a:stretch>
                  <a:fillRect l="-811" t="-1220" b="-2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2987C637-CFF9-390E-9DA0-776F38F65B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348406"/>
            <a:ext cx="7772400" cy="10805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95C23D-DFC1-CCDC-029C-F2B850A2A0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0" y="4325967"/>
            <a:ext cx="7772400" cy="3703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31D4B0-239F-10C0-3652-DFC8995E52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487" y="6012465"/>
            <a:ext cx="10067925" cy="3790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8BB2935-1554-B96F-825A-01305FFA69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372" y="5427618"/>
            <a:ext cx="9294154" cy="33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971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56568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Exercise 4: K-means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21</a:t>
            </a:fld>
            <a:endParaRPr spc="-60" dirty="0"/>
          </a:p>
        </p:txBody>
      </p:sp>
      <p:sp>
        <p:nvSpPr>
          <p:cNvPr id="8" name="文本框 18">
            <a:extLst>
              <a:ext uri="{FF2B5EF4-FFF2-40B4-BE49-F238E27FC236}">
                <a16:creationId xmlns:a16="http://schemas.microsoft.com/office/drawing/2014/main" id="{577D6342-E156-A340-28D5-5E020F69B9F7}"/>
              </a:ext>
            </a:extLst>
          </p:cNvPr>
          <p:cNvSpPr txBox="1"/>
          <p:nvPr/>
        </p:nvSpPr>
        <p:spPr>
          <a:xfrm>
            <a:off x="800100" y="1074539"/>
            <a:ext cx="109347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dataset with five data points: [2, 4], [3, 6], [8, 1], [9, 3], and [10, 2]. 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K-means algorithm with K=2, starting with random initial cluster centroids ([3, 6] and [10, 2]). Perform two iterations of the algorithm and calculate the final cluster centroids.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37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56568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Exercise 4: K-means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22</a:t>
            </a:fld>
            <a:endParaRPr spc="-60" dirty="0"/>
          </a:p>
        </p:txBody>
      </p:sp>
      <p:sp>
        <p:nvSpPr>
          <p:cNvPr id="8" name="文本框 18">
            <a:extLst>
              <a:ext uri="{FF2B5EF4-FFF2-40B4-BE49-F238E27FC236}">
                <a16:creationId xmlns:a16="http://schemas.microsoft.com/office/drawing/2014/main" id="{577D6342-E156-A340-28D5-5E020F69B9F7}"/>
              </a:ext>
            </a:extLst>
          </p:cNvPr>
          <p:cNvSpPr txBox="1"/>
          <p:nvPr/>
        </p:nvSpPr>
        <p:spPr>
          <a:xfrm>
            <a:off x="800100" y="1074539"/>
            <a:ext cx="109347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dataset with five data points: [2, 4], [3, 6], [8, 1], [9, 3], and [10, 2]. 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K-means algorithm with K=2, starting with random initial cluster centroids ([3, 6] and [10, 2]). Perform two iterations of the algorithm and calculate the final cluster centroids.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FA0407-4EA4-72D5-E10A-39F4903C5FB4}"/>
              </a:ext>
            </a:extLst>
          </p:cNvPr>
          <p:cNvSpPr txBox="1"/>
          <p:nvPr/>
        </p:nvSpPr>
        <p:spPr>
          <a:xfrm>
            <a:off x="1419865" y="2971800"/>
            <a:ext cx="97891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1: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each data point to the nearest centroid: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 4] is closer to [3, 6], so it belongs to Cluster 1.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[3, 6] is already the centroid of Cluster 1.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[8, 1] is closer to [10, 2], so it belongs to Cluster 2.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[9, 3] is closer to [10, 2], so it belongs to Cluster 2.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[10, 2] is already the centroid of Cluster 2.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Recalculate the cluster centroids: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 centroid: ([2, 4] + [3, 6]) / 2 = [2.5, 5]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2 centroid: ([8, 1] + [9, 3] + [10, 2]) / 3 = [9, 2]</a:t>
            </a:r>
            <a:endParaRPr lang="en-US" sz="2400" b="0" i="1" u="sng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866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56568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u="heavy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4400" u="heavy" spc="-15" dirty="0">
                <a:uFill>
                  <a:solidFill>
                    <a:srgbClr val="D0CECE"/>
                  </a:solidFill>
                </a:uFill>
              </a:rPr>
              <a:t>Exercise 4: K-means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60" dirty="0"/>
              <a:t>23</a:t>
            </a:fld>
            <a:endParaRPr spc="-60" dirty="0"/>
          </a:p>
        </p:txBody>
      </p:sp>
      <p:sp>
        <p:nvSpPr>
          <p:cNvPr id="8" name="文本框 18">
            <a:extLst>
              <a:ext uri="{FF2B5EF4-FFF2-40B4-BE49-F238E27FC236}">
                <a16:creationId xmlns:a16="http://schemas.microsoft.com/office/drawing/2014/main" id="{577D6342-E156-A340-28D5-5E020F69B9F7}"/>
              </a:ext>
            </a:extLst>
          </p:cNvPr>
          <p:cNvSpPr txBox="1"/>
          <p:nvPr/>
        </p:nvSpPr>
        <p:spPr>
          <a:xfrm>
            <a:off x="800100" y="1074539"/>
            <a:ext cx="109347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dataset with five data points: [2, 4], [3, 6], [8, 1], [9, 3], and [10, 2]. 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K-means algorithm with K=2, starting with random initial cluster centroids ([3, 6] and [10, 2]). Perform two iterations of the algorithm and calculate the final cluster centroids.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FA0407-4EA4-72D5-E10A-39F4903C5FB4}"/>
              </a:ext>
            </a:extLst>
          </p:cNvPr>
          <p:cNvSpPr txBox="1"/>
          <p:nvPr/>
        </p:nvSpPr>
        <p:spPr>
          <a:xfrm>
            <a:off x="1431925" y="2963162"/>
            <a:ext cx="963549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2: [2.5, 5] and [9, 2]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each data point to the nearest centroid: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 4] is closer to [2.5, 5], so it belongs to Cluster 1.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[3, 6] is closer to [2.5, 5], so it belongs to Cluster 1.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[8, 1] is closer to [9, 2], so it belongs to Cluster 2.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[9, 3] is closer to [9, 2], so it belongs to Cluster 2.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[10, 2] is closer to [9, 2], so it belongs to Cluster 2.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Recalculate the cluster centroids: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 centroid: ([2, 4] + [3, 6]) / 2 = [2.5, 5]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2 centroid: ([8, 1] + [9, 3] + [10, 2]) / 3 = [9, 2]</a:t>
            </a:r>
          </a:p>
        </p:txBody>
      </p:sp>
    </p:spTree>
    <p:extLst>
      <p:ext uri="{BB962C8B-B14F-4D97-AF65-F5344CB8AC3E}">
        <p14:creationId xmlns:p14="http://schemas.microsoft.com/office/powerpoint/2010/main" val="37623789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</a:pPr>
            <a:r>
              <a:rPr dirty="0"/>
              <a:t>Thanks</a:t>
            </a:r>
            <a:r>
              <a:rPr spc="-25" dirty="0"/>
              <a:t> </a:t>
            </a:r>
            <a:r>
              <a:rPr spc="-5" dirty="0"/>
              <a:t>for</a:t>
            </a:r>
            <a:r>
              <a:rPr spc="-190" dirty="0"/>
              <a:t> </a:t>
            </a:r>
            <a:r>
              <a:rPr dirty="0"/>
              <a:t>your</a:t>
            </a:r>
            <a:r>
              <a:rPr spc="-185" dirty="0"/>
              <a:t> </a:t>
            </a:r>
            <a:r>
              <a:rPr spc="-5" dirty="0"/>
              <a:t>time</a:t>
            </a:r>
          </a:p>
        </p:txBody>
      </p:sp>
      <p:sp>
        <p:nvSpPr>
          <p:cNvPr id="3" name="object 3"/>
          <p:cNvSpPr/>
          <p:nvPr/>
        </p:nvSpPr>
        <p:spPr>
          <a:xfrm>
            <a:off x="285007" y="3859481"/>
            <a:ext cx="11730990" cy="0"/>
          </a:xfrm>
          <a:custGeom>
            <a:avLst/>
            <a:gdLst/>
            <a:ahLst/>
            <a:cxnLst/>
            <a:rect l="l" t="t" r="r" b="b"/>
            <a:pathLst>
              <a:path w="11730990">
                <a:moveTo>
                  <a:pt x="0" y="0"/>
                </a:moveTo>
                <a:lnTo>
                  <a:pt x="11730806" y="1"/>
                </a:lnTo>
              </a:path>
            </a:pathLst>
          </a:custGeom>
          <a:ln w="12700">
            <a:solidFill>
              <a:srgbClr val="D0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3242</TotalTime>
  <Words>1791</Words>
  <Application>Microsoft Macintosh PowerPoint</Application>
  <PresentationFormat>Widescreen</PresentationFormat>
  <Paragraphs>192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等线</vt:lpstr>
      <vt:lpstr>Inter</vt:lpstr>
      <vt:lpstr>Arial</vt:lpstr>
      <vt:lpstr>Calibri</vt:lpstr>
      <vt:lpstr>Cambria Math</vt:lpstr>
      <vt:lpstr>Times New Roman</vt:lpstr>
      <vt:lpstr>Wingdings</vt:lpstr>
      <vt:lpstr>Office Theme</vt:lpstr>
      <vt:lpstr>Tutorial 6 COMP 5511: Artificial Intelligence Concepts</vt:lpstr>
      <vt:lpstr> Outlines</vt:lpstr>
      <vt:lpstr> Review</vt:lpstr>
      <vt:lpstr>Overfitting and Underfitting</vt:lpstr>
      <vt:lpstr>Overfitting and Underfitting</vt:lpstr>
      <vt:lpstr>Methods for Overfitting</vt:lpstr>
      <vt:lpstr>Methods for Overfitting</vt:lpstr>
      <vt:lpstr>Methods for Overfitting</vt:lpstr>
      <vt:lpstr>Methods for Underfitting</vt:lpstr>
      <vt:lpstr>PowerPoint Presentation</vt:lpstr>
      <vt:lpstr>Methods for Underfitting</vt:lpstr>
      <vt:lpstr>PowerPoint Presentation</vt:lpstr>
      <vt:lpstr>PowerPoint Presentation</vt:lpstr>
      <vt:lpstr>Exercise</vt:lpstr>
      <vt:lpstr> Exercise 1: Feature Scaling</vt:lpstr>
      <vt:lpstr> Exercise 1: Feature Scaling</vt:lpstr>
      <vt:lpstr> Exercise 2: Overfitting &amp; Underfitting</vt:lpstr>
      <vt:lpstr> Exercise 2: Overfitting &amp; Underfitting</vt:lpstr>
      <vt:lpstr> Exercise 3: Overfitting &amp; Underfitting</vt:lpstr>
      <vt:lpstr> Exercise 3: Overfitting &amp; Underfitting</vt:lpstr>
      <vt:lpstr> Exercise 4: K-means</vt:lpstr>
      <vt:lpstr> Exercise 4: K-means</vt:lpstr>
      <vt:lpstr> Exercise 4: K-means</vt:lpstr>
      <vt:lpstr>Thanks for your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3 COMP5511: Artificial Intelligence Concepts</dc:title>
  <dc:creator>lzm</dc:creator>
  <cp:lastModifiedBy>Haokai Hong</cp:lastModifiedBy>
  <cp:revision>123</cp:revision>
  <dcterms:created xsi:type="dcterms:W3CDTF">2021-09-09T03:43:12Z</dcterms:created>
  <dcterms:modified xsi:type="dcterms:W3CDTF">2025-10-13T01:17:22Z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2021-02-05T00:00:00Z</vt:filetime>
  </property>
  <property fmtid="{D5CDD505-2E9C-101B-9397-08002B2CF9AE}" pid="3" name="LastSaved">
    <vt:filetime>2021-09-09T00:00:00Z</vt:filetime>
  </property>
</Properties>
</file>