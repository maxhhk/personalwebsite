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93" r:id="rId2"/>
    <p:sldId id="257" r:id="rId3"/>
    <p:sldId id="258" r:id="rId4"/>
    <p:sldId id="311" r:id="rId5"/>
    <p:sldId id="312" r:id="rId6"/>
    <p:sldId id="272" r:id="rId7"/>
    <p:sldId id="276" r:id="rId8"/>
    <p:sldId id="273" r:id="rId9"/>
    <p:sldId id="277" r:id="rId10"/>
    <p:sldId id="274" r:id="rId11"/>
    <p:sldId id="260" r:id="rId12"/>
    <p:sldId id="261" r:id="rId13"/>
    <p:sldId id="264" r:id="rId14"/>
    <p:sldId id="262" r:id="rId15"/>
    <p:sldId id="265" r:id="rId16"/>
    <p:sldId id="263" r:id="rId17"/>
    <p:sldId id="279" r:id="rId18"/>
    <p:sldId id="280" r:id="rId19"/>
    <p:sldId id="296" r:id="rId20"/>
    <p:sldId id="297" r:id="rId21"/>
    <p:sldId id="295" r:id="rId22"/>
    <p:sldId id="292" r:id="rId23"/>
    <p:sldId id="281" r:id="rId24"/>
    <p:sldId id="282" r:id="rId25"/>
    <p:sldId id="284" r:id="rId26"/>
    <p:sldId id="283" r:id="rId27"/>
    <p:sldId id="285" r:id="rId28"/>
    <p:sldId id="286" r:id="rId29"/>
    <p:sldId id="287" r:id="rId30"/>
    <p:sldId id="288" r:id="rId31"/>
    <p:sldId id="306" r:id="rId32"/>
    <p:sldId id="310" r:id="rId33"/>
    <p:sldId id="271" r:id="rId34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F92510-CDE2-4D0C-876E-C12A41BA39A5}" v="56" dt="2021-09-08T13:46:25.70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57" autoAdjust="0"/>
    <p:restoredTop sz="87585" autoAdjust="0"/>
  </p:normalViewPr>
  <p:slideViewPr>
    <p:cSldViewPr>
      <p:cViewPr varScale="1">
        <p:scale>
          <a:sx n="104" d="100"/>
          <a:sy n="104" d="100"/>
        </p:scale>
        <p:origin x="240" y="352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7399D9-B095-4F9B-B993-D189B2EC8046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D97DD-165E-44B4-9B54-4CF216E5A8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610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335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D97DD-165E-44B4-9B54-4CF216E5A8A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622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D97DD-165E-44B4-9B54-4CF216E5A8A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899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D97DD-165E-44B4-9B54-4CF216E5A8A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002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D97DD-165E-44B4-9B54-4CF216E5A8A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471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D97DD-165E-44B4-9B54-4CF216E5A8A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867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D97DD-165E-44B4-9B54-4CF216E5A8A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2333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D97DD-165E-44B4-9B54-4CF216E5A8A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06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F9622-C0D5-4923-B7D7-4C8D505DDBFE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3086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F9622-C0D5-4923-B7D7-4C8D505DDBFE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7101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D97DD-165E-44B4-9B54-4CF216E5A8A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656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36949" y="2353563"/>
            <a:ext cx="10918101" cy="1366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1078" y="2353563"/>
            <a:ext cx="10309842" cy="1366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7415" y="6428920"/>
            <a:ext cx="2317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0.png"/><Relationship Id="rId4" Type="http://schemas.openxmlformats.org/officeDocument/2006/relationships/image" Target="../media/image1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7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7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0.png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0.pn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52.png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2473289"/>
            <a:ext cx="11049000" cy="1911421"/>
          </a:xfrm>
          <a:prstGeom prst="rect">
            <a:avLst/>
          </a:prstGeom>
        </p:spPr>
        <p:txBody>
          <a:bodyPr vert="horz" wrap="square" lIns="0" tIns="231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7200" spc="-65"/>
              <a:t>Tutorial</a:t>
            </a:r>
            <a:r>
              <a:rPr lang="en-US" sz="7200" spc="-65"/>
              <a:t> 2</a:t>
            </a:r>
            <a:r>
              <a:rPr lang="zh-CN" altLang="en-US" sz="7200" spc="-65"/>
              <a:t> </a:t>
            </a:r>
            <a:endParaRPr sz="7200" dirty="0"/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lang="en-US" sz="3200" b="0" dirty="0">
                <a:latin typeface="Times New Roman"/>
                <a:cs typeface="Times New Roman"/>
              </a:rPr>
              <a:t>COMP5511 A</a:t>
            </a:r>
            <a:r>
              <a:rPr lang="en-US" altLang="zh-CN" sz="3200" b="0" dirty="0">
                <a:latin typeface="Times New Roman"/>
                <a:cs typeface="Times New Roman"/>
              </a:rPr>
              <a:t>rtificial Intelligence Concepts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867400" y="0"/>
            <a:ext cx="6325047" cy="1295400"/>
          </a:xfrm>
          <a:custGeom>
            <a:avLst/>
            <a:gdLst/>
            <a:ahLst/>
            <a:cxnLst/>
            <a:rect l="l" t="t" r="r" b="b"/>
            <a:pathLst>
              <a:path w="7084695" h="2131060">
                <a:moveTo>
                  <a:pt x="7084247" y="0"/>
                </a:moveTo>
                <a:lnTo>
                  <a:pt x="986725" y="0"/>
                </a:lnTo>
                <a:lnTo>
                  <a:pt x="0" y="2130552"/>
                </a:lnTo>
                <a:lnTo>
                  <a:pt x="7084247" y="2130552"/>
                </a:lnTo>
                <a:lnTo>
                  <a:pt x="7084247" y="0"/>
                </a:lnTo>
                <a:close/>
              </a:path>
            </a:pathLst>
          </a:custGeom>
          <a:solidFill>
            <a:srgbClr val="B4B4B4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72708" y="5423838"/>
            <a:ext cx="5735003" cy="1400383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lang="en-US" altLang="zh-CN" sz="2800" b="1" dirty="0">
                <a:latin typeface="Times New Roman"/>
                <a:cs typeface="Times New Roman"/>
              </a:rPr>
              <a:t>Haokai Hong</a:t>
            </a:r>
            <a:endParaRPr lang="en-US" sz="2800" dirty="0">
              <a:latin typeface="Times New Roman"/>
              <a:cs typeface="Times New Roman"/>
            </a:endParaRPr>
          </a:p>
          <a:p>
            <a:pPr marL="12700" marR="5080" algn="ctr">
              <a:lnSpc>
                <a:spcPts val="3340"/>
              </a:lnSpc>
            </a:pPr>
            <a:r>
              <a:rPr lang="en-US" sz="2800" spc="-5" dirty="0">
                <a:latin typeface="Times New Roman"/>
                <a:cs typeface="Times New Roman"/>
              </a:rPr>
              <a:t>Department</a:t>
            </a:r>
            <a:r>
              <a:rPr lang="en-US" sz="2800" spc="-2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of</a:t>
            </a:r>
            <a:r>
              <a:rPr lang="en-US" sz="2800" spc="-10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DSAI</a:t>
            </a:r>
          </a:p>
          <a:p>
            <a:pPr marL="12700" marR="5080" algn="ctr">
              <a:lnSpc>
                <a:spcPts val="3340"/>
              </a:lnSpc>
            </a:pPr>
            <a:r>
              <a:rPr lang="en-US" sz="2800" dirty="0" err="1">
                <a:latin typeface="Times New Roman"/>
                <a:cs typeface="Times New Roman"/>
              </a:rPr>
              <a:t>haokai.hong@connect.polyu.hk</a:t>
            </a:r>
            <a:endParaRPr lang="en-US" sz="280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209290"/>
            <a:ext cx="4754889" cy="9111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6949" y="2353563"/>
            <a:ext cx="8478520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Search</a:t>
            </a:r>
            <a:r>
              <a:rPr spc="-525" dirty="0"/>
              <a:t> </a:t>
            </a:r>
            <a:r>
              <a:rPr spc="-5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1981365"/>
            <a:ext cx="155575" cy="2332990"/>
            <a:chOff x="-6350" y="1981365"/>
            <a:chExt cx="155575" cy="2332990"/>
          </a:xfrm>
        </p:grpSpPr>
        <p:sp>
          <p:nvSpPr>
            <p:cNvPr id="4" name="object 4"/>
            <p:cNvSpPr/>
            <p:nvPr/>
          </p:nvSpPr>
          <p:spPr>
            <a:xfrm>
              <a:off x="0" y="1987715"/>
              <a:ext cx="142875" cy="2320290"/>
            </a:xfrm>
            <a:custGeom>
              <a:avLst/>
              <a:gdLst/>
              <a:ahLst/>
              <a:cxnLst/>
              <a:rect l="l" t="t" r="r" b="b"/>
              <a:pathLst>
                <a:path w="142875" h="2320290">
                  <a:moveTo>
                    <a:pt x="0" y="232015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2320150"/>
                  </a:lnTo>
                  <a:lnTo>
                    <a:pt x="0" y="232015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987715"/>
              <a:ext cx="142875" cy="2320290"/>
            </a:xfrm>
            <a:custGeom>
              <a:avLst/>
              <a:gdLst/>
              <a:ahLst/>
              <a:cxnLst/>
              <a:rect l="l" t="t" r="r" b="b"/>
              <a:pathLst>
                <a:path w="142875" h="2320290">
                  <a:moveTo>
                    <a:pt x="0" y="0"/>
                  </a:moveTo>
                  <a:lnTo>
                    <a:pt x="142504" y="0"/>
                  </a:lnTo>
                  <a:lnTo>
                    <a:pt x="142504" y="2320141"/>
                  </a:lnTo>
                  <a:lnTo>
                    <a:pt x="0" y="2320141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698699" y="3859479"/>
            <a:ext cx="11317605" cy="0"/>
          </a:xfrm>
          <a:custGeom>
            <a:avLst/>
            <a:gdLst/>
            <a:ahLst/>
            <a:cxnLst/>
            <a:rect l="l" t="t" r="r" b="b"/>
            <a:pathLst>
              <a:path w="11317605">
                <a:moveTo>
                  <a:pt x="0" y="0"/>
                </a:moveTo>
                <a:lnTo>
                  <a:pt x="11317106" y="1"/>
                </a:lnTo>
              </a:path>
            </a:pathLst>
          </a:custGeom>
          <a:ln w="12700">
            <a:solidFill>
              <a:srgbClr val="D0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450719" y="411408"/>
            <a:ext cx="3460750" cy="6631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5" y="321565"/>
            <a:ext cx="50145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0" dirty="0">
                <a:uFill>
                  <a:solidFill>
                    <a:srgbClr val="D0CECE"/>
                  </a:solidFill>
                </a:uFill>
              </a:rPr>
              <a:t>Breadth-first</a:t>
            </a:r>
            <a:r>
              <a:rPr sz="4400" u="heavy" spc="-55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sz="4400" u="heavy" spc="-20" dirty="0">
                <a:uFill>
                  <a:solidFill>
                    <a:srgbClr val="D0CECE"/>
                  </a:solidFill>
                </a:uFill>
              </a:rPr>
              <a:t>Search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7"/>
            <a:ext cx="155575" cy="1092835"/>
            <a:chOff x="-6350" y="152577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7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79995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79995"/>
                  </a:lnTo>
                  <a:lnTo>
                    <a:pt x="0" y="1079995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7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450719" y="411408"/>
            <a:ext cx="3460750" cy="6631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066800" y="2743200"/>
            <a:ext cx="4288790" cy="2555240"/>
            <a:chOff x="3637635" y="2244204"/>
            <a:chExt cx="4288790" cy="2555240"/>
          </a:xfrm>
        </p:grpSpPr>
        <p:sp>
          <p:nvSpPr>
            <p:cNvPr id="8" name="object 8"/>
            <p:cNvSpPr/>
            <p:nvPr/>
          </p:nvSpPr>
          <p:spPr>
            <a:xfrm>
              <a:off x="5575617" y="2405278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60" h="378460">
                  <a:moveTo>
                    <a:pt x="0" y="188940"/>
                  </a:moveTo>
                  <a:lnTo>
                    <a:pt x="6749" y="138712"/>
                  </a:lnTo>
                  <a:lnTo>
                    <a:pt x="25795" y="93578"/>
                  </a:lnTo>
                  <a:lnTo>
                    <a:pt x="55339" y="55339"/>
                  </a:lnTo>
                  <a:lnTo>
                    <a:pt x="93578" y="25795"/>
                  </a:lnTo>
                  <a:lnTo>
                    <a:pt x="138712" y="6749"/>
                  </a:lnTo>
                  <a:lnTo>
                    <a:pt x="188940" y="0"/>
                  </a:lnTo>
                  <a:lnTo>
                    <a:pt x="239167" y="6749"/>
                  </a:lnTo>
                  <a:lnTo>
                    <a:pt x="284301" y="25795"/>
                  </a:lnTo>
                  <a:lnTo>
                    <a:pt x="322540" y="55339"/>
                  </a:lnTo>
                  <a:lnTo>
                    <a:pt x="352083" y="93578"/>
                  </a:lnTo>
                  <a:lnTo>
                    <a:pt x="371130" y="138712"/>
                  </a:lnTo>
                  <a:lnTo>
                    <a:pt x="377879" y="188940"/>
                  </a:lnTo>
                  <a:lnTo>
                    <a:pt x="371130" y="239167"/>
                  </a:lnTo>
                  <a:lnTo>
                    <a:pt x="352083" y="284301"/>
                  </a:lnTo>
                  <a:lnTo>
                    <a:pt x="322540" y="322540"/>
                  </a:lnTo>
                  <a:lnTo>
                    <a:pt x="284301" y="352083"/>
                  </a:lnTo>
                  <a:lnTo>
                    <a:pt x="239167" y="371130"/>
                  </a:lnTo>
                  <a:lnTo>
                    <a:pt x="188940" y="377879"/>
                  </a:lnTo>
                  <a:lnTo>
                    <a:pt x="138712" y="371130"/>
                  </a:lnTo>
                  <a:lnTo>
                    <a:pt x="93578" y="352083"/>
                  </a:lnTo>
                  <a:lnTo>
                    <a:pt x="55339" y="322540"/>
                  </a:lnTo>
                  <a:lnTo>
                    <a:pt x="25795" y="284301"/>
                  </a:lnTo>
                  <a:lnTo>
                    <a:pt x="6749" y="239167"/>
                  </a:lnTo>
                  <a:lnTo>
                    <a:pt x="0" y="18894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12957" y="3378212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60" h="378460">
                  <a:moveTo>
                    <a:pt x="0" y="188940"/>
                  </a:moveTo>
                  <a:lnTo>
                    <a:pt x="6749" y="138712"/>
                  </a:lnTo>
                  <a:lnTo>
                    <a:pt x="25795" y="93578"/>
                  </a:lnTo>
                  <a:lnTo>
                    <a:pt x="55339" y="55339"/>
                  </a:lnTo>
                  <a:lnTo>
                    <a:pt x="93578" y="25795"/>
                  </a:lnTo>
                  <a:lnTo>
                    <a:pt x="138712" y="6749"/>
                  </a:lnTo>
                  <a:lnTo>
                    <a:pt x="188940" y="0"/>
                  </a:lnTo>
                  <a:lnTo>
                    <a:pt x="239167" y="6749"/>
                  </a:lnTo>
                  <a:lnTo>
                    <a:pt x="284301" y="25795"/>
                  </a:lnTo>
                  <a:lnTo>
                    <a:pt x="322540" y="55339"/>
                  </a:lnTo>
                  <a:lnTo>
                    <a:pt x="352083" y="93578"/>
                  </a:lnTo>
                  <a:lnTo>
                    <a:pt x="371130" y="138712"/>
                  </a:lnTo>
                  <a:lnTo>
                    <a:pt x="377879" y="188940"/>
                  </a:lnTo>
                  <a:lnTo>
                    <a:pt x="371130" y="239167"/>
                  </a:lnTo>
                  <a:lnTo>
                    <a:pt x="352083" y="284301"/>
                  </a:lnTo>
                  <a:lnTo>
                    <a:pt x="322540" y="322540"/>
                  </a:lnTo>
                  <a:lnTo>
                    <a:pt x="284301" y="352083"/>
                  </a:lnTo>
                  <a:lnTo>
                    <a:pt x="239167" y="371130"/>
                  </a:lnTo>
                  <a:lnTo>
                    <a:pt x="188940" y="377879"/>
                  </a:lnTo>
                  <a:lnTo>
                    <a:pt x="138712" y="371130"/>
                  </a:lnTo>
                  <a:lnTo>
                    <a:pt x="93578" y="352083"/>
                  </a:lnTo>
                  <a:lnTo>
                    <a:pt x="55339" y="322540"/>
                  </a:lnTo>
                  <a:lnTo>
                    <a:pt x="25795" y="284301"/>
                  </a:lnTo>
                  <a:lnTo>
                    <a:pt x="6749" y="239167"/>
                  </a:lnTo>
                  <a:lnTo>
                    <a:pt x="0" y="18894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01895" y="2766948"/>
              <a:ext cx="972819" cy="611505"/>
            </a:xfrm>
            <a:custGeom>
              <a:avLst/>
              <a:gdLst/>
              <a:ahLst/>
              <a:cxnLst/>
              <a:rect l="l" t="t" r="r" b="b"/>
              <a:pathLst>
                <a:path w="972820" h="611504">
                  <a:moveTo>
                    <a:pt x="67170" y="502551"/>
                  </a:moveTo>
                  <a:lnTo>
                    <a:pt x="0" y="611263"/>
                  </a:lnTo>
                  <a:lnTo>
                    <a:pt x="127266" y="599782"/>
                  </a:lnTo>
                  <a:lnTo>
                    <a:pt x="113427" y="577392"/>
                  </a:lnTo>
                  <a:lnTo>
                    <a:pt x="91033" y="577392"/>
                  </a:lnTo>
                  <a:lnTo>
                    <a:pt x="71005" y="544982"/>
                  </a:lnTo>
                  <a:lnTo>
                    <a:pt x="87206" y="534968"/>
                  </a:lnTo>
                  <a:lnTo>
                    <a:pt x="67170" y="502551"/>
                  </a:lnTo>
                  <a:close/>
                </a:path>
                <a:path w="972820" h="611504">
                  <a:moveTo>
                    <a:pt x="87206" y="534968"/>
                  </a:moveTo>
                  <a:lnTo>
                    <a:pt x="71005" y="544982"/>
                  </a:lnTo>
                  <a:lnTo>
                    <a:pt x="91033" y="577392"/>
                  </a:lnTo>
                  <a:lnTo>
                    <a:pt x="107237" y="567376"/>
                  </a:lnTo>
                  <a:lnTo>
                    <a:pt x="87206" y="534968"/>
                  </a:lnTo>
                  <a:close/>
                </a:path>
                <a:path w="972820" h="611504">
                  <a:moveTo>
                    <a:pt x="107237" y="567376"/>
                  </a:moveTo>
                  <a:lnTo>
                    <a:pt x="91033" y="577392"/>
                  </a:lnTo>
                  <a:lnTo>
                    <a:pt x="113427" y="577392"/>
                  </a:lnTo>
                  <a:lnTo>
                    <a:pt x="107237" y="567376"/>
                  </a:lnTo>
                  <a:close/>
                </a:path>
                <a:path w="972820" h="611504">
                  <a:moveTo>
                    <a:pt x="952639" y="0"/>
                  </a:moveTo>
                  <a:lnTo>
                    <a:pt x="87206" y="534968"/>
                  </a:lnTo>
                  <a:lnTo>
                    <a:pt x="107237" y="567376"/>
                  </a:lnTo>
                  <a:lnTo>
                    <a:pt x="972680" y="32410"/>
                  </a:lnTo>
                  <a:lnTo>
                    <a:pt x="952639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85775" y="3378212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60">
                  <a:moveTo>
                    <a:pt x="0" y="188940"/>
                  </a:moveTo>
                  <a:lnTo>
                    <a:pt x="6749" y="138712"/>
                  </a:lnTo>
                  <a:lnTo>
                    <a:pt x="25795" y="93578"/>
                  </a:lnTo>
                  <a:lnTo>
                    <a:pt x="55339" y="55339"/>
                  </a:lnTo>
                  <a:lnTo>
                    <a:pt x="93578" y="25795"/>
                  </a:lnTo>
                  <a:lnTo>
                    <a:pt x="138712" y="6749"/>
                  </a:lnTo>
                  <a:lnTo>
                    <a:pt x="188940" y="0"/>
                  </a:lnTo>
                  <a:lnTo>
                    <a:pt x="239167" y="6749"/>
                  </a:lnTo>
                  <a:lnTo>
                    <a:pt x="284301" y="25795"/>
                  </a:lnTo>
                  <a:lnTo>
                    <a:pt x="322540" y="55339"/>
                  </a:lnTo>
                  <a:lnTo>
                    <a:pt x="352083" y="93578"/>
                  </a:lnTo>
                  <a:lnTo>
                    <a:pt x="371130" y="138712"/>
                  </a:lnTo>
                  <a:lnTo>
                    <a:pt x="377879" y="188940"/>
                  </a:lnTo>
                  <a:lnTo>
                    <a:pt x="371130" y="239167"/>
                  </a:lnTo>
                  <a:lnTo>
                    <a:pt x="352083" y="284301"/>
                  </a:lnTo>
                  <a:lnTo>
                    <a:pt x="322540" y="322540"/>
                  </a:lnTo>
                  <a:lnTo>
                    <a:pt x="284301" y="352083"/>
                  </a:lnTo>
                  <a:lnTo>
                    <a:pt x="239167" y="371130"/>
                  </a:lnTo>
                  <a:lnTo>
                    <a:pt x="188940" y="377879"/>
                  </a:lnTo>
                  <a:lnTo>
                    <a:pt x="138712" y="371130"/>
                  </a:lnTo>
                  <a:lnTo>
                    <a:pt x="93578" y="352083"/>
                  </a:lnTo>
                  <a:lnTo>
                    <a:pt x="55339" y="322540"/>
                  </a:lnTo>
                  <a:lnTo>
                    <a:pt x="25795" y="284301"/>
                  </a:lnTo>
                  <a:lnTo>
                    <a:pt x="6749" y="239167"/>
                  </a:lnTo>
                  <a:lnTo>
                    <a:pt x="0" y="18894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54890" y="2766745"/>
              <a:ext cx="1020444" cy="611505"/>
            </a:xfrm>
            <a:custGeom>
              <a:avLst/>
              <a:gdLst/>
              <a:ahLst/>
              <a:cxnLst/>
              <a:rect l="l" t="t" r="r" b="b"/>
              <a:pathLst>
                <a:path w="1020445" h="611504">
                  <a:moveTo>
                    <a:pt x="911675" y="569869"/>
                  </a:moveTo>
                  <a:lnTo>
                    <a:pt x="892340" y="602691"/>
                  </a:lnTo>
                  <a:lnTo>
                    <a:pt x="1019822" y="611466"/>
                  </a:lnTo>
                  <a:lnTo>
                    <a:pt x="999142" y="579539"/>
                  </a:lnTo>
                  <a:lnTo>
                    <a:pt x="928090" y="579539"/>
                  </a:lnTo>
                  <a:lnTo>
                    <a:pt x="911675" y="569869"/>
                  </a:lnTo>
                  <a:close/>
                </a:path>
                <a:path w="1020445" h="611504">
                  <a:moveTo>
                    <a:pt x="931016" y="537039"/>
                  </a:moveTo>
                  <a:lnTo>
                    <a:pt x="911675" y="569869"/>
                  </a:lnTo>
                  <a:lnTo>
                    <a:pt x="928090" y="579539"/>
                  </a:lnTo>
                  <a:lnTo>
                    <a:pt x="947432" y="546709"/>
                  </a:lnTo>
                  <a:lnTo>
                    <a:pt x="931016" y="537039"/>
                  </a:lnTo>
                  <a:close/>
                </a:path>
                <a:path w="1020445" h="611504">
                  <a:moveTo>
                    <a:pt x="950353" y="504215"/>
                  </a:moveTo>
                  <a:lnTo>
                    <a:pt x="931016" y="537039"/>
                  </a:lnTo>
                  <a:lnTo>
                    <a:pt x="947432" y="546709"/>
                  </a:lnTo>
                  <a:lnTo>
                    <a:pt x="928090" y="579539"/>
                  </a:lnTo>
                  <a:lnTo>
                    <a:pt x="999142" y="579539"/>
                  </a:lnTo>
                  <a:lnTo>
                    <a:pt x="950353" y="504215"/>
                  </a:lnTo>
                  <a:close/>
                </a:path>
                <a:path w="1020445" h="611504">
                  <a:moveTo>
                    <a:pt x="19342" y="0"/>
                  </a:moveTo>
                  <a:lnTo>
                    <a:pt x="0" y="32829"/>
                  </a:lnTo>
                  <a:lnTo>
                    <a:pt x="911675" y="569869"/>
                  </a:lnTo>
                  <a:lnTo>
                    <a:pt x="931016" y="537039"/>
                  </a:lnTo>
                  <a:lnTo>
                    <a:pt x="19342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76585" y="4305477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60" h="378460">
                  <a:moveTo>
                    <a:pt x="0" y="188940"/>
                  </a:moveTo>
                  <a:lnTo>
                    <a:pt x="6749" y="138712"/>
                  </a:lnTo>
                  <a:lnTo>
                    <a:pt x="25795" y="93578"/>
                  </a:lnTo>
                  <a:lnTo>
                    <a:pt x="55339" y="55339"/>
                  </a:lnTo>
                  <a:lnTo>
                    <a:pt x="93578" y="25795"/>
                  </a:lnTo>
                  <a:lnTo>
                    <a:pt x="138712" y="6749"/>
                  </a:lnTo>
                  <a:lnTo>
                    <a:pt x="188940" y="0"/>
                  </a:lnTo>
                  <a:lnTo>
                    <a:pt x="239167" y="6749"/>
                  </a:lnTo>
                  <a:lnTo>
                    <a:pt x="284301" y="25795"/>
                  </a:lnTo>
                  <a:lnTo>
                    <a:pt x="322540" y="55339"/>
                  </a:lnTo>
                  <a:lnTo>
                    <a:pt x="352083" y="93578"/>
                  </a:lnTo>
                  <a:lnTo>
                    <a:pt x="371130" y="138712"/>
                  </a:lnTo>
                  <a:lnTo>
                    <a:pt x="377879" y="188940"/>
                  </a:lnTo>
                  <a:lnTo>
                    <a:pt x="371130" y="239167"/>
                  </a:lnTo>
                  <a:lnTo>
                    <a:pt x="352083" y="284301"/>
                  </a:lnTo>
                  <a:lnTo>
                    <a:pt x="322540" y="322540"/>
                  </a:lnTo>
                  <a:lnTo>
                    <a:pt x="284301" y="352083"/>
                  </a:lnTo>
                  <a:lnTo>
                    <a:pt x="239167" y="371130"/>
                  </a:lnTo>
                  <a:lnTo>
                    <a:pt x="188940" y="377879"/>
                  </a:lnTo>
                  <a:lnTo>
                    <a:pt x="138712" y="371130"/>
                  </a:lnTo>
                  <a:lnTo>
                    <a:pt x="93578" y="352083"/>
                  </a:lnTo>
                  <a:lnTo>
                    <a:pt x="55339" y="322540"/>
                  </a:lnTo>
                  <a:lnTo>
                    <a:pt x="25795" y="284301"/>
                  </a:lnTo>
                  <a:lnTo>
                    <a:pt x="6749" y="239167"/>
                  </a:lnTo>
                  <a:lnTo>
                    <a:pt x="0" y="18894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65523" y="3742791"/>
              <a:ext cx="550545" cy="563245"/>
            </a:xfrm>
            <a:custGeom>
              <a:avLst/>
              <a:gdLst/>
              <a:ahLst/>
              <a:cxnLst/>
              <a:rect l="l" t="t" r="r" b="b"/>
              <a:pathLst>
                <a:path w="550545" h="563245">
                  <a:moveTo>
                    <a:pt x="38950" y="440982"/>
                  </a:moveTo>
                  <a:lnTo>
                    <a:pt x="0" y="562686"/>
                  </a:lnTo>
                  <a:lnTo>
                    <a:pt x="120738" y="520827"/>
                  </a:lnTo>
                  <a:lnTo>
                    <a:pt x="107430" y="507834"/>
                  </a:lnTo>
                  <a:lnTo>
                    <a:pt x="80175" y="507834"/>
                  </a:lnTo>
                  <a:lnTo>
                    <a:pt x="52908" y="481228"/>
                  </a:lnTo>
                  <a:lnTo>
                    <a:pt x="66215" y="467598"/>
                  </a:lnTo>
                  <a:lnTo>
                    <a:pt x="38950" y="440982"/>
                  </a:lnTo>
                  <a:close/>
                </a:path>
                <a:path w="550545" h="563245">
                  <a:moveTo>
                    <a:pt x="66215" y="467598"/>
                  </a:moveTo>
                  <a:lnTo>
                    <a:pt x="52908" y="481228"/>
                  </a:lnTo>
                  <a:lnTo>
                    <a:pt x="80175" y="507834"/>
                  </a:lnTo>
                  <a:lnTo>
                    <a:pt x="93475" y="494211"/>
                  </a:lnTo>
                  <a:lnTo>
                    <a:pt x="66215" y="467598"/>
                  </a:lnTo>
                  <a:close/>
                </a:path>
                <a:path w="550545" h="563245">
                  <a:moveTo>
                    <a:pt x="93475" y="494211"/>
                  </a:moveTo>
                  <a:lnTo>
                    <a:pt x="80175" y="507834"/>
                  </a:lnTo>
                  <a:lnTo>
                    <a:pt x="107430" y="507834"/>
                  </a:lnTo>
                  <a:lnTo>
                    <a:pt x="93475" y="494211"/>
                  </a:lnTo>
                  <a:close/>
                </a:path>
                <a:path w="550545" h="563245">
                  <a:moveTo>
                    <a:pt x="522732" y="0"/>
                  </a:moveTo>
                  <a:lnTo>
                    <a:pt x="66215" y="467598"/>
                  </a:lnTo>
                  <a:lnTo>
                    <a:pt x="93475" y="494211"/>
                  </a:lnTo>
                  <a:lnTo>
                    <a:pt x="549998" y="26606"/>
                  </a:lnTo>
                  <a:lnTo>
                    <a:pt x="522732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86693" y="4305477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60" h="378460">
                  <a:moveTo>
                    <a:pt x="0" y="188940"/>
                  </a:moveTo>
                  <a:lnTo>
                    <a:pt x="6749" y="138712"/>
                  </a:lnTo>
                  <a:lnTo>
                    <a:pt x="25795" y="93578"/>
                  </a:lnTo>
                  <a:lnTo>
                    <a:pt x="55339" y="55339"/>
                  </a:lnTo>
                  <a:lnTo>
                    <a:pt x="93578" y="25795"/>
                  </a:lnTo>
                  <a:lnTo>
                    <a:pt x="138712" y="6749"/>
                  </a:lnTo>
                  <a:lnTo>
                    <a:pt x="188940" y="0"/>
                  </a:lnTo>
                  <a:lnTo>
                    <a:pt x="239167" y="6749"/>
                  </a:lnTo>
                  <a:lnTo>
                    <a:pt x="284301" y="25795"/>
                  </a:lnTo>
                  <a:lnTo>
                    <a:pt x="322540" y="55339"/>
                  </a:lnTo>
                  <a:lnTo>
                    <a:pt x="352083" y="93578"/>
                  </a:lnTo>
                  <a:lnTo>
                    <a:pt x="371130" y="138712"/>
                  </a:lnTo>
                  <a:lnTo>
                    <a:pt x="377879" y="188940"/>
                  </a:lnTo>
                  <a:lnTo>
                    <a:pt x="371130" y="239167"/>
                  </a:lnTo>
                  <a:lnTo>
                    <a:pt x="352083" y="284301"/>
                  </a:lnTo>
                  <a:lnTo>
                    <a:pt x="322540" y="322540"/>
                  </a:lnTo>
                  <a:lnTo>
                    <a:pt x="284301" y="352083"/>
                  </a:lnTo>
                  <a:lnTo>
                    <a:pt x="239167" y="371130"/>
                  </a:lnTo>
                  <a:lnTo>
                    <a:pt x="188940" y="377879"/>
                  </a:lnTo>
                  <a:lnTo>
                    <a:pt x="138712" y="371130"/>
                  </a:lnTo>
                  <a:lnTo>
                    <a:pt x="93578" y="352083"/>
                  </a:lnTo>
                  <a:lnTo>
                    <a:pt x="55339" y="322540"/>
                  </a:lnTo>
                  <a:lnTo>
                    <a:pt x="25795" y="284301"/>
                  </a:lnTo>
                  <a:lnTo>
                    <a:pt x="6749" y="239167"/>
                  </a:lnTo>
                  <a:lnTo>
                    <a:pt x="0" y="18894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87468" y="3743655"/>
              <a:ext cx="488315" cy="561975"/>
            </a:xfrm>
            <a:custGeom>
              <a:avLst/>
              <a:gdLst/>
              <a:ahLst/>
              <a:cxnLst/>
              <a:rect l="l" t="t" r="r" b="b"/>
              <a:pathLst>
                <a:path w="488314" h="561975">
                  <a:moveTo>
                    <a:pt x="399098" y="487700"/>
                  </a:moveTo>
                  <a:lnTo>
                    <a:pt x="370243" y="512584"/>
                  </a:lnTo>
                  <a:lnTo>
                    <a:pt x="488175" y="561822"/>
                  </a:lnTo>
                  <a:lnTo>
                    <a:pt x="473061" y="502132"/>
                  </a:lnTo>
                  <a:lnTo>
                    <a:pt x="411543" y="502132"/>
                  </a:lnTo>
                  <a:lnTo>
                    <a:pt x="399098" y="487700"/>
                  </a:lnTo>
                  <a:close/>
                </a:path>
                <a:path w="488314" h="561975">
                  <a:moveTo>
                    <a:pt x="427950" y="462818"/>
                  </a:moveTo>
                  <a:lnTo>
                    <a:pt x="399098" y="487700"/>
                  </a:lnTo>
                  <a:lnTo>
                    <a:pt x="411543" y="502132"/>
                  </a:lnTo>
                  <a:lnTo>
                    <a:pt x="440397" y="477253"/>
                  </a:lnTo>
                  <a:lnTo>
                    <a:pt x="427950" y="462818"/>
                  </a:lnTo>
                  <a:close/>
                </a:path>
                <a:path w="488314" h="561975">
                  <a:moveTo>
                    <a:pt x="456806" y="437934"/>
                  </a:moveTo>
                  <a:lnTo>
                    <a:pt x="427950" y="462818"/>
                  </a:lnTo>
                  <a:lnTo>
                    <a:pt x="440397" y="477253"/>
                  </a:lnTo>
                  <a:lnTo>
                    <a:pt x="411543" y="502132"/>
                  </a:lnTo>
                  <a:lnTo>
                    <a:pt x="473061" y="502132"/>
                  </a:lnTo>
                  <a:lnTo>
                    <a:pt x="456806" y="437934"/>
                  </a:lnTo>
                  <a:close/>
                </a:path>
                <a:path w="488314" h="561975">
                  <a:moveTo>
                    <a:pt x="28854" y="0"/>
                  </a:moveTo>
                  <a:lnTo>
                    <a:pt x="0" y="24879"/>
                  </a:lnTo>
                  <a:lnTo>
                    <a:pt x="399098" y="487700"/>
                  </a:lnTo>
                  <a:lnTo>
                    <a:pt x="427950" y="462818"/>
                  </a:lnTo>
                  <a:lnTo>
                    <a:pt x="28854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96812" y="4305477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60" h="378460">
                  <a:moveTo>
                    <a:pt x="0" y="188940"/>
                  </a:moveTo>
                  <a:lnTo>
                    <a:pt x="6749" y="138712"/>
                  </a:lnTo>
                  <a:lnTo>
                    <a:pt x="25795" y="93578"/>
                  </a:lnTo>
                  <a:lnTo>
                    <a:pt x="55339" y="55339"/>
                  </a:lnTo>
                  <a:lnTo>
                    <a:pt x="93578" y="25795"/>
                  </a:lnTo>
                  <a:lnTo>
                    <a:pt x="138712" y="6749"/>
                  </a:lnTo>
                  <a:lnTo>
                    <a:pt x="188940" y="0"/>
                  </a:lnTo>
                  <a:lnTo>
                    <a:pt x="239167" y="6749"/>
                  </a:lnTo>
                  <a:lnTo>
                    <a:pt x="284301" y="25795"/>
                  </a:lnTo>
                  <a:lnTo>
                    <a:pt x="322540" y="55339"/>
                  </a:lnTo>
                  <a:lnTo>
                    <a:pt x="352083" y="93578"/>
                  </a:lnTo>
                  <a:lnTo>
                    <a:pt x="371130" y="138712"/>
                  </a:lnTo>
                  <a:lnTo>
                    <a:pt x="377879" y="188940"/>
                  </a:lnTo>
                  <a:lnTo>
                    <a:pt x="371130" y="239167"/>
                  </a:lnTo>
                  <a:lnTo>
                    <a:pt x="352083" y="284301"/>
                  </a:lnTo>
                  <a:lnTo>
                    <a:pt x="322540" y="322540"/>
                  </a:lnTo>
                  <a:lnTo>
                    <a:pt x="284301" y="352083"/>
                  </a:lnTo>
                  <a:lnTo>
                    <a:pt x="239167" y="371130"/>
                  </a:lnTo>
                  <a:lnTo>
                    <a:pt x="188940" y="377879"/>
                  </a:lnTo>
                  <a:lnTo>
                    <a:pt x="138712" y="371130"/>
                  </a:lnTo>
                  <a:lnTo>
                    <a:pt x="93578" y="352083"/>
                  </a:lnTo>
                  <a:lnTo>
                    <a:pt x="55339" y="322540"/>
                  </a:lnTo>
                  <a:lnTo>
                    <a:pt x="25795" y="284301"/>
                  </a:lnTo>
                  <a:lnTo>
                    <a:pt x="6749" y="239167"/>
                  </a:lnTo>
                  <a:lnTo>
                    <a:pt x="0" y="18894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85750" y="3743426"/>
              <a:ext cx="503555" cy="562610"/>
            </a:xfrm>
            <a:custGeom>
              <a:avLst/>
              <a:gdLst/>
              <a:ahLst/>
              <a:cxnLst/>
              <a:rect l="l" t="t" r="r" b="b"/>
              <a:pathLst>
                <a:path w="503554" h="562610">
                  <a:moveTo>
                    <a:pt x="33299" y="438670"/>
                  </a:moveTo>
                  <a:lnTo>
                    <a:pt x="0" y="562051"/>
                  </a:lnTo>
                  <a:lnTo>
                    <a:pt x="118681" y="514667"/>
                  </a:lnTo>
                  <a:lnTo>
                    <a:pt x="106210" y="503567"/>
                  </a:lnTo>
                  <a:lnTo>
                    <a:pt x="77558" y="503567"/>
                  </a:lnTo>
                  <a:lnTo>
                    <a:pt x="49098" y="478231"/>
                  </a:lnTo>
                  <a:lnTo>
                    <a:pt x="61761" y="464003"/>
                  </a:lnTo>
                  <a:lnTo>
                    <a:pt x="33299" y="438670"/>
                  </a:lnTo>
                  <a:close/>
                </a:path>
                <a:path w="503554" h="562610">
                  <a:moveTo>
                    <a:pt x="61761" y="464003"/>
                  </a:moveTo>
                  <a:lnTo>
                    <a:pt x="49098" y="478231"/>
                  </a:lnTo>
                  <a:lnTo>
                    <a:pt x="77558" y="503567"/>
                  </a:lnTo>
                  <a:lnTo>
                    <a:pt x="90223" y="489337"/>
                  </a:lnTo>
                  <a:lnTo>
                    <a:pt x="61761" y="464003"/>
                  </a:lnTo>
                  <a:close/>
                </a:path>
                <a:path w="503554" h="562610">
                  <a:moveTo>
                    <a:pt x="90223" y="489337"/>
                  </a:moveTo>
                  <a:lnTo>
                    <a:pt x="77558" y="503567"/>
                  </a:lnTo>
                  <a:lnTo>
                    <a:pt x="106210" y="503567"/>
                  </a:lnTo>
                  <a:lnTo>
                    <a:pt x="90223" y="489337"/>
                  </a:lnTo>
                  <a:close/>
                </a:path>
                <a:path w="503554" h="562610">
                  <a:moveTo>
                    <a:pt x="474738" y="0"/>
                  </a:moveTo>
                  <a:lnTo>
                    <a:pt x="61761" y="464003"/>
                  </a:lnTo>
                  <a:lnTo>
                    <a:pt x="90223" y="489337"/>
                  </a:lnTo>
                  <a:lnTo>
                    <a:pt x="503199" y="25336"/>
                  </a:lnTo>
                  <a:lnTo>
                    <a:pt x="474738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06920" y="4305477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60">
                  <a:moveTo>
                    <a:pt x="0" y="188940"/>
                  </a:moveTo>
                  <a:lnTo>
                    <a:pt x="6749" y="138712"/>
                  </a:lnTo>
                  <a:lnTo>
                    <a:pt x="25795" y="93578"/>
                  </a:lnTo>
                  <a:lnTo>
                    <a:pt x="55339" y="55339"/>
                  </a:lnTo>
                  <a:lnTo>
                    <a:pt x="93578" y="25795"/>
                  </a:lnTo>
                  <a:lnTo>
                    <a:pt x="138712" y="6749"/>
                  </a:lnTo>
                  <a:lnTo>
                    <a:pt x="188940" y="0"/>
                  </a:lnTo>
                  <a:lnTo>
                    <a:pt x="239167" y="6749"/>
                  </a:lnTo>
                  <a:lnTo>
                    <a:pt x="284301" y="25795"/>
                  </a:lnTo>
                  <a:lnTo>
                    <a:pt x="322540" y="55339"/>
                  </a:lnTo>
                  <a:lnTo>
                    <a:pt x="352083" y="93578"/>
                  </a:lnTo>
                  <a:lnTo>
                    <a:pt x="371130" y="138712"/>
                  </a:lnTo>
                  <a:lnTo>
                    <a:pt x="377879" y="188940"/>
                  </a:lnTo>
                  <a:lnTo>
                    <a:pt x="371130" y="239167"/>
                  </a:lnTo>
                  <a:lnTo>
                    <a:pt x="352083" y="284301"/>
                  </a:lnTo>
                  <a:lnTo>
                    <a:pt x="322540" y="322540"/>
                  </a:lnTo>
                  <a:lnTo>
                    <a:pt x="284301" y="352083"/>
                  </a:lnTo>
                  <a:lnTo>
                    <a:pt x="239167" y="371130"/>
                  </a:lnTo>
                  <a:lnTo>
                    <a:pt x="188940" y="377879"/>
                  </a:lnTo>
                  <a:lnTo>
                    <a:pt x="138712" y="371130"/>
                  </a:lnTo>
                  <a:lnTo>
                    <a:pt x="93578" y="352083"/>
                  </a:lnTo>
                  <a:lnTo>
                    <a:pt x="55339" y="322540"/>
                  </a:lnTo>
                  <a:lnTo>
                    <a:pt x="25795" y="284301"/>
                  </a:lnTo>
                  <a:lnTo>
                    <a:pt x="6749" y="239167"/>
                  </a:lnTo>
                  <a:lnTo>
                    <a:pt x="0" y="18894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60895" y="3742982"/>
              <a:ext cx="535305" cy="562610"/>
            </a:xfrm>
            <a:custGeom>
              <a:avLst/>
              <a:gdLst/>
              <a:ahLst/>
              <a:cxnLst/>
              <a:rect l="l" t="t" r="r" b="b"/>
              <a:pathLst>
                <a:path w="535304" h="562610">
                  <a:moveTo>
                    <a:pt x="442486" y="492677"/>
                  </a:moveTo>
                  <a:lnTo>
                    <a:pt x="414845" y="518896"/>
                  </a:lnTo>
                  <a:lnTo>
                    <a:pt x="534974" y="562495"/>
                  </a:lnTo>
                  <a:lnTo>
                    <a:pt x="517931" y="506501"/>
                  </a:lnTo>
                  <a:lnTo>
                    <a:pt x="455599" y="506501"/>
                  </a:lnTo>
                  <a:lnTo>
                    <a:pt x="442486" y="492677"/>
                  </a:lnTo>
                  <a:close/>
                </a:path>
                <a:path w="535304" h="562610">
                  <a:moveTo>
                    <a:pt x="470128" y="466458"/>
                  </a:moveTo>
                  <a:lnTo>
                    <a:pt x="442486" y="492677"/>
                  </a:lnTo>
                  <a:lnTo>
                    <a:pt x="455599" y="506501"/>
                  </a:lnTo>
                  <a:lnTo>
                    <a:pt x="483234" y="480275"/>
                  </a:lnTo>
                  <a:lnTo>
                    <a:pt x="470128" y="466458"/>
                  </a:lnTo>
                  <a:close/>
                </a:path>
                <a:path w="535304" h="562610">
                  <a:moveTo>
                    <a:pt x="497763" y="440245"/>
                  </a:moveTo>
                  <a:lnTo>
                    <a:pt x="470128" y="466458"/>
                  </a:lnTo>
                  <a:lnTo>
                    <a:pt x="483234" y="480275"/>
                  </a:lnTo>
                  <a:lnTo>
                    <a:pt x="455599" y="506501"/>
                  </a:lnTo>
                  <a:lnTo>
                    <a:pt x="517931" y="506501"/>
                  </a:lnTo>
                  <a:lnTo>
                    <a:pt x="497763" y="440245"/>
                  </a:lnTo>
                  <a:close/>
                </a:path>
                <a:path w="535304" h="562610">
                  <a:moveTo>
                    <a:pt x="27647" y="0"/>
                  </a:moveTo>
                  <a:lnTo>
                    <a:pt x="0" y="26225"/>
                  </a:lnTo>
                  <a:lnTo>
                    <a:pt x="442486" y="492677"/>
                  </a:lnTo>
                  <a:lnTo>
                    <a:pt x="470128" y="466458"/>
                  </a:lnTo>
                  <a:lnTo>
                    <a:pt x="27647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56685" y="2263254"/>
              <a:ext cx="4215765" cy="605790"/>
            </a:xfrm>
            <a:custGeom>
              <a:avLst/>
              <a:gdLst/>
              <a:ahLst/>
              <a:cxnLst/>
              <a:rect l="l" t="t" r="r" b="b"/>
              <a:pathLst>
                <a:path w="4215765" h="605789">
                  <a:moveTo>
                    <a:pt x="0" y="100940"/>
                  </a:moveTo>
                  <a:lnTo>
                    <a:pt x="7932" y="61649"/>
                  </a:lnTo>
                  <a:lnTo>
                    <a:pt x="29564" y="29564"/>
                  </a:lnTo>
                  <a:lnTo>
                    <a:pt x="61649" y="7932"/>
                  </a:lnTo>
                  <a:lnTo>
                    <a:pt x="100940" y="0"/>
                  </a:lnTo>
                  <a:lnTo>
                    <a:pt x="4114802" y="0"/>
                  </a:lnTo>
                  <a:lnTo>
                    <a:pt x="4154093" y="7932"/>
                  </a:lnTo>
                  <a:lnTo>
                    <a:pt x="4186178" y="29564"/>
                  </a:lnTo>
                  <a:lnTo>
                    <a:pt x="4207810" y="61649"/>
                  </a:lnTo>
                  <a:lnTo>
                    <a:pt x="4215742" y="100940"/>
                  </a:lnTo>
                  <a:lnTo>
                    <a:pt x="4215742" y="504702"/>
                  </a:lnTo>
                  <a:lnTo>
                    <a:pt x="4207810" y="543992"/>
                  </a:lnTo>
                  <a:lnTo>
                    <a:pt x="4186178" y="576077"/>
                  </a:lnTo>
                  <a:lnTo>
                    <a:pt x="4154093" y="597709"/>
                  </a:lnTo>
                  <a:lnTo>
                    <a:pt x="4114802" y="605642"/>
                  </a:lnTo>
                  <a:lnTo>
                    <a:pt x="100940" y="605642"/>
                  </a:lnTo>
                  <a:lnTo>
                    <a:pt x="61649" y="597709"/>
                  </a:lnTo>
                  <a:lnTo>
                    <a:pt x="29564" y="576077"/>
                  </a:lnTo>
                  <a:lnTo>
                    <a:pt x="7932" y="543992"/>
                  </a:lnTo>
                  <a:lnTo>
                    <a:pt x="0" y="504702"/>
                  </a:lnTo>
                  <a:lnTo>
                    <a:pt x="0" y="10094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70490" y="3236201"/>
              <a:ext cx="4215765" cy="605790"/>
            </a:xfrm>
            <a:custGeom>
              <a:avLst/>
              <a:gdLst/>
              <a:ahLst/>
              <a:cxnLst/>
              <a:rect l="l" t="t" r="r" b="b"/>
              <a:pathLst>
                <a:path w="4215765" h="605789">
                  <a:moveTo>
                    <a:pt x="0" y="100940"/>
                  </a:moveTo>
                  <a:lnTo>
                    <a:pt x="7932" y="61649"/>
                  </a:lnTo>
                  <a:lnTo>
                    <a:pt x="29564" y="29564"/>
                  </a:lnTo>
                  <a:lnTo>
                    <a:pt x="61649" y="7932"/>
                  </a:lnTo>
                  <a:lnTo>
                    <a:pt x="100940" y="0"/>
                  </a:lnTo>
                  <a:lnTo>
                    <a:pt x="4114802" y="0"/>
                  </a:lnTo>
                  <a:lnTo>
                    <a:pt x="4154093" y="7932"/>
                  </a:lnTo>
                  <a:lnTo>
                    <a:pt x="4186178" y="29564"/>
                  </a:lnTo>
                  <a:lnTo>
                    <a:pt x="4207810" y="61649"/>
                  </a:lnTo>
                  <a:lnTo>
                    <a:pt x="4215742" y="100940"/>
                  </a:lnTo>
                  <a:lnTo>
                    <a:pt x="4215742" y="504702"/>
                  </a:lnTo>
                  <a:lnTo>
                    <a:pt x="4207810" y="543992"/>
                  </a:lnTo>
                  <a:lnTo>
                    <a:pt x="4186178" y="576077"/>
                  </a:lnTo>
                  <a:lnTo>
                    <a:pt x="4154093" y="597709"/>
                  </a:lnTo>
                  <a:lnTo>
                    <a:pt x="4114802" y="605642"/>
                  </a:lnTo>
                  <a:lnTo>
                    <a:pt x="100940" y="605642"/>
                  </a:lnTo>
                  <a:lnTo>
                    <a:pt x="61649" y="597709"/>
                  </a:lnTo>
                  <a:lnTo>
                    <a:pt x="29564" y="576077"/>
                  </a:lnTo>
                  <a:lnTo>
                    <a:pt x="7932" y="543992"/>
                  </a:lnTo>
                  <a:lnTo>
                    <a:pt x="0" y="504702"/>
                  </a:lnTo>
                  <a:lnTo>
                    <a:pt x="0" y="10094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691572" y="4174286"/>
              <a:ext cx="4215765" cy="605790"/>
            </a:xfrm>
            <a:custGeom>
              <a:avLst/>
              <a:gdLst/>
              <a:ahLst/>
              <a:cxnLst/>
              <a:rect l="l" t="t" r="r" b="b"/>
              <a:pathLst>
                <a:path w="4215765" h="605789">
                  <a:moveTo>
                    <a:pt x="0" y="100940"/>
                  </a:moveTo>
                  <a:lnTo>
                    <a:pt x="7932" y="61649"/>
                  </a:lnTo>
                  <a:lnTo>
                    <a:pt x="29564" y="29564"/>
                  </a:lnTo>
                  <a:lnTo>
                    <a:pt x="61649" y="7932"/>
                  </a:lnTo>
                  <a:lnTo>
                    <a:pt x="100940" y="0"/>
                  </a:lnTo>
                  <a:lnTo>
                    <a:pt x="4114802" y="0"/>
                  </a:lnTo>
                  <a:lnTo>
                    <a:pt x="4154093" y="7932"/>
                  </a:lnTo>
                  <a:lnTo>
                    <a:pt x="4186178" y="29564"/>
                  </a:lnTo>
                  <a:lnTo>
                    <a:pt x="4207810" y="61649"/>
                  </a:lnTo>
                  <a:lnTo>
                    <a:pt x="4215742" y="100940"/>
                  </a:lnTo>
                  <a:lnTo>
                    <a:pt x="4215742" y="504702"/>
                  </a:lnTo>
                  <a:lnTo>
                    <a:pt x="4207810" y="543992"/>
                  </a:lnTo>
                  <a:lnTo>
                    <a:pt x="4186178" y="576077"/>
                  </a:lnTo>
                  <a:lnTo>
                    <a:pt x="4154093" y="597709"/>
                  </a:lnTo>
                  <a:lnTo>
                    <a:pt x="4114802" y="605642"/>
                  </a:lnTo>
                  <a:lnTo>
                    <a:pt x="100940" y="605642"/>
                  </a:lnTo>
                  <a:lnTo>
                    <a:pt x="61649" y="597709"/>
                  </a:lnTo>
                  <a:lnTo>
                    <a:pt x="29564" y="576077"/>
                  </a:lnTo>
                  <a:lnTo>
                    <a:pt x="7932" y="543992"/>
                  </a:lnTo>
                  <a:lnTo>
                    <a:pt x="0" y="504702"/>
                  </a:lnTo>
                  <a:lnTo>
                    <a:pt x="0" y="10094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1145202" y="6428920"/>
            <a:ext cx="15367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dirty="0">
                <a:solidFill>
                  <a:srgbClr val="898989"/>
                </a:solidFill>
                <a:latin typeface="Carlito"/>
                <a:cs typeface="Carlito"/>
              </a:rPr>
              <a:t>3</a:t>
            </a:fld>
            <a:endParaRPr sz="1200">
              <a:latin typeface="Carlito"/>
              <a:cs typeface="Carlito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0210537-80F6-423E-9AD9-06553E8F8BB9}"/>
              </a:ext>
            </a:extLst>
          </p:cNvPr>
          <p:cNvSpPr txBox="1"/>
          <p:nvPr/>
        </p:nvSpPr>
        <p:spPr>
          <a:xfrm>
            <a:off x="1048466" y="1826019"/>
            <a:ext cx="16417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spc="-5" dirty="0">
                <a:latin typeface="Times New Roman"/>
                <a:cs typeface="Times New Roman"/>
              </a:rPr>
              <a:t>Concept:</a:t>
            </a:r>
            <a:endParaRPr lang="zh-CN" alt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69EF89D-6165-87DA-000E-EF41F262A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431" y="2253048"/>
            <a:ext cx="3936185" cy="34013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5" y="321565"/>
            <a:ext cx="50145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0" dirty="0">
                <a:uFill>
                  <a:solidFill>
                    <a:srgbClr val="D0CECE"/>
                  </a:solidFill>
                </a:uFill>
              </a:rPr>
              <a:t>Breadth-first</a:t>
            </a:r>
            <a:r>
              <a:rPr sz="4400" u="heavy" spc="-55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sz="4400" u="heavy" spc="-20" dirty="0">
                <a:uFill>
                  <a:solidFill>
                    <a:srgbClr val="D0CECE"/>
                  </a:solidFill>
                </a:uFill>
              </a:rPr>
              <a:t>Search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7"/>
            <a:ext cx="155575" cy="1092835"/>
            <a:chOff x="-6350" y="152577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7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79995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79995"/>
                  </a:lnTo>
                  <a:lnTo>
                    <a:pt x="0" y="1079995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7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450719" y="411408"/>
            <a:ext cx="3460750" cy="6631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066800" y="2743200"/>
            <a:ext cx="4288790" cy="2555240"/>
            <a:chOff x="3637635" y="2244204"/>
            <a:chExt cx="4288790" cy="2555240"/>
          </a:xfrm>
        </p:grpSpPr>
        <p:sp>
          <p:nvSpPr>
            <p:cNvPr id="8" name="object 8"/>
            <p:cNvSpPr/>
            <p:nvPr/>
          </p:nvSpPr>
          <p:spPr>
            <a:xfrm>
              <a:off x="5575617" y="2405278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60" h="378460">
                  <a:moveTo>
                    <a:pt x="0" y="188940"/>
                  </a:moveTo>
                  <a:lnTo>
                    <a:pt x="6749" y="138712"/>
                  </a:lnTo>
                  <a:lnTo>
                    <a:pt x="25795" y="93578"/>
                  </a:lnTo>
                  <a:lnTo>
                    <a:pt x="55339" y="55339"/>
                  </a:lnTo>
                  <a:lnTo>
                    <a:pt x="93578" y="25795"/>
                  </a:lnTo>
                  <a:lnTo>
                    <a:pt x="138712" y="6749"/>
                  </a:lnTo>
                  <a:lnTo>
                    <a:pt x="188940" y="0"/>
                  </a:lnTo>
                  <a:lnTo>
                    <a:pt x="239167" y="6749"/>
                  </a:lnTo>
                  <a:lnTo>
                    <a:pt x="284301" y="25795"/>
                  </a:lnTo>
                  <a:lnTo>
                    <a:pt x="322540" y="55339"/>
                  </a:lnTo>
                  <a:lnTo>
                    <a:pt x="352083" y="93578"/>
                  </a:lnTo>
                  <a:lnTo>
                    <a:pt x="371130" y="138712"/>
                  </a:lnTo>
                  <a:lnTo>
                    <a:pt x="377879" y="188940"/>
                  </a:lnTo>
                  <a:lnTo>
                    <a:pt x="371130" y="239167"/>
                  </a:lnTo>
                  <a:lnTo>
                    <a:pt x="352083" y="284301"/>
                  </a:lnTo>
                  <a:lnTo>
                    <a:pt x="322540" y="322540"/>
                  </a:lnTo>
                  <a:lnTo>
                    <a:pt x="284301" y="352083"/>
                  </a:lnTo>
                  <a:lnTo>
                    <a:pt x="239167" y="371130"/>
                  </a:lnTo>
                  <a:lnTo>
                    <a:pt x="188940" y="377879"/>
                  </a:lnTo>
                  <a:lnTo>
                    <a:pt x="138712" y="371130"/>
                  </a:lnTo>
                  <a:lnTo>
                    <a:pt x="93578" y="352083"/>
                  </a:lnTo>
                  <a:lnTo>
                    <a:pt x="55339" y="322540"/>
                  </a:lnTo>
                  <a:lnTo>
                    <a:pt x="25795" y="284301"/>
                  </a:lnTo>
                  <a:lnTo>
                    <a:pt x="6749" y="239167"/>
                  </a:lnTo>
                  <a:lnTo>
                    <a:pt x="0" y="18894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12957" y="3378212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60" h="378460">
                  <a:moveTo>
                    <a:pt x="0" y="188940"/>
                  </a:moveTo>
                  <a:lnTo>
                    <a:pt x="6749" y="138712"/>
                  </a:lnTo>
                  <a:lnTo>
                    <a:pt x="25795" y="93578"/>
                  </a:lnTo>
                  <a:lnTo>
                    <a:pt x="55339" y="55339"/>
                  </a:lnTo>
                  <a:lnTo>
                    <a:pt x="93578" y="25795"/>
                  </a:lnTo>
                  <a:lnTo>
                    <a:pt x="138712" y="6749"/>
                  </a:lnTo>
                  <a:lnTo>
                    <a:pt x="188940" y="0"/>
                  </a:lnTo>
                  <a:lnTo>
                    <a:pt x="239167" y="6749"/>
                  </a:lnTo>
                  <a:lnTo>
                    <a:pt x="284301" y="25795"/>
                  </a:lnTo>
                  <a:lnTo>
                    <a:pt x="322540" y="55339"/>
                  </a:lnTo>
                  <a:lnTo>
                    <a:pt x="352083" y="93578"/>
                  </a:lnTo>
                  <a:lnTo>
                    <a:pt x="371130" y="138712"/>
                  </a:lnTo>
                  <a:lnTo>
                    <a:pt x="377879" y="188940"/>
                  </a:lnTo>
                  <a:lnTo>
                    <a:pt x="371130" y="239167"/>
                  </a:lnTo>
                  <a:lnTo>
                    <a:pt x="352083" y="284301"/>
                  </a:lnTo>
                  <a:lnTo>
                    <a:pt x="322540" y="322540"/>
                  </a:lnTo>
                  <a:lnTo>
                    <a:pt x="284301" y="352083"/>
                  </a:lnTo>
                  <a:lnTo>
                    <a:pt x="239167" y="371130"/>
                  </a:lnTo>
                  <a:lnTo>
                    <a:pt x="188940" y="377879"/>
                  </a:lnTo>
                  <a:lnTo>
                    <a:pt x="138712" y="371130"/>
                  </a:lnTo>
                  <a:lnTo>
                    <a:pt x="93578" y="352083"/>
                  </a:lnTo>
                  <a:lnTo>
                    <a:pt x="55339" y="322540"/>
                  </a:lnTo>
                  <a:lnTo>
                    <a:pt x="25795" y="284301"/>
                  </a:lnTo>
                  <a:lnTo>
                    <a:pt x="6749" y="239167"/>
                  </a:lnTo>
                  <a:lnTo>
                    <a:pt x="0" y="18894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01895" y="2766948"/>
              <a:ext cx="972819" cy="611505"/>
            </a:xfrm>
            <a:custGeom>
              <a:avLst/>
              <a:gdLst/>
              <a:ahLst/>
              <a:cxnLst/>
              <a:rect l="l" t="t" r="r" b="b"/>
              <a:pathLst>
                <a:path w="972820" h="611504">
                  <a:moveTo>
                    <a:pt x="67170" y="502551"/>
                  </a:moveTo>
                  <a:lnTo>
                    <a:pt x="0" y="611263"/>
                  </a:lnTo>
                  <a:lnTo>
                    <a:pt x="127266" y="599782"/>
                  </a:lnTo>
                  <a:lnTo>
                    <a:pt x="113427" y="577392"/>
                  </a:lnTo>
                  <a:lnTo>
                    <a:pt x="91033" y="577392"/>
                  </a:lnTo>
                  <a:lnTo>
                    <a:pt x="71005" y="544982"/>
                  </a:lnTo>
                  <a:lnTo>
                    <a:pt x="87206" y="534968"/>
                  </a:lnTo>
                  <a:lnTo>
                    <a:pt x="67170" y="502551"/>
                  </a:lnTo>
                  <a:close/>
                </a:path>
                <a:path w="972820" h="611504">
                  <a:moveTo>
                    <a:pt x="87206" y="534968"/>
                  </a:moveTo>
                  <a:lnTo>
                    <a:pt x="71005" y="544982"/>
                  </a:lnTo>
                  <a:lnTo>
                    <a:pt x="91033" y="577392"/>
                  </a:lnTo>
                  <a:lnTo>
                    <a:pt x="107237" y="567376"/>
                  </a:lnTo>
                  <a:lnTo>
                    <a:pt x="87206" y="534968"/>
                  </a:lnTo>
                  <a:close/>
                </a:path>
                <a:path w="972820" h="611504">
                  <a:moveTo>
                    <a:pt x="107237" y="567376"/>
                  </a:moveTo>
                  <a:lnTo>
                    <a:pt x="91033" y="577392"/>
                  </a:lnTo>
                  <a:lnTo>
                    <a:pt x="113427" y="577392"/>
                  </a:lnTo>
                  <a:lnTo>
                    <a:pt x="107237" y="567376"/>
                  </a:lnTo>
                  <a:close/>
                </a:path>
                <a:path w="972820" h="611504">
                  <a:moveTo>
                    <a:pt x="952639" y="0"/>
                  </a:moveTo>
                  <a:lnTo>
                    <a:pt x="87206" y="534968"/>
                  </a:lnTo>
                  <a:lnTo>
                    <a:pt x="107237" y="567376"/>
                  </a:lnTo>
                  <a:lnTo>
                    <a:pt x="972680" y="32410"/>
                  </a:lnTo>
                  <a:lnTo>
                    <a:pt x="952639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85775" y="3378212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60">
                  <a:moveTo>
                    <a:pt x="0" y="188940"/>
                  </a:moveTo>
                  <a:lnTo>
                    <a:pt x="6749" y="138712"/>
                  </a:lnTo>
                  <a:lnTo>
                    <a:pt x="25795" y="93578"/>
                  </a:lnTo>
                  <a:lnTo>
                    <a:pt x="55339" y="55339"/>
                  </a:lnTo>
                  <a:lnTo>
                    <a:pt x="93578" y="25795"/>
                  </a:lnTo>
                  <a:lnTo>
                    <a:pt x="138712" y="6749"/>
                  </a:lnTo>
                  <a:lnTo>
                    <a:pt x="188940" y="0"/>
                  </a:lnTo>
                  <a:lnTo>
                    <a:pt x="239167" y="6749"/>
                  </a:lnTo>
                  <a:lnTo>
                    <a:pt x="284301" y="25795"/>
                  </a:lnTo>
                  <a:lnTo>
                    <a:pt x="322540" y="55339"/>
                  </a:lnTo>
                  <a:lnTo>
                    <a:pt x="352083" y="93578"/>
                  </a:lnTo>
                  <a:lnTo>
                    <a:pt x="371130" y="138712"/>
                  </a:lnTo>
                  <a:lnTo>
                    <a:pt x="377879" y="188940"/>
                  </a:lnTo>
                  <a:lnTo>
                    <a:pt x="371130" y="239167"/>
                  </a:lnTo>
                  <a:lnTo>
                    <a:pt x="352083" y="284301"/>
                  </a:lnTo>
                  <a:lnTo>
                    <a:pt x="322540" y="322540"/>
                  </a:lnTo>
                  <a:lnTo>
                    <a:pt x="284301" y="352083"/>
                  </a:lnTo>
                  <a:lnTo>
                    <a:pt x="239167" y="371130"/>
                  </a:lnTo>
                  <a:lnTo>
                    <a:pt x="188940" y="377879"/>
                  </a:lnTo>
                  <a:lnTo>
                    <a:pt x="138712" y="371130"/>
                  </a:lnTo>
                  <a:lnTo>
                    <a:pt x="93578" y="352083"/>
                  </a:lnTo>
                  <a:lnTo>
                    <a:pt x="55339" y="322540"/>
                  </a:lnTo>
                  <a:lnTo>
                    <a:pt x="25795" y="284301"/>
                  </a:lnTo>
                  <a:lnTo>
                    <a:pt x="6749" y="239167"/>
                  </a:lnTo>
                  <a:lnTo>
                    <a:pt x="0" y="18894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54890" y="2766745"/>
              <a:ext cx="1020444" cy="611505"/>
            </a:xfrm>
            <a:custGeom>
              <a:avLst/>
              <a:gdLst/>
              <a:ahLst/>
              <a:cxnLst/>
              <a:rect l="l" t="t" r="r" b="b"/>
              <a:pathLst>
                <a:path w="1020445" h="611504">
                  <a:moveTo>
                    <a:pt x="911675" y="569869"/>
                  </a:moveTo>
                  <a:lnTo>
                    <a:pt x="892340" y="602691"/>
                  </a:lnTo>
                  <a:lnTo>
                    <a:pt x="1019822" y="611466"/>
                  </a:lnTo>
                  <a:lnTo>
                    <a:pt x="999142" y="579539"/>
                  </a:lnTo>
                  <a:lnTo>
                    <a:pt x="928090" y="579539"/>
                  </a:lnTo>
                  <a:lnTo>
                    <a:pt x="911675" y="569869"/>
                  </a:lnTo>
                  <a:close/>
                </a:path>
                <a:path w="1020445" h="611504">
                  <a:moveTo>
                    <a:pt x="931016" y="537039"/>
                  </a:moveTo>
                  <a:lnTo>
                    <a:pt x="911675" y="569869"/>
                  </a:lnTo>
                  <a:lnTo>
                    <a:pt x="928090" y="579539"/>
                  </a:lnTo>
                  <a:lnTo>
                    <a:pt x="947432" y="546709"/>
                  </a:lnTo>
                  <a:lnTo>
                    <a:pt x="931016" y="537039"/>
                  </a:lnTo>
                  <a:close/>
                </a:path>
                <a:path w="1020445" h="611504">
                  <a:moveTo>
                    <a:pt x="950353" y="504215"/>
                  </a:moveTo>
                  <a:lnTo>
                    <a:pt x="931016" y="537039"/>
                  </a:lnTo>
                  <a:lnTo>
                    <a:pt x="947432" y="546709"/>
                  </a:lnTo>
                  <a:lnTo>
                    <a:pt x="928090" y="579539"/>
                  </a:lnTo>
                  <a:lnTo>
                    <a:pt x="999142" y="579539"/>
                  </a:lnTo>
                  <a:lnTo>
                    <a:pt x="950353" y="504215"/>
                  </a:lnTo>
                  <a:close/>
                </a:path>
                <a:path w="1020445" h="611504">
                  <a:moveTo>
                    <a:pt x="19342" y="0"/>
                  </a:moveTo>
                  <a:lnTo>
                    <a:pt x="0" y="32829"/>
                  </a:lnTo>
                  <a:lnTo>
                    <a:pt x="911675" y="569869"/>
                  </a:lnTo>
                  <a:lnTo>
                    <a:pt x="931016" y="537039"/>
                  </a:lnTo>
                  <a:lnTo>
                    <a:pt x="19342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76585" y="4305477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60" h="378460">
                  <a:moveTo>
                    <a:pt x="0" y="188940"/>
                  </a:moveTo>
                  <a:lnTo>
                    <a:pt x="6749" y="138712"/>
                  </a:lnTo>
                  <a:lnTo>
                    <a:pt x="25795" y="93578"/>
                  </a:lnTo>
                  <a:lnTo>
                    <a:pt x="55339" y="55339"/>
                  </a:lnTo>
                  <a:lnTo>
                    <a:pt x="93578" y="25795"/>
                  </a:lnTo>
                  <a:lnTo>
                    <a:pt x="138712" y="6749"/>
                  </a:lnTo>
                  <a:lnTo>
                    <a:pt x="188940" y="0"/>
                  </a:lnTo>
                  <a:lnTo>
                    <a:pt x="239167" y="6749"/>
                  </a:lnTo>
                  <a:lnTo>
                    <a:pt x="284301" y="25795"/>
                  </a:lnTo>
                  <a:lnTo>
                    <a:pt x="322540" y="55339"/>
                  </a:lnTo>
                  <a:lnTo>
                    <a:pt x="352083" y="93578"/>
                  </a:lnTo>
                  <a:lnTo>
                    <a:pt x="371130" y="138712"/>
                  </a:lnTo>
                  <a:lnTo>
                    <a:pt x="377879" y="188940"/>
                  </a:lnTo>
                  <a:lnTo>
                    <a:pt x="371130" y="239167"/>
                  </a:lnTo>
                  <a:lnTo>
                    <a:pt x="352083" y="284301"/>
                  </a:lnTo>
                  <a:lnTo>
                    <a:pt x="322540" y="322540"/>
                  </a:lnTo>
                  <a:lnTo>
                    <a:pt x="284301" y="352083"/>
                  </a:lnTo>
                  <a:lnTo>
                    <a:pt x="239167" y="371130"/>
                  </a:lnTo>
                  <a:lnTo>
                    <a:pt x="188940" y="377879"/>
                  </a:lnTo>
                  <a:lnTo>
                    <a:pt x="138712" y="371130"/>
                  </a:lnTo>
                  <a:lnTo>
                    <a:pt x="93578" y="352083"/>
                  </a:lnTo>
                  <a:lnTo>
                    <a:pt x="55339" y="322540"/>
                  </a:lnTo>
                  <a:lnTo>
                    <a:pt x="25795" y="284301"/>
                  </a:lnTo>
                  <a:lnTo>
                    <a:pt x="6749" y="239167"/>
                  </a:lnTo>
                  <a:lnTo>
                    <a:pt x="0" y="18894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65523" y="3742791"/>
              <a:ext cx="550545" cy="563245"/>
            </a:xfrm>
            <a:custGeom>
              <a:avLst/>
              <a:gdLst/>
              <a:ahLst/>
              <a:cxnLst/>
              <a:rect l="l" t="t" r="r" b="b"/>
              <a:pathLst>
                <a:path w="550545" h="563245">
                  <a:moveTo>
                    <a:pt x="38950" y="440982"/>
                  </a:moveTo>
                  <a:lnTo>
                    <a:pt x="0" y="562686"/>
                  </a:lnTo>
                  <a:lnTo>
                    <a:pt x="120738" y="520827"/>
                  </a:lnTo>
                  <a:lnTo>
                    <a:pt x="107430" y="507834"/>
                  </a:lnTo>
                  <a:lnTo>
                    <a:pt x="80175" y="507834"/>
                  </a:lnTo>
                  <a:lnTo>
                    <a:pt x="52908" y="481228"/>
                  </a:lnTo>
                  <a:lnTo>
                    <a:pt x="66215" y="467598"/>
                  </a:lnTo>
                  <a:lnTo>
                    <a:pt x="38950" y="440982"/>
                  </a:lnTo>
                  <a:close/>
                </a:path>
                <a:path w="550545" h="563245">
                  <a:moveTo>
                    <a:pt x="66215" y="467598"/>
                  </a:moveTo>
                  <a:lnTo>
                    <a:pt x="52908" y="481228"/>
                  </a:lnTo>
                  <a:lnTo>
                    <a:pt x="80175" y="507834"/>
                  </a:lnTo>
                  <a:lnTo>
                    <a:pt x="93475" y="494211"/>
                  </a:lnTo>
                  <a:lnTo>
                    <a:pt x="66215" y="467598"/>
                  </a:lnTo>
                  <a:close/>
                </a:path>
                <a:path w="550545" h="563245">
                  <a:moveTo>
                    <a:pt x="93475" y="494211"/>
                  </a:moveTo>
                  <a:lnTo>
                    <a:pt x="80175" y="507834"/>
                  </a:lnTo>
                  <a:lnTo>
                    <a:pt x="107430" y="507834"/>
                  </a:lnTo>
                  <a:lnTo>
                    <a:pt x="93475" y="494211"/>
                  </a:lnTo>
                  <a:close/>
                </a:path>
                <a:path w="550545" h="563245">
                  <a:moveTo>
                    <a:pt x="522732" y="0"/>
                  </a:moveTo>
                  <a:lnTo>
                    <a:pt x="66215" y="467598"/>
                  </a:lnTo>
                  <a:lnTo>
                    <a:pt x="93475" y="494211"/>
                  </a:lnTo>
                  <a:lnTo>
                    <a:pt x="549998" y="26606"/>
                  </a:lnTo>
                  <a:lnTo>
                    <a:pt x="522732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86693" y="4305477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60" h="378460">
                  <a:moveTo>
                    <a:pt x="0" y="188940"/>
                  </a:moveTo>
                  <a:lnTo>
                    <a:pt x="6749" y="138712"/>
                  </a:lnTo>
                  <a:lnTo>
                    <a:pt x="25795" y="93578"/>
                  </a:lnTo>
                  <a:lnTo>
                    <a:pt x="55339" y="55339"/>
                  </a:lnTo>
                  <a:lnTo>
                    <a:pt x="93578" y="25795"/>
                  </a:lnTo>
                  <a:lnTo>
                    <a:pt x="138712" y="6749"/>
                  </a:lnTo>
                  <a:lnTo>
                    <a:pt x="188940" y="0"/>
                  </a:lnTo>
                  <a:lnTo>
                    <a:pt x="239167" y="6749"/>
                  </a:lnTo>
                  <a:lnTo>
                    <a:pt x="284301" y="25795"/>
                  </a:lnTo>
                  <a:lnTo>
                    <a:pt x="322540" y="55339"/>
                  </a:lnTo>
                  <a:lnTo>
                    <a:pt x="352083" y="93578"/>
                  </a:lnTo>
                  <a:lnTo>
                    <a:pt x="371130" y="138712"/>
                  </a:lnTo>
                  <a:lnTo>
                    <a:pt x="377879" y="188940"/>
                  </a:lnTo>
                  <a:lnTo>
                    <a:pt x="371130" y="239167"/>
                  </a:lnTo>
                  <a:lnTo>
                    <a:pt x="352083" y="284301"/>
                  </a:lnTo>
                  <a:lnTo>
                    <a:pt x="322540" y="322540"/>
                  </a:lnTo>
                  <a:lnTo>
                    <a:pt x="284301" y="352083"/>
                  </a:lnTo>
                  <a:lnTo>
                    <a:pt x="239167" y="371130"/>
                  </a:lnTo>
                  <a:lnTo>
                    <a:pt x="188940" y="377879"/>
                  </a:lnTo>
                  <a:lnTo>
                    <a:pt x="138712" y="371130"/>
                  </a:lnTo>
                  <a:lnTo>
                    <a:pt x="93578" y="352083"/>
                  </a:lnTo>
                  <a:lnTo>
                    <a:pt x="55339" y="322540"/>
                  </a:lnTo>
                  <a:lnTo>
                    <a:pt x="25795" y="284301"/>
                  </a:lnTo>
                  <a:lnTo>
                    <a:pt x="6749" y="239167"/>
                  </a:lnTo>
                  <a:lnTo>
                    <a:pt x="0" y="18894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87468" y="3743655"/>
              <a:ext cx="488315" cy="561975"/>
            </a:xfrm>
            <a:custGeom>
              <a:avLst/>
              <a:gdLst/>
              <a:ahLst/>
              <a:cxnLst/>
              <a:rect l="l" t="t" r="r" b="b"/>
              <a:pathLst>
                <a:path w="488314" h="561975">
                  <a:moveTo>
                    <a:pt x="399098" y="487700"/>
                  </a:moveTo>
                  <a:lnTo>
                    <a:pt x="370243" y="512584"/>
                  </a:lnTo>
                  <a:lnTo>
                    <a:pt x="488175" y="561822"/>
                  </a:lnTo>
                  <a:lnTo>
                    <a:pt x="473061" y="502132"/>
                  </a:lnTo>
                  <a:lnTo>
                    <a:pt x="411543" y="502132"/>
                  </a:lnTo>
                  <a:lnTo>
                    <a:pt x="399098" y="487700"/>
                  </a:lnTo>
                  <a:close/>
                </a:path>
                <a:path w="488314" h="561975">
                  <a:moveTo>
                    <a:pt x="427950" y="462818"/>
                  </a:moveTo>
                  <a:lnTo>
                    <a:pt x="399098" y="487700"/>
                  </a:lnTo>
                  <a:lnTo>
                    <a:pt x="411543" y="502132"/>
                  </a:lnTo>
                  <a:lnTo>
                    <a:pt x="440397" y="477253"/>
                  </a:lnTo>
                  <a:lnTo>
                    <a:pt x="427950" y="462818"/>
                  </a:lnTo>
                  <a:close/>
                </a:path>
                <a:path w="488314" h="561975">
                  <a:moveTo>
                    <a:pt x="456806" y="437934"/>
                  </a:moveTo>
                  <a:lnTo>
                    <a:pt x="427950" y="462818"/>
                  </a:lnTo>
                  <a:lnTo>
                    <a:pt x="440397" y="477253"/>
                  </a:lnTo>
                  <a:lnTo>
                    <a:pt x="411543" y="502132"/>
                  </a:lnTo>
                  <a:lnTo>
                    <a:pt x="473061" y="502132"/>
                  </a:lnTo>
                  <a:lnTo>
                    <a:pt x="456806" y="437934"/>
                  </a:lnTo>
                  <a:close/>
                </a:path>
                <a:path w="488314" h="561975">
                  <a:moveTo>
                    <a:pt x="28854" y="0"/>
                  </a:moveTo>
                  <a:lnTo>
                    <a:pt x="0" y="24879"/>
                  </a:lnTo>
                  <a:lnTo>
                    <a:pt x="399098" y="487700"/>
                  </a:lnTo>
                  <a:lnTo>
                    <a:pt x="427950" y="462818"/>
                  </a:lnTo>
                  <a:lnTo>
                    <a:pt x="28854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96812" y="4305477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60" h="378460">
                  <a:moveTo>
                    <a:pt x="0" y="188940"/>
                  </a:moveTo>
                  <a:lnTo>
                    <a:pt x="6749" y="138712"/>
                  </a:lnTo>
                  <a:lnTo>
                    <a:pt x="25795" y="93578"/>
                  </a:lnTo>
                  <a:lnTo>
                    <a:pt x="55339" y="55339"/>
                  </a:lnTo>
                  <a:lnTo>
                    <a:pt x="93578" y="25795"/>
                  </a:lnTo>
                  <a:lnTo>
                    <a:pt x="138712" y="6749"/>
                  </a:lnTo>
                  <a:lnTo>
                    <a:pt x="188940" y="0"/>
                  </a:lnTo>
                  <a:lnTo>
                    <a:pt x="239167" y="6749"/>
                  </a:lnTo>
                  <a:lnTo>
                    <a:pt x="284301" y="25795"/>
                  </a:lnTo>
                  <a:lnTo>
                    <a:pt x="322540" y="55339"/>
                  </a:lnTo>
                  <a:lnTo>
                    <a:pt x="352083" y="93578"/>
                  </a:lnTo>
                  <a:lnTo>
                    <a:pt x="371130" y="138712"/>
                  </a:lnTo>
                  <a:lnTo>
                    <a:pt x="377879" y="188940"/>
                  </a:lnTo>
                  <a:lnTo>
                    <a:pt x="371130" y="239167"/>
                  </a:lnTo>
                  <a:lnTo>
                    <a:pt x="352083" y="284301"/>
                  </a:lnTo>
                  <a:lnTo>
                    <a:pt x="322540" y="322540"/>
                  </a:lnTo>
                  <a:lnTo>
                    <a:pt x="284301" y="352083"/>
                  </a:lnTo>
                  <a:lnTo>
                    <a:pt x="239167" y="371130"/>
                  </a:lnTo>
                  <a:lnTo>
                    <a:pt x="188940" y="377879"/>
                  </a:lnTo>
                  <a:lnTo>
                    <a:pt x="138712" y="371130"/>
                  </a:lnTo>
                  <a:lnTo>
                    <a:pt x="93578" y="352083"/>
                  </a:lnTo>
                  <a:lnTo>
                    <a:pt x="55339" y="322540"/>
                  </a:lnTo>
                  <a:lnTo>
                    <a:pt x="25795" y="284301"/>
                  </a:lnTo>
                  <a:lnTo>
                    <a:pt x="6749" y="239167"/>
                  </a:lnTo>
                  <a:lnTo>
                    <a:pt x="0" y="18894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85750" y="3743426"/>
              <a:ext cx="503555" cy="562610"/>
            </a:xfrm>
            <a:custGeom>
              <a:avLst/>
              <a:gdLst/>
              <a:ahLst/>
              <a:cxnLst/>
              <a:rect l="l" t="t" r="r" b="b"/>
              <a:pathLst>
                <a:path w="503554" h="562610">
                  <a:moveTo>
                    <a:pt x="33299" y="438670"/>
                  </a:moveTo>
                  <a:lnTo>
                    <a:pt x="0" y="562051"/>
                  </a:lnTo>
                  <a:lnTo>
                    <a:pt x="118681" y="514667"/>
                  </a:lnTo>
                  <a:lnTo>
                    <a:pt x="106210" y="503567"/>
                  </a:lnTo>
                  <a:lnTo>
                    <a:pt x="77558" y="503567"/>
                  </a:lnTo>
                  <a:lnTo>
                    <a:pt x="49098" y="478231"/>
                  </a:lnTo>
                  <a:lnTo>
                    <a:pt x="61761" y="464003"/>
                  </a:lnTo>
                  <a:lnTo>
                    <a:pt x="33299" y="438670"/>
                  </a:lnTo>
                  <a:close/>
                </a:path>
                <a:path w="503554" h="562610">
                  <a:moveTo>
                    <a:pt x="61761" y="464003"/>
                  </a:moveTo>
                  <a:lnTo>
                    <a:pt x="49098" y="478231"/>
                  </a:lnTo>
                  <a:lnTo>
                    <a:pt x="77558" y="503567"/>
                  </a:lnTo>
                  <a:lnTo>
                    <a:pt x="90223" y="489337"/>
                  </a:lnTo>
                  <a:lnTo>
                    <a:pt x="61761" y="464003"/>
                  </a:lnTo>
                  <a:close/>
                </a:path>
                <a:path w="503554" h="562610">
                  <a:moveTo>
                    <a:pt x="90223" y="489337"/>
                  </a:moveTo>
                  <a:lnTo>
                    <a:pt x="77558" y="503567"/>
                  </a:lnTo>
                  <a:lnTo>
                    <a:pt x="106210" y="503567"/>
                  </a:lnTo>
                  <a:lnTo>
                    <a:pt x="90223" y="489337"/>
                  </a:lnTo>
                  <a:close/>
                </a:path>
                <a:path w="503554" h="562610">
                  <a:moveTo>
                    <a:pt x="474738" y="0"/>
                  </a:moveTo>
                  <a:lnTo>
                    <a:pt x="61761" y="464003"/>
                  </a:lnTo>
                  <a:lnTo>
                    <a:pt x="90223" y="489337"/>
                  </a:lnTo>
                  <a:lnTo>
                    <a:pt x="503199" y="25336"/>
                  </a:lnTo>
                  <a:lnTo>
                    <a:pt x="474738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06920" y="4305477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60">
                  <a:moveTo>
                    <a:pt x="0" y="188940"/>
                  </a:moveTo>
                  <a:lnTo>
                    <a:pt x="6749" y="138712"/>
                  </a:lnTo>
                  <a:lnTo>
                    <a:pt x="25795" y="93578"/>
                  </a:lnTo>
                  <a:lnTo>
                    <a:pt x="55339" y="55339"/>
                  </a:lnTo>
                  <a:lnTo>
                    <a:pt x="93578" y="25795"/>
                  </a:lnTo>
                  <a:lnTo>
                    <a:pt x="138712" y="6749"/>
                  </a:lnTo>
                  <a:lnTo>
                    <a:pt x="188940" y="0"/>
                  </a:lnTo>
                  <a:lnTo>
                    <a:pt x="239167" y="6749"/>
                  </a:lnTo>
                  <a:lnTo>
                    <a:pt x="284301" y="25795"/>
                  </a:lnTo>
                  <a:lnTo>
                    <a:pt x="322540" y="55339"/>
                  </a:lnTo>
                  <a:lnTo>
                    <a:pt x="352083" y="93578"/>
                  </a:lnTo>
                  <a:lnTo>
                    <a:pt x="371130" y="138712"/>
                  </a:lnTo>
                  <a:lnTo>
                    <a:pt x="377879" y="188940"/>
                  </a:lnTo>
                  <a:lnTo>
                    <a:pt x="371130" y="239167"/>
                  </a:lnTo>
                  <a:lnTo>
                    <a:pt x="352083" y="284301"/>
                  </a:lnTo>
                  <a:lnTo>
                    <a:pt x="322540" y="322540"/>
                  </a:lnTo>
                  <a:lnTo>
                    <a:pt x="284301" y="352083"/>
                  </a:lnTo>
                  <a:lnTo>
                    <a:pt x="239167" y="371130"/>
                  </a:lnTo>
                  <a:lnTo>
                    <a:pt x="188940" y="377879"/>
                  </a:lnTo>
                  <a:lnTo>
                    <a:pt x="138712" y="371130"/>
                  </a:lnTo>
                  <a:lnTo>
                    <a:pt x="93578" y="352083"/>
                  </a:lnTo>
                  <a:lnTo>
                    <a:pt x="55339" y="322540"/>
                  </a:lnTo>
                  <a:lnTo>
                    <a:pt x="25795" y="284301"/>
                  </a:lnTo>
                  <a:lnTo>
                    <a:pt x="6749" y="239167"/>
                  </a:lnTo>
                  <a:lnTo>
                    <a:pt x="0" y="18894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60895" y="3742982"/>
              <a:ext cx="535305" cy="562610"/>
            </a:xfrm>
            <a:custGeom>
              <a:avLst/>
              <a:gdLst/>
              <a:ahLst/>
              <a:cxnLst/>
              <a:rect l="l" t="t" r="r" b="b"/>
              <a:pathLst>
                <a:path w="535304" h="562610">
                  <a:moveTo>
                    <a:pt x="442486" y="492677"/>
                  </a:moveTo>
                  <a:lnTo>
                    <a:pt x="414845" y="518896"/>
                  </a:lnTo>
                  <a:lnTo>
                    <a:pt x="534974" y="562495"/>
                  </a:lnTo>
                  <a:lnTo>
                    <a:pt x="517931" y="506501"/>
                  </a:lnTo>
                  <a:lnTo>
                    <a:pt x="455599" y="506501"/>
                  </a:lnTo>
                  <a:lnTo>
                    <a:pt x="442486" y="492677"/>
                  </a:lnTo>
                  <a:close/>
                </a:path>
                <a:path w="535304" h="562610">
                  <a:moveTo>
                    <a:pt x="470128" y="466458"/>
                  </a:moveTo>
                  <a:lnTo>
                    <a:pt x="442486" y="492677"/>
                  </a:lnTo>
                  <a:lnTo>
                    <a:pt x="455599" y="506501"/>
                  </a:lnTo>
                  <a:lnTo>
                    <a:pt x="483234" y="480275"/>
                  </a:lnTo>
                  <a:lnTo>
                    <a:pt x="470128" y="466458"/>
                  </a:lnTo>
                  <a:close/>
                </a:path>
                <a:path w="535304" h="562610">
                  <a:moveTo>
                    <a:pt x="497763" y="440245"/>
                  </a:moveTo>
                  <a:lnTo>
                    <a:pt x="470128" y="466458"/>
                  </a:lnTo>
                  <a:lnTo>
                    <a:pt x="483234" y="480275"/>
                  </a:lnTo>
                  <a:lnTo>
                    <a:pt x="455599" y="506501"/>
                  </a:lnTo>
                  <a:lnTo>
                    <a:pt x="517931" y="506501"/>
                  </a:lnTo>
                  <a:lnTo>
                    <a:pt x="497763" y="440245"/>
                  </a:lnTo>
                  <a:close/>
                </a:path>
                <a:path w="535304" h="562610">
                  <a:moveTo>
                    <a:pt x="27647" y="0"/>
                  </a:moveTo>
                  <a:lnTo>
                    <a:pt x="0" y="26225"/>
                  </a:lnTo>
                  <a:lnTo>
                    <a:pt x="442486" y="492677"/>
                  </a:lnTo>
                  <a:lnTo>
                    <a:pt x="470128" y="466458"/>
                  </a:lnTo>
                  <a:lnTo>
                    <a:pt x="27647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56685" y="2263254"/>
              <a:ext cx="4215765" cy="605790"/>
            </a:xfrm>
            <a:custGeom>
              <a:avLst/>
              <a:gdLst/>
              <a:ahLst/>
              <a:cxnLst/>
              <a:rect l="l" t="t" r="r" b="b"/>
              <a:pathLst>
                <a:path w="4215765" h="605789">
                  <a:moveTo>
                    <a:pt x="0" y="100940"/>
                  </a:moveTo>
                  <a:lnTo>
                    <a:pt x="7932" y="61649"/>
                  </a:lnTo>
                  <a:lnTo>
                    <a:pt x="29564" y="29564"/>
                  </a:lnTo>
                  <a:lnTo>
                    <a:pt x="61649" y="7932"/>
                  </a:lnTo>
                  <a:lnTo>
                    <a:pt x="100940" y="0"/>
                  </a:lnTo>
                  <a:lnTo>
                    <a:pt x="4114802" y="0"/>
                  </a:lnTo>
                  <a:lnTo>
                    <a:pt x="4154093" y="7932"/>
                  </a:lnTo>
                  <a:lnTo>
                    <a:pt x="4186178" y="29564"/>
                  </a:lnTo>
                  <a:lnTo>
                    <a:pt x="4207810" y="61649"/>
                  </a:lnTo>
                  <a:lnTo>
                    <a:pt x="4215742" y="100940"/>
                  </a:lnTo>
                  <a:lnTo>
                    <a:pt x="4215742" y="504702"/>
                  </a:lnTo>
                  <a:lnTo>
                    <a:pt x="4207810" y="543992"/>
                  </a:lnTo>
                  <a:lnTo>
                    <a:pt x="4186178" y="576077"/>
                  </a:lnTo>
                  <a:lnTo>
                    <a:pt x="4154093" y="597709"/>
                  </a:lnTo>
                  <a:lnTo>
                    <a:pt x="4114802" y="605642"/>
                  </a:lnTo>
                  <a:lnTo>
                    <a:pt x="100940" y="605642"/>
                  </a:lnTo>
                  <a:lnTo>
                    <a:pt x="61649" y="597709"/>
                  </a:lnTo>
                  <a:lnTo>
                    <a:pt x="29564" y="576077"/>
                  </a:lnTo>
                  <a:lnTo>
                    <a:pt x="7932" y="543992"/>
                  </a:lnTo>
                  <a:lnTo>
                    <a:pt x="0" y="504702"/>
                  </a:lnTo>
                  <a:lnTo>
                    <a:pt x="0" y="10094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70490" y="3236201"/>
              <a:ext cx="4215765" cy="605790"/>
            </a:xfrm>
            <a:custGeom>
              <a:avLst/>
              <a:gdLst/>
              <a:ahLst/>
              <a:cxnLst/>
              <a:rect l="l" t="t" r="r" b="b"/>
              <a:pathLst>
                <a:path w="4215765" h="605789">
                  <a:moveTo>
                    <a:pt x="0" y="100940"/>
                  </a:moveTo>
                  <a:lnTo>
                    <a:pt x="7932" y="61649"/>
                  </a:lnTo>
                  <a:lnTo>
                    <a:pt x="29564" y="29564"/>
                  </a:lnTo>
                  <a:lnTo>
                    <a:pt x="61649" y="7932"/>
                  </a:lnTo>
                  <a:lnTo>
                    <a:pt x="100940" y="0"/>
                  </a:lnTo>
                  <a:lnTo>
                    <a:pt x="4114802" y="0"/>
                  </a:lnTo>
                  <a:lnTo>
                    <a:pt x="4154093" y="7932"/>
                  </a:lnTo>
                  <a:lnTo>
                    <a:pt x="4186178" y="29564"/>
                  </a:lnTo>
                  <a:lnTo>
                    <a:pt x="4207810" y="61649"/>
                  </a:lnTo>
                  <a:lnTo>
                    <a:pt x="4215742" y="100940"/>
                  </a:lnTo>
                  <a:lnTo>
                    <a:pt x="4215742" y="504702"/>
                  </a:lnTo>
                  <a:lnTo>
                    <a:pt x="4207810" y="543992"/>
                  </a:lnTo>
                  <a:lnTo>
                    <a:pt x="4186178" y="576077"/>
                  </a:lnTo>
                  <a:lnTo>
                    <a:pt x="4154093" y="597709"/>
                  </a:lnTo>
                  <a:lnTo>
                    <a:pt x="4114802" y="605642"/>
                  </a:lnTo>
                  <a:lnTo>
                    <a:pt x="100940" y="605642"/>
                  </a:lnTo>
                  <a:lnTo>
                    <a:pt x="61649" y="597709"/>
                  </a:lnTo>
                  <a:lnTo>
                    <a:pt x="29564" y="576077"/>
                  </a:lnTo>
                  <a:lnTo>
                    <a:pt x="7932" y="543992"/>
                  </a:lnTo>
                  <a:lnTo>
                    <a:pt x="0" y="504702"/>
                  </a:lnTo>
                  <a:lnTo>
                    <a:pt x="0" y="10094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691572" y="4174286"/>
              <a:ext cx="4215765" cy="605790"/>
            </a:xfrm>
            <a:custGeom>
              <a:avLst/>
              <a:gdLst/>
              <a:ahLst/>
              <a:cxnLst/>
              <a:rect l="l" t="t" r="r" b="b"/>
              <a:pathLst>
                <a:path w="4215765" h="605789">
                  <a:moveTo>
                    <a:pt x="0" y="100940"/>
                  </a:moveTo>
                  <a:lnTo>
                    <a:pt x="7932" y="61649"/>
                  </a:lnTo>
                  <a:lnTo>
                    <a:pt x="29564" y="29564"/>
                  </a:lnTo>
                  <a:lnTo>
                    <a:pt x="61649" y="7932"/>
                  </a:lnTo>
                  <a:lnTo>
                    <a:pt x="100940" y="0"/>
                  </a:lnTo>
                  <a:lnTo>
                    <a:pt x="4114802" y="0"/>
                  </a:lnTo>
                  <a:lnTo>
                    <a:pt x="4154093" y="7932"/>
                  </a:lnTo>
                  <a:lnTo>
                    <a:pt x="4186178" y="29564"/>
                  </a:lnTo>
                  <a:lnTo>
                    <a:pt x="4207810" y="61649"/>
                  </a:lnTo>
                  <a:lnTo>
                    <a:pt x="4215742" y="100940"/>
                  </a:lnTo>
                  <a:lnTo>
                    <a:pt x="4215742" y="504702"/>
                  </a:lnTo>
                  <a:lnTo>
                    <a:pt x="4207810" y="543992"/>
                  </a:lnTo>
                  <a:lnTo>
                    <a:pt x="4186178" y="576077"/>
                  </a:lnTo>
                  <a:lnTo>
                    <a:pt x="4154093" y="597709"/>
                  </a:lnTo>
                  <a:lnTo>
                    <a:pt x="4114802" y="605642"/>
                  </a:lnTo>
                  <a:lnTo>
                    <a:pt x="100940" y="605642"/>
                  </a:lnTo>
                  <a:lnTo>
                    <a:pt x="61649" y="597709"/>
                  </a:lnTo>
                  <a:lnTo>
                    <a:pt x="29564" y="576077"/>
                  </a:lnTo>
                  <a:lnTo>
                    <a:pt x="7932" y="543992"/>
                  </a:lnTo>
                  <a:lnTo>
                    <a:pt x="0" y="504702"/>
                  </a:lnTo>
                  <a:lnTo>
                    <a:pt x="0" y="10094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1145202" y="6428920"/>
            <a:ext cx="15367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dirty="0">
                <a:solidFill>
                  <a:srgbClr val="898989"/>
                </a:solidFill>
                <a:latin typeface="Carlito"/>
                <a:cs typeface="Carlito"/>
              </a:rPr>
              <a:t>4</a:t>
            </a:fld>
            <a:endParaRPr sz="1200">
              <a:latin typeface="Carlito"/>
              <a:cs typeface="Carlito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0210537-80F6-423E-9AD9-06553E8F8BB9}"/>
              </a:ext>
            </a:extLst>
          </p:cNvPr>
          <p:cNvSpPr txBox="1"/>
          <p:nvPr/>
        </p:nvSpPr>
        <p:spPr>
          <a:xfrm>
            <a:off x="1048466" y="1826019"/>
            <a:ext cx="16417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spc="-5" dirty="0">
                <a:latin typeface="Times New Roman"/>
                <a:cs typeface="Times New Roman"/>
              </a:rPr>
              <a:t>Concept: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487BC55-34BE-4B3E-BFAF-DD3BF1BC7B2F}"/>
              </a:ext>
            </a:extLst>
          </p:cNvPr>
          <p:cNvSpPr txBox="1"/>
          <p:nvPr/>
        </p:nvSpPr>
        <p:spPr>
          <a:xfrm>
            <a:off x="7503490" y="1826018"/>
            <a:ext cx="16417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spc="-5" dirty="0">
                <a:latin typeface="Times New Roman"/>
                <a:cs typeface="Times New Roman"/>
              </a:rPr>
              <a:t>Example:</a:t>
            </a:r>
            <a:endParaRPr lang="zh-CN" alt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B1F2A86E-61D0-4871-B7B1-3B5C027A10B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3490" y="2488634"/>
            <a:ext cx="3505200" cy="309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290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5" y="321565"/>
            <a:ext cx="49790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65700" algn="l"/>
              </a:tabLst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5" dirty="0">
                <a:uFill>
                  <a:solidFill>
                    <a:srgbClr val="D0CECE"/>
                  </a:solidFill>
                </a:uFill>
              </a:rPr>
              <a:t>Depth-first</a:t>
            </a:r>
            <a:r>
              <a:rPr sz="4400" u="heavy" spc="-55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sz="4400" u="heavy" spc="-20" dirty="0">
                <a:uFill>
                  <a:solidFill>
                    <a:srgbClr val="D0CECE"/>
                  </a:solidFill>
                </a:uFill>
              </a:rPr>
              <a:t>Search	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7"/>
            <a:ext cx="155575" cy="1092835"/>
            <a:chOff x="-6350" y="152577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7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79995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79995"/>
                  </a:lnTo>
                  <a:lnTo>
                    <a:pt x="0" y="1079995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7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450719" y="411408"/>
            <a:ext cx="3460750" cy="6631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002914" y="2971800"/>
            <a:ext cx="3446779" cy="2316480"/>
            <a:chOff x="4057535" y="2386228"/>
            <a:chExt cx="3446779" cy="2316480"/>
          </a:xfrm>
        </p:grpSpPr>
        <p:sp>
          <p:nvSpPr>
            <p:cNvPr id="8" name="object 8"/>
            <p:cNvSpPr/>
            <p:nvPr/>
          </p:nvSpPr>
          <p:spPr>
            <a:xfrm>
              <a:off x="5575617" y="2405278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60" h="378460">
                  <a:moveTo>
                    <a:pt x="0" y="188940"/>
                  </a:moveTo>
                  <a:lnTo>
                    <a:pt x="6749" y="138712"/>
                  </a:lnTo>
                  <a:lnTo>
                    <a:pt x="25795" y="93578"/>
                  </a:lnTo>
                  <a:lnTo>
                    <a:pt x="55339" y="55339"/>
                  </a:lnTo>
                  <a:lnTo>
                    <a:pt x="93578" y="25795"/>
                  </a:lnTo>
                  <a:lnTo>
                    <a:pt x="138712" y="6749"/>
                  </a:lnTo>
                  <a:lnTo>
                    <a:pt x="188940" y="0"/>
                  </a:lnTo>
                  <a:lnTo>
                    <a:pt x="239167" y="6749"/>
                  </a:lnTo>
                  <a:lnTo>
                    <a:pt x="284301" y="25795"/>
                  </a:lnTo>
                  <a:lnTo>
                    <a:pt x="322540" y="55339"/>
                  </a:lnTo>
                  <a:lnTo>
                    <a:pt x="352083" y="93578"/>
                  </a:lnTo>
                  <a:lnTo>
                    <a:pt x="371130" y="138712"/>
                  </a:lnTo>
                  <a:lnTo>
                    <a:pt x="377879" y="188940"/>
                  </a:lnTo>
                  <a:lnTo>
                    <a:pt x="371130" y="239167"/>
                  </a:lnTo>
                  <a:lnTo>
                    <a:pt x="352083" y="284301"/>
                  </a:lnTo>
                  <a:lnTo>
                    <a:pt x="322540" y="322540"/>
                  </a:lnTo>
                  <a:lnTo>
                    <a:pt x="284301" y="352083"/>
                  </a:lnTo>
                  <a:lnTo>
                    <a:pt x="239167" y="371130"/>
                  </a:lnTo>
                  <a:lnTo>
                    <a:pt x="188940" y="377879"/>
                  </a:lnTo>
                  <a:lnTo>
                    <a:pt x="138712" y="371130"/>
                  </a:lnTo>
                  <a:lnTo>
                    <a:pt x="93578" y="352083"/>
                  </a:lnTo>
                  <a:lnTo>
                    <a:pt x="55339" y="322540"/>
                  </a:lnTo>
                  <a:lnTo>
                    <a:pt x="25795" y="284301"/>
                  </a:lnTo>
                  <a:lnTo>
                    <a:pt x="6749" y="239167"/>
                  </a:lnTo>
                  <a:lnTo>
                    <a:pt x="0" y="18894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12957" y="3378212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60" h="378460">
                  <a:moveTo>
                    <a:pt x="0" y="188940"/>
                  </a:moveTo>
                  <a:lnTo>
                    <a:pt x="6749" y="138712"/>
                  </a:lnTo>
                  <a:lnTo>
                    <a:pt x="25795" y="93578"/>
                  </a:lnTo>
                  <a:lnTo>
                    <a:pt x="55339" y="55339"/>
                  </a:lnTo>
                  <a:lnTo>
                    <a:pt x="93578" y="25795"/>
                  </a:lnTo>
                  <a:lnTo>
                    <a:pt x="138712" y="6749"/>
                  </a:lnTo>
                  <a:lnTo>
                    <a:pt x="188940" y="0"/>
                  </a:lnTo>
                  <a:lnTo>
                    <a:pt x="239167" y="6749"/>
                  </a:lnTo>
                  <a:lnTo>
                    <a:pt x="284301" y="25795"/>
                  </a:lnTo>
                  <a:lnTo>
                    <a:pt x="322540" y="55339"/>
                  </a:lnTo>
                  <a:lnTo>
                    <a:pt x="352083" y="93578"/>
                  </a:lnTo>
                  <a:lnTo>
                    <a:pt x="371130" y="138712"/>
                  </a:lnTo>
                  <a:lnTo>
                    <a:pt x="377879" y="188940"/>
                  </a:lnTo>
                  <a:lnTo>
                    <a:pt x="371130" y="239167"/>
                  </a:lnTo>
                  <a:lnTo>
                    <a:pt x="352083" y="284301"/>
                  </a:lnTo>
                  <a:lnTo>
                    <a:pt x="322540" y="322540"/>
                  </a:lnTo>
                  <a:lnTo>
                    <a:pt x="284301" y="352083"/>
                  </a:lnTo>
                  <a:lnTo>
                    <a:pt x="239167" y="371130"/>
                  </a:lnTo>
                  <a:lnTo>
                    <a:pt x="188940" y="377879"/>
                  </a:lnTo>
                  <a:lnTo>
                    <a:pt x="138712" y="371130"/>
                  </a:lnTo>
                  <a:lnTo>
                    <a:pt x="93578" y="352083"/>
                  </a:lnTo>
                  <a:lnTo>
                    <a:pt x="55339" y="322540"/>
                  </a:lnTo>
                  <a:lnTo>
                    <a:pt x="25795" y="284301"/>
                  </a:lnTo>
                  <a:lnTo>
                    <a:pt x="6749" y="239167"/>
                  </a:lnTo>
                  <a:lnTo>
                    <a:pt x="0" y="18894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01895" y="2766948"/>
              <a:ext cx="972819" cy="611505"/>
            </a:xfrm>
            <a:custGeom>
              <a:avLst/>
              <a:gdLst/>
              <a:ahLst/>
              <a:cxnLst/>
              <a:rect l="l" t="t" r="r" b="b"/>
              <a:pathLst>
                <a:path w="972820" h="611504">
                  <a:moveTo>
                    <a:pt x="67170" y="502551"/>
                  </a:moveTo>
                  <a:lnTo>
                    <a:pt x="0" y="611263"/>
                  </a:lnTo>
                  <a:lnTo>
                    <a:pt x="127266" y="599782"/>
                  </a:lnTo>
                  <a:lnTo>
                    <a:pt x="113427" y="577392"/>
                  </a:lnTo>
                  <a:lnTo>
                    <a:pt x="91033" y="577392"/>
                  </a:lnTo>
                  <a:lnTo>
                    <a:pt x="71005" y="544982"/>
                  </a:lnTo>
                  <a:lnTo>
                    <a:pt x="87206" y="534968"/>
                  </a:lnTo>
                  <a:lnTo>
                    <a:pt x="67170" y="502551"/>
                  </a:lnTo>
                  <a:close/>
                </a:path>
                <a:path w="972820" h="611504">
                  <a:moveTo>
                    <a:pt x="87206" y="534968"/>
                  </a:moveTo>
                  <a:lnTo>
                    <a:pt x="71005" y="544982"/>
                  </a:lnTo>
                  <a:lnTo>
                    <a:pt x="91033" y="577392"/>
                  </a:lnTo>
                  <a:lnTo>
                    <a:pt x="107237" y="567376"/>
                  </a:lnTo>
                  <a:lnTo>
                    <a:pt x="87206" y="534968"/>
                  </a:lnTo>
                  <a:close/>
                </a:path>
                <a:path w="972820" h="611504">
                  <a:moveTo>
                    <a:pt x="107237" y="567376"/>
                  </a:moveTo>
                  <a:lnTo>
                    <a:pt x="91033" y="577392"/>
                  </a:lnTo>
                  <a:lnTo>
                    <a:pt x="113427" y="577392"/>
                  </a:lnTo>
                  <a:lnTo>
                    <a:pt x="107237" y="567376"/>
                  </a:lnTo>
                  <a:close/>
                </a:path>
                <a:path w="972820" h="611504">
                  <a:moveTo>
                    <a:pt x="952639" y="0"/>
                  </a:moveTo>
                  <a:lnTo>
                    <a:pt x="87206" y="534968"/>
                  </a:lnTo>
                  <a:lnTo>
                    <a:pt x="107237" y="567376"/>
                  </a:lnTo>
                  <a:lnTo>
                    <a:pt x="972680" y="32410"/>
                  </a:lnTo>
                  <a:lnTo>
                    <a:pt x="952639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85775" y="3378212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60">
                  <a:moveTo>
                    <a:pt x="0" y="188940"/>
                  </a:moveTo>
                  <a:lnTo>
                    <a:pt x="6749" y="138712"/>
                  </a:lnTo>
                  <a:lnTo>
                    <a:pt x="25795" y="93578"/>
                  </a:lnTo>
                  <a:lnTo>
                    <a:pt x="55339" y="55339"/>
                  </a:lnTo>
                  <a:lnTo>
                    <a:pt x="93578" y="25795"/>
                  </a:lnTo>
                  <a:lnTo>
                    <a:pt x="138712" y="6749"/>
                  </a:lnTo>
                  <a:lnTo>
                    <a:pt x="188940" y="0"/>
                  </a:lnTo>
                  <a:lnTo>
                    <a:pt x="239167" y="6749"/>
                  </a:lnTo>
                  <a:lnTo>
                    <a:pt x="284301" y="25795"/>
                  </a:lnTo>
                  <a:lnTo>
                    <a:pt x="322540" y="55339"/>
                  </a:lnTo>
                  <a:lnTo>
                    <a:pt x="352083" y="93578"/>
                  </a:lnTo>
                  <a:lnTo>
                    <a:pt x="371130" y="138712"/>
                  </a:lnTo>
                  <a:lnTo>
                    <a:pt x="377879" y="188940"/>
                  </a:lnTo>
                  <a:lnTo>
                    <a:pt x="371130" y="239167"/>
                  </a:lnTo>
                  <a:lnTo>
                    <a:pt x="352083" y="284301"/>
                  </a:lnTo>
                  <a:lnTo>
                    <a:pt x="322540" y="322540"/>
                  </a:lnTo>
                  <a:lnTo>
                    <a:pt x="284301" y="352083"/>
                  </a:lnTo>
                  <a:lnTo>
                    <a:pt x="239167" y="371130"/>
                  </a:lnTo>
                  <a:lnTo>
                    <a:pt x="188940" y="377879"/>
                  </a:lnTo>
                  <a:lnTo>
                    <a:pt x="138712" y="371130"/>
                  </a:lnTo>
                  <a:lnTo>
                    <a:pt x="93578" y="352083"/>
                  </a:lnTo>
                  <a:lnTo>
                    <a:pt x="55339" y="322540"/>
                  </a:lnTo>
                  <a:lnTo>
                    <a:pt x="25795" y="284301"/>
                  </a:lnTo>
                  <a:lnTo>
                    <a:pt x="6749" y="239167"/>
                  </a:lnTo>
                  <a:lnTo>
                    <a:pt x="0" y="18894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54890" y="2766745"/>
              <a:ext cx="1020444" cy="611505"/>
            </a:xfrm>
            <a:custGeom>
              <a:avLst/>
              <a:gdLst/>
              <a:ahLst/>
              <a:cxnLst/>
              <a:rect l="l" t="t" r="r" b="b"/>
              <a:pathLst>
                <a:path w="1020445" h="611504">
                  <a:moveTo>
                    <a:pt x="911675" y="569869"/>
                  </a:moveTo>
                  <a:lnTo>
                    <a:pt x="892340" y="602691"/>
                  </a:lnTo>
                  <a:lnTo>
                    <a:pt x="1019822" y="611466"/>
                  </a:lnTo>
                  <a:lnTo>
                    <a:pt x="999142" y="579539"/>
                  </a:lnTo>
                  <a:lnTo>
                    <a:pt x="928090" y="579539"/>
                  </a:lnTo>
                  <a:lnTo>
                    <a:pt x="911675" y="569869"/>
                  </a:lnTo>
                  <a:close/>
                </a:path>
                <a:path w="1020445" h="611504">
                  <a:moveTo>
                    <a:pt x="931016" y="537039"/>
                  </a:moveTo>
                  <a:lnTo>
                    <a:pt x="911675" y="569869"/>
                  </a:lnTo>
                  <a:lnTo>
                    <a:pt x="928090" y="579539"/>
                  </a:lnTo>
                  <a:lnTo>
                    <a:pt x="947432" y="546709"/>
                  </a:lnTo>
                  <a:lnTo>
                    <a:pt x="931016" y="537039"/>
                  </a:lnTo>
                  <a:close/>
                </a:path>
                <a:path w="1020445" h="611504">
                  <a:moveTo>
                    <a:pt x="950353" y="504215"/>
                  </a:moveTo>
                  <a:lnTo>
                    <a:pt x="931016" y="537039"/>
                  </a:lnTo>
                  <a:lnTo>
                    <a:pt x="947432" y="546709"/>
                  </a:lnTo>
                  <a:lnTo>
                    <a:pt x="928090" y="579539"/>
                  </a:lnTo>
                  <a:lnTo>
                    <a:pt x="999142" y="579539"/>
                  </a:lnTo>
                  <a:lnTo>
                    <a:pt x="950353" y="504215"/>
                  </a:lnTo>
                  <a:close/>
                </a:path>
                <a:path w="1020445" h="611504">
                  <a:moveTo>
                    <a:pt x="19342" y="0"/>
                  </a:moveTo>
                  <a:lnTo>
                    <a:pt x="0" y="32829"/>
                  </a:lnTo>
                  <a:lnTo>
                    <a:pt x="911675" y="569869"/>
                  </a:lnTo>
                  <a:lnTo>
                    <a:pt x="931016" y="537039"/>
                  </a:lnTo>
                  <a:lnTo>
                    <a:pt x="19342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76585" y="4305477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60" h="378460">
                  <a:moveTo>
                    <a:pt x="0" y="188940"/>
                  </a:moveTo>
                  <a:lnTo>
                    <a:pt x="6749" y="138712"/>
                  </a:lnTo>
                  <a:lnTo>
                    <a:pt x="25795" y="93578"/>
                  </a:lnTo>
                  <a:lnTo>
                    <a:pt x="55339" y="55339"/>
                  </a:lnTo>
                  <a:lnTo>
                    <a:pt x="93578" y="25795"/>
                  </a:lnTo>
                  <a:lnTo>
                    <a:pt x="138712" y="6749"/>
                  </a:lnTo>
                  <a:lnTo>
                    <a:pt x="188940" y="0"/>
                  </a:lnTo>
                  <a:lnTo>
                    <a:pt x="239167" y="6749"/>
                  </a:lnTo>
                  <a:lnTo>
                    <a:pt x="284301" y="25795"/>
                  </a:lnTo>
                  <a:lnTo>
                    <a:pt x="322540" y="55339"/>
                  </a:lnTo>
                  <a:lnTo>
                    <a:pt x="352083" y="93578"/>
                  </a:lnTo>
                  <a:lnTo>
                    <a:pt x="371130" y="138712"/>
                  </a:lnTo>
                  <a:lnTo>
                    <a:pt x="377879" y="188940"/>
                  </a:lnTo>
                  <a:lnTo>
                    <a:pt x="371130" y="239167"/>
                  </a:lnTo>
                  <a:lnTo>
                    <a:pt x="352083" y="284301"/>
                  </a:lnTo>
                  <a:lnTo>
                    <a:pt x="322540" y="322540"/>
                  </a:lnTo>
                  <a:lnTo>
                    <a:pt x="284301" y="352083"/>
                  </a:lnTo>
                  <a:lnTo>
                    <a:pt x="239167" y="371130"/>
                  </a:lnTo>
                  <a:lnTo>
                    <a:pt x="188940" y="377879"/>
                  </a:lnTo>
                  <a:lnTo>
                    <a:pt x="138712" y="371130"/>
                  </a:lnTo>
                  <a:lnTo>
                    <a:pt x="93578" y="352083"/>
                  </a:lnTo>
                  <a:lnTo>
                    <a:pt x="55339" y="322540"/>
                  </a:lnTo>
                  <a:lnTo>
                    <a:pt x="25795" y="284301"/>
                  </a:lnTo>
                  <a:lnTo>
                    <a:pt x="6749" y="239167"/>
                  </a:lnTo>
                  <a:lnTo>
                    <a:pt x="0" y="18894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65523" y="3742791"/>
              <a:ext cx="550545" cy="563245"/>
            </a:xfrm>
            <a:custGeom>
              <a:avLst/>
              <a:gdLst/>
              <a:ahLst/>
              <a:cxnLst/>
              <a:rect l="l" t="t" r="r" b="b"/>
              <a:pathLst>
                <a:path w="550545" h="563245">
                  <a:moveTo>
                    <a:pt x="38950" y="440982"/>
                  </a:moveTo>
                  <a:lnTo>
                    <a:pt x="0" y="562686"/>
                  </a:lnTo>
                  <a:lnTo>
                    <a:pt x="120738" y="520827"/>
                  </a:lnTo>
                  <a:lnTo>
                    <a:pt x="107430" y="507834"/>
                  </a:lnTo>
                  <a:lnTo>
                    <a:pt x="80175" y="507834"/>
                  </a:lnTo>
                  <a:lnTo>
                    <a:pt x="52908" y="481228"/>
                  </a:lnTo>
                  <a:lnTo>
                    <a:pt x="66215" y="467598"/>
                  </a:lnTo>
                  <a:lnTo>
                    <a:pt x="38950" y="440982"/>
                  </a:lnTo>
                  <a:close/>
                </a:path>
                <a:path w="550545" h="563245">
                  <a:moveTo>
                    <a:pt x="66215" y="467598"/>
                  </a:moveTo>
                  <a:lnTo>
                    <a:pt x="52908" y="481228"/>
                  </a:lnTo>
                  <a:lnTo>
                    <a:pt x="80175" y="507834"/>
                  </a:lnTo>
                  <a:lnTo>
                    <a:pt x="93475" y="494211"/>
                  </a:lnTo>
                  <a:lnTo>
                    <a:pt x="66215" y="467598"/>
                  </a:lnTo>
                  <a:close/>
                </a:path>
                <a:path w="550545" h="563245">
                  <a:moveTo>
                    <a:pt x="93475" y="494211"/>
                  </a:moveTo>
                  <a:lnTo>
                    <a:pt x="80175" y="507834"/>
                  </a:lnTo>
                  <a:lnTo>
                    <a:pt x="107430" y="507834"/>
                  </a:lnTo>
                  <a:lnTo>
                    <a:pt x="93475" y="494211"/>
                  </a:lnTo>
                  <a:close/>
                </a:path>
                <a:path w="550545" h="563245">
                  <a:moveTo>
                    <a:pt x="522732" y="0"/>
                  </a:moveTo>
                  <a:lnTo>
                    <a:pt x="66215" y="467598"/>
                  </a:lnTo>
                  <a:lnTo>
                    <a:pt x="93475" y="494211"/>
                  </a:lnTo>
                  <a:lnTo>
                    <a:pt x="549998" y="26606"/>
                  </a:lnTo>
                  <a:lnTo>
                    <a:pt x="522732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86692" y="4305477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60" h="378460">
                  <a:moveTo>
                    <a:pt x="0" y="188940"/>
                  </a:moveTo>
                  <a:lnTo>
                    <a:pt x="6749" y="138712"/>
                  </a:lnTo>
                  <a:lnTo>
                    <a:pt x="25795" y="93578"/>
                  </a:lnTo>
                  <a:lnTo>
                    <a:pt x="55339" y="55339"/>
                  </a:lnTo>
                  <a:lnTo>
                    <a:pt x="93578" y="25795"/>
                  </a:lnTo>
                  <a:lnTo>
                    <a:pt x="138712" y="6749"/>
                  </a:lnTo>
                  <a:lnTo>
                    <a:pt x="188940" y="0"/>
                  </a:lnTo>
                  <a:lnTo>
                    <a:pt x="239167" y="6749"/>
                  </a:lnTo>
                  <a:lnTo>
                    <a:pt x="284301" y="25795"/>
                  </a:lnTo>
                  <a:lnTo>
                    <a:pt x="322540" y="55339"/>
                  </a:lnTo>
                  <a:lnTo>
                    <a:pt x="352083" y="93578"/>
                  </a:lnTo>
                  <a:lnTo>
                    <a:pt x="371130" y="138712"/>
                  </a:lnTo>
                  <a:lnTo>
                    <a:pt x="377879" y="188940"/>
                  </a:lnTo>
                  <a:lnTo>
                    <a:pt x="371130" y="239167"/>
                  </a:lnTo>
                  <a:lnTo>
                    <a:pt x="352083" y="284301"/>
                  </a:lnTo>
                  <a:lnTo>
                    <a:pt x="322540" y="322540"/>
                  </a:lnTo>
                  <a:lnTo>
                    <a:pt x="284301" y="352083"/>
                  </a:lnTo>
                  <a:lnTo>
                    <a:pt x="239167" y="371130"/>
                  </a:lnTo>
                  <a:lnTo>
                    <a:pt x="188940" y="377879"/>
                  </a:lnTo>
                  <a:lnTo>
                    <a:pt x="138712" y="371130"/>
                  </a:lnTo>
                  <a:lnTo>
                    <a:pt x="93578" y="352083"/>
                  </a:lnTo>
                  <a:lnTo>
                    <a:pt x="55339" y="322540"/>
                  </a:lnTo>
                  <a:lnTo>
                    <a:pt x="25795" y="284301"/>
                  </a:lnTo>
                  <a:lnTo>
                    <a:pt x="6749" y="239167"/>
                  </a:lnTo>
                  <a:lnTo>
                    <a:pt x="0" y="18894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87468" y="3743655"/>
              <a:ext cx="488315" cy="561975"/>
            </a:xfrm>
            <a:custGeom>
              <a:avLst/>
              <a:gdLst/>
              <a:ahLst/>
              <a:cxnLst/>
              <a:rect l="l" t="t" r="r" b="b"/>
              <a:pathLst>
                <a:path w="488314" h="561975">
                  <a:moveTo>
                    <a:pt x="399098" y="487700"/>
                  </a:moveTo>
                  <a:lnTo>
                    <a:pt x="370243" y="512584"/>
                  </a:lnTo>
                  <a:lnTo>
                    <a:pt x="488175" y="561822"/>
                  </a:lnTo>
                  <a:lnTo>
                    <a:pt x="473061" y="502132"/>
                  </a:lnTo>
                  <a:lnTo>
                    <a:pt x="411543" y="502132"/>
                  </a:lnTo>
                  <a:lnTo>
                    <a:pt x="399098" y="487700"/>
                  </a:lnTo>
                  <a:close/>
                </a:path>
                <a:path w="488314" h="561975">
                  <a:moveTo>
                    <a:pt x="427950" y="462818"/>
                  </a:moveTo>
                  <a:lnTo>
                    <a:pt x="399098" y="487700"/>
                  </a:lnTo>
                  <a:lnTo>
                    <a:pt x="411543" y="502132"/>
                  </a:lnTo>
                  <a:lnTo>
                    <a:pt x="440397" y="477253"/>
                  </a:lnTo>
                  <a:lnTo>
                    <a:pt x="427950" y="462818"/>
                  </a:lnTo>
                  <a:close/>
                </a:path>
                <a:path w="488314" h="561975">
                  <a:moveTo>
                    <a:pt x="456806" y="437934"/>
                  </a:moveTo>
                  <a:lnTo>
                    <a:pt x="427950" y="462818"/>
                  </a:lnTo>
                  <a:lnTo>
                    <a:pt x="440397" y="477253"/>
                  </a:lnTo>
                  <a:lnTo>
                    <a:pt x="411543" y="502132"/>
                  </a:lnTo>
                  <a:lnTo>
                    <a:pt x="473061" y="502132"/>
                  </a:lnTo>
                  <a:lnTo>
                    <a:pt x="456806" y="437934"/>
                  </a:lnTo>
                  <a:close/>
                </a:path>
                <a:path w="488314" h="561975">
                  <a:moveTo>
                    <a:pt x="28854" y="0"/>
                  </a:moveTo>
                  <a:lnTo>
                    <a:pt x="0" y="24879"/>
                  </a:lnTo>
                  <a:lnTo>
                    <a:pt x="399098" y="487700"/>
                  </a:lnTo>
                  <a:lnTo>
                    <a:pt x="427950" y="462818"/>
                  </a:lnTo>
                  <a:lnTo>
                    <a:pt x="28854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96812" y="4305477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60" h="378460">
                  <a:moveTo>
                    <a:pt x="0" y="188940"/>
                  </a:moveTo>
                  <a:lnTo>
                    <a:pt x="6749" y="138712"/>
                  </a:lnTo>
                  <a:lnTo>
                    <a:pt x="25795" y="93578"/>
                  </a:lnTo>
                  <a:lnTo>
                    <a:pt x="55339" y="55339"/>
                  </a:lnTo>
                  <a:lnTo>
                    <a:pt x="93578" y="25795"/>
                  </a:lnTo>
                  <a:lnTo>
                    <a:pt x="138712" y="6749"/>
                  </a:lnTo>
                  <a:lnTo>
                    <a:pt x="188940" y="0"/>
                  </a:lnTo>
                  <a:lnTo>
                    <a:pt x="239167" y="6749"/>
                  </a:lnTo>
                  <a:lnTo>
                    <a:pt x="284301" y="25795"/>
                  </a:lnTo>
                  <a:lnTo>
                    <a:pt x="322540" y="55339"/>
                  </a:lnTo>
                  <a:lnTo>
                    <a:pt x="352083" y="93578"/>
                  </a:lnTo>
                  <a:lnTo>
                    <a:pt x="371130" y="138712"/>
                  </a:lnTo>
                  <a:lnTo>
                    <a:pt x="377879" y="188940"/>
                  </a:lnTo>
                  <a:lnTo>
                    <a:pt x="371130" y="239167"/>
                  </a:lnTo>
                  <a:lnTo>
                    <a:pt x="352083" y="284301"/>
                  </a:lnTo>
                  <a:lnTo>
                    <a:pt x="322540" y="322540"/>
                  </a:lnTo>
                  <a:lnTo>
                    <a:pt x="284301" y="352083"/>
                  </a:lnTo>
                  <a:lnTo>
                    <a:pt x="239167" y="371130"/>
                  </a:lnTo>
                  <a:lnTo>
                    <a:pt x="188940" y="377879"/>
                  </a:lnTo>
                  <a:lnTo>
                    <a:pt x="138712" y="371130"/>
                  </a:lnTo>
                  <a:lnTo>
                    <a:pt x="93578" y="352083"/>
                  </a:lnTo>
                  <a:lnTo>
                    <a:pt x="55339" y="322540"/>
                  </a:lnTo>
                  <a:lnTo>
                    <a:pt x="25795" y="284301"/>
                  </a:lnTo>
                  <a:lnTo>
                    <a:pt x="6749" y="239167"/>
                  </a:lnTo>
                  <a:lnTo>
                    <a:pt x="0" y="18894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85750" y="3743426"/>
              <a:ext cx="503555" cy="562610"/>
            </a:xfrm>
            <a:custGeom>
              <a:avLst/>
              <a:gdLst/>
              <a:ahLst/>
              <a:cxnLst/>
              <a:rect l="l" t="t" r="r" b="b"/>
              <a:pathLst>
                <a:path w="503554" h="562610">
                  <a:moveTo>
                    <a:pt x="33299" y="438670"/>
                  </a:moveTo>
                  <a:lnTo>
                    <a:pt x="0" y="562051"/>
                  </a:lnTo>
                  <a:lnTo>
                    <a:pt x="118681" y="514667"/>
                  </a:lnTo>
                  <a:lnTo>
                    <a:pt x="106210" y="503567"/>
                  </a:lnTo>
                  <a:lnTo>
                    <a:pt x="77558" y="503567"/>
                  </a:lnTo>
                  <a:lnTo>
                    <a:pt x="49098" y="478231"/>
                  </a:lnTo>
                  <a:lnTo>
                    <a:pt x="61761" y="464003"/>
                  </a:lnTo>
                  <a:lnTo>
                    <a:pt x="33299" y="438670"/>
                  </a:lnTo>
                  <a:close/>
                </a:path>
                <a:path w="503554" h="562610">
                  <a:moveTo>
                    <a:pt x="61761" y="464003"/>
                  </a:moveTo>
                  <a:lnTo>
                    <a:pt x="49098" y="478231"/>
                  </a:lnTo>
                  <a:lnTo>
                    <a:pt x="77558" y="503567"/>
                  </a:lnTo>
                  <a:lnTo>
                    <a:pt x="90223" y="489337"/>
                  </a:lnTo>
                  <a:lnTo>
                    <a:pt x="61761" y="464003"/>
                  </a:lnTo>
                  <a:close/>
                </a:path>
                <a:path w="503554" h="562610">
                  <a:moveTo>
                    <a:pt x="90223" y="489337"/>
                  </a:moveTo>
                  <a:lnTo>
                    <a:pt x="77558" y="503567"/>
                  </a:lnTo>
                  <a:lnTo>
                    <a:pt x="106210" y="503567"/>
                  </a:lnTo>
                  <a:lnTo>
                    <a:pt x="90223" y="489337"/>
                  </a:lnTo>
                  <a:close/>
                </a:path>
                <a:path w="503554" h="562610">
                  <a:moveTo>
                    <a:pt x="474738" y="0"/>
                  </a:moveTo>
                  <a:lnTo>
                    <a:pt x="61761" y="464003"/>
                  </a:lnTo>
                  <a:lnTo>
                    <a:pt x="90223" y="489337"/>
                  </a:lnTo>
                  <a:lnTo>
                    <a:pt x="503199" y="25336"/>
                  </a:lnTo>
                  <a:lnTo>
                    <a:pt x="474738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06919" y="4305477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60">
                  <a:moveTo>
                    <a:pt x="0" y="188940"/>
                  </a:moveTo>
                  <a:lnTo>
                    <a:pt x="6749" y="138712"/>
                  </a:lnTo>
                  <a:lnTo>
                    <a:pt x="25795" y="93578"/>
                  </a:lnTo>
                  <a:lnTo>
                    <a:pt x="55339" y="55339"/>
                  </a:lnTo>
                  <a:lnTo>
                    <a:pt x="93578" y="25795"/>
                  </a:lnTo>
                  <a:lnTo>
                    <a:pt x="138712" y="6749"/>
                  </a:lnTo>
                  <a:lnTo>
                    <a:pt x="188940" y="0"/>
                  </a:lnTo>
                  <a:lnTo>
                    <a:pt x="239167" y="6749"/>
                  </a:lnTo>
                  <a:lnTo>
                    <a:pt x="284301" y="25795"/>
                  </a:lnTo>
                  <a:lnTo>
                    <a:pt x="322540" y="55339"/>
                  </a:lnTo>
                  <a:lnTo>
                    <a:pt x="352083" y="93578"/>
                  </a:lnTo>
                  <a:lnTo>
                    <a:pt x="371130" y="138712"/>
                  </a:lnTo>
                  <a:lnTo>
                    <a:pt x="377879" y="188940"/>
                  </a:lnTo>
                  <a:lnTo>
                    <a:pt x="371130" y="239167"/>
                  </a:lnTo>
                  <a:lnTo>
                    <a:pt x="352083" y="284301"/>
                  </a:lnTo>
                  <a:lnTo>
                    <a:pt x="322540" y="322540"/>
                  </a:lnTo>
                  <a:lnTo>
                    <a:pt x="284301" y="352083"/>
                  </a:lnTo>
                  <a:lnTo>
                    <a:pt x="239167" y="371130"/>
                  </a:lnTo>
                  <a:lnTo>
                    <a:pt x="188940" y="377879"/>
                  </a:lnTo>
                  <a:lnTo>
                    <a:pt x="138712" y="371130"/>
                  </a:lnTo>
                  <a:lnTo>
                    <a:pt x="93578" y="352083"/>
                  </a:lnTo>
                  <a:lnTo>
                    <a:pt x="55339" y="322540"/>
                  </a:lnTo>
                  <a:lnTo>
                    <a:pt x="25795" y="284301"/>
                  </a:lnTo>
                  <a:lnTo>
                    <a:pt x="6749" y="239167"/>
                  </a:lnTo>
                  <a:lnTo>
                    <a:pt x="0" y="18894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60895" y="3742982"/>
              <a:ext cx="535305" cy="562610"/>
            </a:xfrm>
            <a:custGeom>
              <a:avLst/>
              <a:gdLst/>
              <a:ahLst/>
              <a:cxnLst/>
              <a:rect l="l" t="t" r="r" b="b"/>
              <a:pathLst>
                <a:path w="535304" h="562610">
                  <a:moveTo>
                    <a:pt x="442486" y="492677"/>
                  </a:moveTo>
                  <a:lnTo>
                    <a:pt x="414845" y="518896"/>
                  </a:lnTo>
                  <a:lnTo>
                    <a:pt x="534974" y="562495"/>
                  </a:lnTo>
                  <a:lnTo>
                    <a:pt x="517931" y="506501"/>
                  </a:lnTo>
                  <a:lnTo>
                    <a:pt x="455599" y="506501"/>
                  </a:lnTo>
                  <a:lnTo>
                    <a:pt x="442486" y="492677"/>
                  </a:lnTo>
                  <a:close/>
                </a:path>
                <a:path w="535304" h="562610">
                  <a:moveTo>
                    <a:pt x="470128" y="466458"/>
                  </a:moveTo>
                  <a:lnTo>
                    <a:pt x="442486" y="492677"/>
                  </a:lnTo>
                  <a:lnTo>
                    <a:pt x="455599" y="506501"/>
                  </a:lnTo>
                  <a:lnTo>
                    <a:pt x="483234" y="480275"/>
                  </a:lnTo>
                  <a:lnTo>
                    <a:pt x="470128" y="466458"/>
                  </a:lnTo>
                  <a:close/>
                </a:path>
                <a:path w="535304" h="562610">
                  <a:moveTo>
                    <a:pt x="497763" y="440245"/>
                  </a:moveTo>
                  <a:lnTo>
                    <a:pt x="470128" y="466458"/>
                  </a:lnTo>
                  <a:lnTo>
                    <a:pt x="483234" y="480275"/>
                  </a:lnTo>
                  <a:lnTo>
                    <a:pt x="455599" y="506501"/>
                  </a:lnTo>
                  <a:lnTo>
                    <a:pt x="517931" y="506501"/>
                  </a:lnTo>
                  <a:lnTo>
                    <a:pt x="497763" y="440245"/>
                  </a:lnTo>
                  <a:close/>
                </a:path>
                <a:path w="535304" h="562610">
                  <a:moveTo>
                    <a:pt x="27647" y="0"/>
                  </a:moveTo>
                  <a:lnTo>
                    <a:pt x="0" y="26225"/>
                  </a:lnTo>
                  <a:lnTo>
                    <a:pt x="442486" y="492677"/>
                  </a:lnTo>
                  <a:lnTo>
                    <a:pt x="470128" y="466458"/>
                  </a:lnTo>
                  <a:lnTo>
                    <a:pt x="27647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1070810" y="2990850"/>
            <a:ext cx="114300" cy="2278380"/>
          </a:xfrm>
          <a:custGeom>
            <a:avLst/>
            <a:gdLst/>
            <a:ahLst/>
            <a:cxnLst/>
            <a:rect l="l" t="t" r="r" b="b"/>
            <a:pathLst>
              <a:path w="114300" h="2278379">
                <a:moveTo>
                  <a:pt x="38100" y="2163775"/>
                </a:moveTo>
                <a:lnTo>
                  <a:pt x="0" y="2163775"/>
                </a:lnTo>
                <a:lnTo>
                  <a:pt x="57150" y="2278075"/>
                </a:lnTo>
                <a:lnTo>
                  <a:pt x="104775" y="2182825"/>
                </a:lnTo>
                <a:lnTo>
                  <a:pt x="38100" y="2182825"/>
                </a:lnTo>
                <a:lnTo>
                  <a:pt x="38100" y="2163775"/>
                </a:lnTo>
                <a:close/>
              </a:path>
              <a:path w="114300" h="2278379">
                <a:moveTo>
                  <a:pt x="76200" y="0"/>
                </a:moveTo>
                <a:lnTo>
                  <a:pt x="38100" y="0"/>
                </a:lnTo>
                <a:lnTo>
                  <a:pt x="38100" y="2182825"/>
                </a:lnTo>
                <a:lnTo>
                  <a:pt x="76200" y="2182825"/>
                </a:lnTo>
                <a:lnTo>
                  <a:pt x="76200" y="0"/>
                </a:lnTo>
                <a:close/>
              </a:path>
              <a:path w="114300" h="2278379">
                <a:moveTo>
                  <a:pt x="114300" y="2163775"/>
                </a:moveTo>
                <a:lnTo>
                  <a:pt x="76200" y="2163775"/>
                </a:lnTo>
                <a:lnTo>
                  <a:pt x="76200" y="2182825"/>
                </a:lnTo>
                <a:lnTo>
                  <a:pt x="104775" y="2182825"/>
                </a:lnTo>
                <a:lnTo>
                  <a:pt x="114300" y="2163775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1145202" y="6428920"/>
            <a:ext cx="15367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dirty="0">
                <a:solidFill>
                  <a:srgbClr val="898989"/>
                </a:solidFill>
                <a:latin typeface="Carlito"/>
                <a:cs typeface="Carlito"/>
              </a:rPr>
              <a:t>5</a:t>
            </a:fld>
            <a:endParaRPr sz="1200">
              <a:latin typeface="Carlito"/>
              <a:cs typeface="Carlito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31ACB19-997B-4A1E-BB00-32F63E9AF10B}"/>
              </a:ext>
            </a:extLst>
          </p:cNvPr>
          <p:cNvSpPr txBox="1"/>
          <p:nvPr/>
        </p:nvSpPr>
        <p:spPr>
          <a:xfrm>
            <a:off x="1048466" y="1826019"/>
            <a:ext cx="16417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spc="-5" dirty="0">
                <a:latin typeface="Times New Roman"/>
                <a:cs typeface="Times New Roman"/>
              </a:rPr>
              <a:t>Concept: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EC2A34-1D53-40B2-A589-F480A3461667}"/>
              </a:ext>
            </a:extLst>
          </p:cNvPr>
          <p:cNvSpPr txBox="1"/>
          <p:nvPr/>
        </p:nvSpPr>
        <p:spPr>
          <a:xfrm>
            <a:off x="7503490" y="1826018"/>
            <a:ext cx="16417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spc="-5" dirty="0">
                <a:latin typeface="Times New Roman"/>
                <a:cs typeface="Times New Roman"/>
              </a:rPr>
              <a:t>Example:</a:t>
            </a:r>
            <a:endParaRPr lang="zh-CN" altLang="en-US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66DF8C31-888A-4018-B93F-6E025E1D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3490" y="2610802"/>
            <a:ext cx="3514725" cy="303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67FA6E43-D5C8-45D0-B01C-3C27B40F2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3490" y="2610802"/>
            <a:ext cx="3629025" cy="320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5466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5" y="321563"/>
            <a:ext cx="33953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dirty="0">
                <a:uFill>
                  <a:solidFill>
                    <a:srgbClr val="D0CECE"/>
                  </a:solidFill>
                </a:uFill>
              </a:rPr>
              <a:t>Hill</a:t>
            </a:r>
            <a:r>
              <a:rPr sz="4400" u="heavy" spc="-65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sz="4400" u="heavy" spc="-5" dirty="0">
                <a:uFill>
                  <a:solidFill>
                    <a:srgbClr val="D0CECE"/>
                  </a:solidFill>
                </a:uFill>
              </a:rPr>
              <a:t>Climbing</a:t>
            </a:r>
            <a:endParaRPr sz="4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34747" y="2314578"/>
            <a:ext cx="2804160" cy="2804160"/>
            <a:chOff x="4693920" y="2225039"/>
            <a:chExt cx="2804160" cy="280416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93920" y="2225039"/>
              <a:ext cx="2804160" cy="28041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695657" y="2226967"/>
              <a:ext cx="228600" cy="474980"/>
            </a:xfrm>
            <a:custGeom>
              <a:avLst/>
              <a:gdLst/>
              <a:ahLst/>
              <a:cxnLst/>
              <a:rect l="l" t="t" r="r" b="b"/>
              <a:pathLst>
                <a:path w="228600" h="474980">
                  <a:moveTo>
                    <a:pt x="76200" y="246381"/>
                  </a:moveTo>
                  <a:lnTo>
                    <a:pt x="0" y="246381"/>
                  </a:lnTo>
                  <a:lnTo>
                    <a:pt x="114301" y="474981"/>
                  </a:lnTo>
                  <a:lnTo>
                    <a:pt x="209550" y="284481"/>
                  </a:lnTo>
                  <a:lnTo>
                    <a:pt x="76200" y="284481"/>
                  </a:lnTo>
                  <a:lnTo>
                    <a:pt x="76200" y="246381"/>
                  </a:lnTo>
                  <a:close/>
                </a:path>
                <a:path w="228600" h="474980">
                  <a:moveTo>
                    <a:pt x="152400" y="0"/>
                  </a:moveTo>
                  <a:lnTo>
                    <a:pt x="76200" y="0"/>
                  </a:lnTo>
                  <a:lnTo>
                    <a:pt x="76200" y="284481"/>
                  </a:lnTo>
                  <a:lnTo>
                    <a:pt x="152400" y="284481"/>
                  </a:lnTo>
                  <a:lnTo>
                    <a:pt x="152400" y="0"/>
                  </a:lnTo>
                  <a:close/>
                </a:path>
                <a:path w="228600" h="474980">
                  <a:moveTo>
                    <a:pt x="228600" y="246381"/>
                  </a:moveTo>
                  <a:lnTo>
                    <a:pt x="152400" y="246381"/>
                  </a:lnTo>
                  <a:lnTo>
                    <a:pt x="152400" y="284481"/>
                  </a:lnTo>
                  <a:lnTo>
                    <a:pt x="209550" y="284481"/>
                  </a:lnTo>
                  <a:lnTo>
                    <a:pt x="228600" y="24638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145202" y="6428920"/>
            <a:ext cx="16637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spc="-60" dirty="0">
                <a:solidFill>
                  <a:srgbClr val="898989"/>
                </a:solidFill>
                <a:latin typeface="Arial"/>
                <a:cs typeface="Arial"/>
              </a:rPr>
              <a:t>6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D2C0A26-9DB6-4DDE-A79A-B48DC0481E7B}"/>
              </a:ext>
            </a:extLst>
          </p:cNvPr>
          <p:cNvSpPr txBox="1"/>
          <p:nvPr/>
        </p:nvSpPr>
        <p:spPr>
          <a:xfrm>
            <a:off x="265934" y="1239057"/>
            <a:ext cx="116455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Hill climbing is a heuristic search algorith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846E07A-A093-45BF-8B44-1A04FC4BA5FA}"/>
              </a:ext>
            </a:extLst>
          </p:cNvPr>
          <p:cNvSpPr txBox="1"/>
          <p:nvPr/>
        </p:nvSpPr>
        <p:spPr>
          <a:xfrm>
            <a:off x="3557710" y="2063005"/>
            <a:ext cx="8153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Pseudo</a:t>
            </a: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F734FE0-1E77-47C1-9100-4A2C0616884B}"/>
                  </a:ext>
                </a:extLst>
              </p:cNvPr>
              <p:cNvSpPr txBox="1"/>
              <p:nvPr/>
            </p:nvSpPr>
            <p:spPr>
              <a:xfrm>
                <a:off x="5334000" y="2748995"/>
                <a:ext cx="6458505" cy="3785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4D4D4D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4D4D4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𝐼𝑡𝑒𝑟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4D4D4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Problem Function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RandomSolution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(Problem);</a:t>
                </a:r>
              </a:p>
              <a:p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𝑖𝑡𝑒𝑟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𝐼𝑡𝑒𝑟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Candidate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RandomNeighbour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(Current);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(Current)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(Candidate) 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Current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Candidate;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</a:t>
                </a:r>
              </a:p>
              <a:p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</a:t>
                </a:r>
              </a:p>
              <a:p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return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Current; 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F734FE0-1E77-47C1-9100-4A2C06168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2748995"/>
                <a:ext cx="6458505" cy="3785652"/>
              </a:xfrm>
              <a:prstGeom prst="rect">
                <a:avLst/>
              </a:prstGeom>
              <a:blipFill>
                <a:blip r:embed="rId4"/>
                <a:stretch>
                  <a:fillRect l="-1572" t="-1338" r="-1572" b="-2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70207" y="4763601"/>
                <a:ext cx="51215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Maximize a problem function </a:t>
                </a:r>
                <a14:m>
                  <m:oMath xmlns:m="http://schemas.openxmlformats.org/officeDocument/2006/math">
                    <m:r>
                      <a:rPr lang="en-US" altLang="zh-CN" sz="2800" dirty="0">
                        <a:latin typeface="Cambria Math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7" y="4763601"/>
                <a:ext cx="5121530" cy="523220"/>
              </a:xfrm>
              <a:prstGeom prst="rect">
                <a:avLst/>
              </a:prstGeom>
              <a:blipFill>
                <a:blip r:embed="rId5"/>
                <a:stretch>
                  <a:fillRect l="-2500" t="-11628" r="-1310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546802A-50B6-A8BD-B441-C3EC7B3BFC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310" r="12391" b="26166"/>
          <a:stretch/>
        </p:blipFill>
        <p:spPr>
          <a:xfrm>
            <a:off x="4134163" y="1655153"/>
            <a:ext cx="7530502" cy="46584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5" y="321563"/>
            <a:ext cx="33953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dirty="0">
                <a:uFill>
                  <a:solidFill>
                    <a:srgbClr val="D0CECE"/>
                  </a:solidFill>
                </a:uFill>
              </a:rPr>
              <a:t>Hill</a:t>
            </a:r>
            <a:r>
              <a:rPr sz="4400" u="heavy" spc="-65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sz="4400" u="heavy" spc="-5" dirty="0">
                <a:uFill>
                  <a:solidFill>
                    <a:srgbClr val="D0CECE"/>
                  </a:solidFill>
                </a:uFill>
              </a:rPr>
              <a:t>Climbing</a:t>
            </a:r>
            <a:endParaRPr sz="4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00720" y="2795383"/>
            <a:ext cx="2804160" cy="2804160"/>
            <a:chOff x="4693920" y="2225039"/>
            <a:chExt cx="2804160" cy="280416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93920" y="2225039"/>
              <a:ext cx="2804160" cy="28041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695657" y="2226967"/>
              <a:ext cx="228600" cy="474980"/>
            </a:xfrm>
            <a:custGeom>
              <a:avLst/>
              <a:gdLst/>
              <a:ahLst/>
              <a:cxnLst/>
              <a:rect l="l" t="t" r="r" b="b"/>
              <a:pathLst>
                <a:path w="228600" h="474980">
                  <a:moveTo>
                    <a:pt x="76200" y="246381"/>
                  </a:moveTo>
                  <a:lnTo>
                    <a:pt x="0" y="246381"/>
                  </a:lnTo>
                  <a:lnTo>
                    <a:pt x="114301" y="474981"/>
                  </a:lnTo>
                  <a:lnTo>
                    <a:pt x="209550" y="284481"/>
                  </a:lnTo>
                  <a:lnTo>
                    <a:pt x="76200" y="284481"/>
                  </a:lnTo>
                  <a:lnTo>
                    <a:pt x="76200" y="246381"/>
                  </a:lnTo>
                  <a:close/>
                </a:path>
                <a:path w="228600" h="474980">
                  <a:moveTo>
                    <a:pt x="152400" y="0"/>
                  </a:moveTo>
                  <a:lnTo>
                    <a:pt x="76200" y="0"/>
                  </a:lnTo>
                  <a:lnTo>
                    <a:pt x="76200" y="284481"/>
                  </a:lnTo>
                  <a:lnTo>
                    <a:pt x="152400" y="284481"/>
                  </a:lnTo>
                  <a:lnTo>
                    <a:pt x="152400" y="0"/>
                  </a:lnTo>
                  <a:close/>
                </a:path>
                <a:path w="228600" h="474980">
                  <a:moveTo>
                    <a:pt x="228600" y="246381"/>
                  </a:moveTo>
                  <a:lnTo>
                    <a:pt x="152400" y="246381"/>
                  </a:lnTo>
                  <a:lnTo>
                    <a:pt x="152400" y="284481"/>
                  </a:lnTo>
                  <a:lnTo>
                    <a:pt x="209550" y="284481"/>
                  </a:lnTo>
                  <a:lnTo>
                    <a:pt x="228600" y="24638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145202" y="6428920"/>
            <a:ext cx="16637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spc="-60" dirty="0">
                <a:solidFill>
                  <a:srgbClr val="898989"/>
                </a:solidFill>
                <a:latin typeface="Arial"/>
                <a:cs typeface="Arial"/>
              </a:rPr>
              <a:t>7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D2C0A26-9DB6-4DDE-A79A-B48DC0481E7B}"/>
              </a:ext>
            </a:extLst>
          </p:cNvPr>
          <p:cNvSpPr txBox="1"/>
          <p:nvPr/>
        </p:nvSpPr>
        <p:spPr>
          <a:xfrm>
            <a:off x="142875" y="1147920"/>
            <a:ext cx="1215466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Hill climbing algorithm goes uphill along the steepest possible path until can go no further up, which may return a state that is a local maximum.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437" y="5137878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Maximize the objective function</a:t>
            </a:r>
          </a:p>
        </p:txBody>
      </p:sp>
    </p:spTree>
    <p:extLst>
      <p:ext uri="{BB962C8B-B14F-4D97-AF65-F5344CB8AC3E}">
        <p14:creationId xmlns:p14="http://schemas.microsoft.com/office/powerpoint/2010/main" val="1458961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5" y="321563"/>
            <a:ext cx="33953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dirty="0">
                <a:uFill>
                  <a:solidFill>
                    <a:srgbClr val="D0CECE"/>
                  </a:solidFill>
                </a:uFill>
              </a:rPr>
              <a:t>Hill</a:t>
            </a:r>
            <a:r>
              <a:rPr sz="4400" u="heavy" spc="-65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sz="4400" u="heavy" spc="-5" dirty="0">
                <a:uFill>
                  <a:solidFill>
                    <a:srgbClr val="D0CECE"/>
                  </a:solidFill>
                </a:uFill>
              </a:rPr>
              <a:t>Climbing</a:t>
            </a:r>
            <a:endParaRPr sz="4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39155" y="2209800"/>
            <a:ext cx="2804160" cy="2804160"/>
            <a:chOff x="4693920" y="2225039"/>
            <a:chExt cx="2804160" cy="280416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93920" y="2225039"/>
              <a:ext cx="2804160" cy="28041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621933" y="2844484"/>
              <a:ext cx="228600" cy="474980"/>
            </a:xfrm>
            <a:custGeom>
              <a:avLst/>
              <a:gdLst/>
              <a:ahLst/>
              <a:cxnLst/>
              <a:rect l="l" t="t" r="r" b="b"/>
              <a:pathLst>
                <a:path w="228600" h="474979">
                  <a:moveTo>
                    <a:pt x="76200" y="246381"/>
                  </a:moveTo>
                  <a:lnTo>
                    <a:pt x="0" y="246381"/>
                  </a:lnTo>
                  <a:lnTo>
                    <a:pt x="114300" y="474981"/>
                  </a:lnTo>
                  <a:lnTo>
                    <a:pt x="209550" y="284481"/>
                  </a:lnTo>
                  <a:lnTo>
                    <a:pt x="76200" y="284481"/>
                  </a:lnTo>
                  <a:lnTo>
                    <a:pt x="76200" y="246381"/>
                  </a:lnTo>
                  <a:close/>
                </a:path>
                <a:path w="228600" h="474979">
                  <a:moveTo>
                    <a:pt x="152400" y="0"/>
                  </a:moveTo>
                  <a:lnTo>
                    <a:pt x="76200" y="0"/>
                  </a:lnTo>
                  <a:lnTo>
                    <a:pt x="76200" y="284481"/>
                  </a:lnTo>
                  <a:lnTo>
                    <a:pt x="152400" y="284481"/>
                  </a:lnTo>
                  <a:lnTo>
                    <a:pt x="152400" y="0"/>
                  </a:lnTo>
                  <a:close/>
                </a:path>
                <a:path w="228600" h="474979">
                  <a:moveTo>
                    <a:pt x="228600" y="246381"/>
                  </a:moveTo>
                  <a:lnTo>
                    <a:pt x="152400" y="246381"/>
                  </a:lnTo>
                  <a:lnTo>
                    <a:pt x="152400" y="284481"/>
                  </a:lnTo>
                  <a:lnTo>
                    <a:pt x="209550" y="284481"/>
                  </a:lnTo>
                  <a:lnTo>
                    <a:pt x="228600" y="24638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145202" y="6428920"/>
            <a:ext cx="16637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spc="-60" dirty="0">
                <a:solidFill>
                  <a:srgbClr val="898989"/>
                </a:solidFill>
                <a:latin typeface="Arial"/>
                <a:cs typeface="Arial"/>
              </a:rPr>
              <a:t>8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034CCAF-AA8D-456B-9715-A814C16D8E70}"/>
              </a:ext>
            </a:extLst>
          </p:cNvPr>
          <p:cNvSpPr txBox="1"/>
          <p:nvPr/>
        </p:nvSpPr>
        <p:spPr>
          <a:xfrm>
            <a:off x="3534422" y="1236969"/>
            <a:ext cx="838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8A1009-00BC-4A51-BD7E-6CC0B049B798}"/>
              </a:ext>
            </a:extLst>
          </p:cNvPr>
          <p:cNvSpPr txBox="1"/>
          <p:nvPr/>
        </p:nvSpPr>
        <p:spPr>
          <a:xfrm>
            <a:off x="3514818" y="1768651"/>
            <a:ext cx="8171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traversal and achieve the purpose of improving efficiency.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0675A7E-431D-455A-B972-6F9C07387988}"/>
              </a:ext>
            </a:extLst>
          </p:cNvPr>
          <p:cNvSpPr txBox="1"/>
          <p:nvPr/>
        </p:nvSpPr>
        <p:spPr>
          <a:xfrm>
            <a:off x="3505200" y="2270151"/>
            <a:ext cx="1295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 1: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EFDB325-84C8-4D96-A719-37A647F1AC77}"/>
              </a:ext>
            </a:extLst>
          </p:cNvPr>
          <p:cNvSpPr txBox="1"/>
          <p:nvPr/>
        </p:nvSpPr>
        <p:spPr>
          <a:xfrm>
            <a:off x="3531094" y="2757260"/>
            <a:ext cx="81714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Hill climbing will not necessarily find the global maximum, but may instead converge on a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maximum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089C008F-15D6-4451-9908-7359EAD29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3913037"/>
            <a:ext cx="45339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435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5" y="321563"/>
            <a:ext cx="33953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dirty="0">
                <a:uFill>
                  <a:solidFill>
                    <a:srgbClr val="D0CECE"/>
                  </a:solidFill>
                </a:uFill>
              </a:rPr>
              <a:t>Hill</a:t>
            </a:r>
            <a:r>
              <a:rPr sz="4400" u="heavy" spc="-65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sz="4400" u="heavy" spc="-5" dirty="0">
                <a:uFill>
                  <a:solidFill>
                    <a:srgbClr val="D0CECE"/>
                  </a:solidFill>
                </a:uFill>
              </a:rPr>
              <a:t>Climbing</a:t>
            </a:r>
            <a:endParaRPr sz="4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39155" y="2209800"/>
            <a:ext cx="2804160" cy="2804160"/>
            <a:chOff x="4693920" y="2225039"/>
            <a:chExt cx="2804160" cy="280416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93920" y="2225039"/>
              <a:ext cx="2804160" cy="28041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621933" y="2844484"/>
              <a:ext cx="228600" cy="474980"/>
            </a:xfrm>
            <a:custGeom>
              <a:avLst/>
              <a:gdLst/>
              <a:ahLst/>
              <a:cxnLst/>
              <a:rect l="l" t="t" r="r" b="b"/>
              <a:pathLst>
                <a:path w="228600" h="474979">
                  <a:moveTo>
                    <a:pt x="76200" y="246381"/>
                  </a:moveTo>
                  <a:lnTo>
                    <a:pt x="0" y="246381"/>
                  </a:lnTo>
                  <a:lnTo>
                    <a:pt x="114300" y="474981"/>
                  </a:lnTo>
                  <a:lnTo>
                    <a:pt x="209550" y="284481"/>
                  </a:lnTo>
                  <a:lnTo>
                    <a:pt x="76200" y="284481"/>
                  </a:lnTo>
                  <a:lnTo>
                    <a:pt x="76200" y="246381"/>
                  </a:lnTo>
                  <a:close/>
                </a:path>
                <a:path w="228600" h="474979">
                  <a:moveTo>
                    <a:pt x="152400" y="0"/>
                  </a:moveTo>
                  <a:lnTo>
                    <a:pt x="76200" y="0"/>
                  </a:lnTo>
                  <a:lnTo>
                    <a:pt x="76200" y="284481"/>
                  </a:lnTo>
                  <a:lnTo>
                    <a:pt x="152400" y="284481"/>
                  </a:lnTo>
                  <a:lnTo>
                    <a:pt x="152400" y="0"/>
                  </a:lnTo>
                  <a:close/>
                </a:path>
                <a:path w="228600" h="474979">
                  <a:moveTo>
                    <a:pt x="228600" y="246381"/>
                  </a:moveTo>
                  <a:lnTo>
                    <a:pt x="152400" y="246381"/>
                  </a:lnTo>
                  <a:lnTo>
                    <a:pt x="152400" y="284481"/>
                  </a:lnTo>
                  <a:lnTo>
                    <a:pt x="209550" y="284481"/>
                  </a:lnTo>
                  <a:lnTo>
                    <a:pt x="228600" y="24638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145202" y="6428920"/>
            <a:ext cx="16637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spc="-60" dirty="0">
                <a:solidFill>
                  <a:srgbClr val="898989"/>
                </a:solidFill>
                <a:latin typeface="Arial"/>
                <a:cs typeface="Arial"/>
              </a:rPr>
              <a:t>9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034CCAF-AA8D-456B-9715-A814C16D8E70}"/>
              </a:ext>
            </a:extLst>
          </p:cNvPr>
          <p:cNvSpPr txBox="1"/>
          <p:nvPr/>
        </p:nvSpPr>
        <p:spPr>
          <a:xfrm>
            <a:off x="3534422" y="1236969"/>
            <a:ext cx="838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8A1009-00BC-4A51-BD7E-6CC0B049B798}"/>
              </a:ext>
            </a:extLst>
          </p:cNvPr>
          <p:cNvSpPr txBox="1"/>
          <p:nvPr/>
        </p:nvSpPr>
        <p:spPr>
          <a:xfrm>
            <a:off x="3514818" y="1768651"/>
            <a:ext cx="8171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traversal and achieve the purpose of improving efficiency.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0675A7E-431D-455A-B972-6F9C07387988}"/>
              </a:ext>
            </a:extLst>
          </p:cNvPr>
          <p:cNvSpPr txBox="1"/>
          <p:nvPr/>
        </p:nvSpPr>
        <p:spPr>
          <a:xfrm>
            <a:off x="3505200" y="2270151"/>
            <a:ext cx="121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 2: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53F9585-E8E8-4A97-8565-A3882434D941}"/>
              </a:ext>
            </a:extLst>
          </p:cNvPr>
          <p:cNvSpPr txBox="1"/>
          <p:nvPr/>
        </p:nvSpPr>
        <p:spPr>
          <a:xfrm>
            <a:off x="3495583" y="2828835"/>
            <a:ext cx="8171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plateau cases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hill climber may not be able to determine in which direction it should step, and may wander in a direction that never leads to improvement.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F06CACC-2519-413E-BEA9-2C5A68BF37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2705" y="4256722"/>
            <a:ext cx="6315075" cy="15144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5" y="321563"/>
            <a:ext cx="33953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dirty="0">
                <a:uFill>
                  <a:solidFill>
                    <a:srgbClr val="D0CECE"/>
                  </a:solidFill>
                </a:uFill>
              </a:rPr>
              <a:t>Hill</a:t>
            </a:r>
            <a:r>
              <a:rPr sz="4400" u="heavy" spc="-65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sz="4400" u="heavy" spc="-5" dirty="0">
                <a:uFill>
                  <a:solidFill>
                    <a:srgbClr val="D0CECE"/>
                  </a:solidFill>
                </a:uFill>
              </a:rPr>
              <a:t>Climbing</a:t>
            </a:r>
            <a:endParaRPr sz="4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39155" y="2209800"/>
            <a:ext cx="2804160" cy="2804160"/>
            <a:chOff x="4693920" y="2225039"/>
            <a:chExt cx="2804160" cy="280416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93920" y="2225039"/>
              <a:ext cx="2804160" cy="28041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621933" y="2844484"/>
              <a:ext cx="228600" cy="474980"/>
            </a:xfrm>
            <a:custGeom>
              <a:avLst/>
              <a:gdLst/>
              <a:ahLst/>
              <a:cxnLst/>
              <a:rect l="l" t="t" r="r" b="b"/>
              <a:pathLst>
                <a:path w="228600" h="474979">
                  <a:moveTo>
                    <a:pt x="76200" y="246381"/>
                  </a:moveTo>
                  <a:lnTo>
                    <a:pt x="0" y="246381"/>
                  </a:lnTo>
                  <a:lnTo>
                    <a:pt x="114300" y="474981"/>
                  </a:lnTo>
                  <a:lnTo>
                    <a:pt x="209550" y="284481"/>
                  </a:lnTo>
                  <a:lnTo>
                    <a:pt x="76200" y="284481"/>
                  </a:lnTo>
                  <a:lnTo>
                    <a:pt x="76200" y="246381"/>
                  </a:lnTo>
                  <a:close/>
                </a:path>
                <a:path w="228600" h="474979">
                  <a:moveTo>
                    <a:pt x="152400" y="0"/>
                  </a:moveTo>
                  <a:lnTo>
                    <a:pt x="76200" y="0"/>
                  </a:lnTo>
                  <a:lnTo>
                    <a:pt x="76200" y="284481"/>
                  </a:lnTo>
                  <a:lnTo>
                    <a:pt x="152400" y="284481"/>
                  </a:lnTo>
                  <a:lnTo>
                    <a:pt x="152400" y="0"/>
                  </a:lnTo>
                  <a:close/>
                </a:path>
                <a:path w="228600" h="474979">
                  <a:moveTo>
                    <a:pt x="228600" y="246381"/>
                  </a:moveTo>
                  <a:lnTo>
                    <a:pt x="152400" y="246381"/>
                  </a:lnTo>
                  <a:lnTo>
                    <a:pt x="152400" y="284481"/>
                  </a:lnTo>
                  <a:lnTo>
                    <a:pt x="209550" y="284481"/>
                  </a:lnTo>
                  <a:lnTo>
                    <a:pt x="228600" y="24638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145202" y="6428920"/>
            <a:ext cx="16637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spc="-60" dirty="0">
                <a:solidFill>
                  <a:srgbClr val="898989"/>
                </a:solidFill>
                <a:latin typeface="Arial"/>
                <a:cs typeface="Arial"/>
              </a:rPr>
              <a:t>10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034CCAF-AA8D-456B-9715-A814C16D8E70}"/>
              </a:ext>
            </a:extLst>
          </p:cNvPr>
          <p:cNvSpPr txBox="1"/>
          <p:nvPr/>
        </p:nvSpPr>
        <p:spPr>
          <a:xfrm>
            <a:off x="3534422" y="1236969"/>
            <a:ext cx="838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8A1009-00BC-4A51-BD7E-6CC0B049B798}"/>
              </a:ext>
            </a:extLst>
          </p:cNvPr>
          <p:cNvSpPr txBox="1"/>
          <p:nvPr/>
        </p:nvSpPr>
        <p:spPr>
          <a:xfrm>
            <a:off x="3514818" y="1768651"/>
            <a:ext cx="8171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traversal and achieve the purpose of improving efficiency.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0675A7E-431D-455A-B972-6F9C07387988}"/>
              </a:ext>
            </a:extLst>
          </p:cNvPr>
          <p:cNvSpPr txBox="1"/>
          <p:nvPr/>
        </p:nvSpPr>
        <p:spPr>
          <a:xfrm>
            <a:off x="3505200" y="2270151"/>
            <a:ext cx="1295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 3: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A32B02-487E-447F-AB8A-AA77CB7FCF63}"/>
              </a:ext>
            </a:extLst>
          </p:cNvPr>
          <p:cNvSpPr txBox="1"/>
          <p:nvPr/>
        </p:nvSpPr>
        <p:spPr>
          <a:xfrm>
            <a:off x="3514817" y="2771651"/>
            <a:ext cx="8171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Ridges problem: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target function creates a narrow ridge that ascends in a non-axis-aligned direction, then the hill climber can only ascend the ridge by zig-zagging.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E8B923C-8235-45B3-9449-0CB9D220E2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003" y="4104819"/>
            <a:ext cx="2853469" cy="253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77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6949" y="2353563"/>
            <a:ext cx="4038600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Exercise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1981365"/>
            <a:ext cx="155575" cy="2332990"/>
            <a:chOff x="-6350" y="1981365"/>
            <a:chExt cx="155575" cy="2332990"/>
          </a:xfrm>
        </p:grpSpPr>
        <p:sp>
          <p:nvSpPr>
            <p:cNvPr id="4" name="object 4"/>
            <p:cNvSpPr/>
            <p:nvPr/>
          </p:nvSpPr>
          <p:spPr>
            <a:xfrm>
              <a:off x="0" y="1987715"/>
              <a:ext cx="142875" cy="2320290"/>
            </a:xfrm>
            <a:custGeom>
              <a:avLst/>
              <a:gdLst/>
              <a:ahLst/>
              <a:cxnLst/>
              <a:rect l="l" t="t" r="r" b="b"/>
              <a:pathLst>
                <a:path w="142875" h="2320290">
                  <a:moveTo>
                    <a:pt x="0" y="232015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2320150"/>
                  </a:lnTo>
                  <a:lnTo>
                    <a:pt x="0" y="232015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987715"/>
              <a:ext cx="142875" cy="2320290"/>
            </a:xfrm>
            <a:custGeom>
              <a:avLst/>
              <a:gdLst/>
              <a:ahLst/>
              <a:cxnLst/>
              <a:rect l="l" t="t" r="r" b="b"/>
              <a:pathLst>
                <a:path w="142875" h="2320290">
                  <a:moveTo>
                    <a:pt x="0" y="0"/>
                  </a:moveTo>
                  <a:lnTo>
                    <a:pt x="142504" y="0"/>
                  </a:lnTo>
                  <a:lnTo>
                    <a:pt x="142504" y="2320141"/>
                  </a:lnTo>
                  <a:lnTo>
                    <a:pt x="0" y="2320141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698699" y="3859479"/>
            <a:ext cx="11317605" cy="0"/>
          </a:xfrm>
          <a:custGeom>
            <a:avLst/>
            <a:gdLst/>
            <a:ahLst/>
            <a:cxnLst/>
            <a:rect l="l" t="t" r="r" b="b"/>
            <a:pathLst>
              <a:path w="11317605">
                <a:moveTo>
                  <a:pt x="0" y="0"/>
                </a:moveTo>
                <a:lnTo>
                  <a:pt x="11317106" y="1"/>
                </a:lnTo>
              </a:path>
            </a:pathLst>
          </a:custGeom>
          <a:ln w="12700">
            <a:solidFill>
              <a:srgbClr val="D0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450719" y="411408"/>
            <a:ext cx="3460750" cy="6631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5"/>
            <a:ext cx="2709187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5" dirty="0">
                <a:uFill>
                  <a:solidFill>
                    <a:srgbClr val="D0CECE"/>
                  </a:solidFill>
                </a:uFill>
              </a:rPr>
              <a:t>Exercise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 1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7"/>
            <a:ext cx="155575" cy="1092835"/>
            <a:chOff x="-6350" y="152577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7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79995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79995"/>
                  </a:lnTo>
                  <a:lnTo>
                    <a:pt x="0" y="1079995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7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450719" y="411408"/>
            <a:ext cx="3460750" cy="6631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4384" y="3055086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9608" y="3147060"/>
            <a:ext cx="208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472C4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32216" y="2223985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04581" y="2314956"/>
            <a:ext cx="194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29080" y="3861955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701444" y="3954779"/>
            <a:ext cx="194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68828" y="2223985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134055" y="2314956"/>
            <a:ext cx="208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68828" y="3861955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148342" y="3954779"/>
            <a:ext cx="180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859479" y="3055086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046130" y="3147060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65327" y="1976335"/>
            <a:ext cx="3073400" cy="2212975"/>
          </a:xfrm>
          <a:custGeom>
            <a:avLst/>
            <a:gdLst/>
            <a:ahLst/>
            <a:cxnLst/>
            <a:rect l="l" t="t" r="r" b="b"/>
            <a:pathLst>
              <a:path w="3073400" h="2212975">
                <a:moveTo>
                  <a:pt x="742835" y="1964702"/>
                </a:moveTo>
                <a:lnTo>
                  <a:pt x="722210" y="1920201"/>
                </a:lnTo>
                <a:lnTo>
                  <a:pt x="689114" y="1848751"/>
                </a:lnTo>
                <a:lnTo>
                  <a:pt x="665353" y="1878545"/>
                </a:lnTo>
                <a:lnTo>
                  <a:pt x="221843" y="1524787"/>
                </a:lnTo>
                <a:lnTo>
                  <a:pt x="198094" y="1554568"/>
                </a:lnTo>
                <a:lnTo>
                  <a:pt x="641591" y="1908327"/>
                </a:lnTo>
                <a:lnTo>
                  <a:pt x="617842" y="1938108"/>
                </a:lnTo>
                <a:lnTo>
                  <a:pt x="742835" y="1964702"/>
                </a:lnTo>
                <a:close/>
              </a:path>
              <a:path w="3073400" h="2212975">
                <a:moveTo>
                  <a:pt x="745959" y="708571"/>
                </a:moveTo>
                <a:lnTo>
                  <a:pt x="621652" y="738187"/>
                </a:lnTo>
                <a:lnTo>
                  <a:pt x="646125" y="767397"/>
                </a:lnTo>
                <a:lnTo>
                  <a:pt x="197726" y="1143241"/>
                </a:lnTo>
                <a:lnTo>
                  <a:pt x="222211" y="1172438"/>
                </a:lnTo>
                <a:lnTo>
                  <a:pt x="670598" y="796594"/>
                </a:lnTo>
                <a:lnTo>
                  <a:pt x="695083" y="825792"/>
                </a:lnTo>
                <a:lnTo>
                  <a:pt x="725741" y="755154"/>
                </a:lnTo>
                <a:lnTo>
                  <a:pt x="745959" y="708571"/>
                </a:lnTo>
                <a:close/>
              </a:path>
              <a:path w="3073400" h="2212975">
                <a:moveTo>
                  <a:pt x="991222" y="1771484"/>
                </a:moveTo>
                <a:lnTo>
                  <a:pt x="953122" y="1771396"/>
                </a:lnTo>
                <a:lnTo>
                  <a:pt x="953122" y="1771269"/>
                </a:lnTo>
                <a:lnTo>
                  <a:pt x="955941" y="787704"/>
                </a:lnTo>
                <a:lnTo>
                  <a:pt x="917829" y="787590"/>
                </a:lnTo>
                <a:lnTo>
                  <a:pt x="915022" y="1771269"/>
                </a:lnTo>
                <a:lnTo>
                  <a:pt x="914971" y="1790319"/>
                </a:lnTo>
                <a:lnTo>
                  <a:pt x="915022" y="1771269"/>
                </a:lnTo>
                <a:lnTo>
                  <a:pt x="876922" y="1771154"/>
                </a:lnTo>
                <a:lnTo>
                  <a:pt x="933754" y="1885619"/>
                </a:lnTo>
                <a:lnTo>
                  <a:pt x="981671" y="1790433"/>
                </a:lnTo>
                <a:lnTo>
                  <a:pt x="991222" y="1771484"/>
                </a:lnTo>
                <a:close/>
              </a:path>
              <a:path w="3073400" h="2212975">
                <a:moveTo>
                  <a:pt x="2103501" y="2155621"/>
                </a:moveTo>
                <a:lnTo>
                  <a:pt x="2065401" y="2136571"/>
                </a:lnTo>
                <a:lnTo>
                  <a:pt x="1989201" y="2098471"/>
                </a:lnTo>
                <a:lnTo>
                  <a:pt x="1989201" y="2136571"/>
                </a:lnTo>
                <a:lnTo>
                  <a:pt x="1203756" y="2136571"/>
                </a:lnTo>
                <a:lnTo>
                  <a:pt x="1203756" y="2174671"/>
                </a:lnTo>
                <a:lnTo>
                  <a:pt x="1989201" y="2174671"/>
                </a:lnTo>
                <a:lnTo>
                  <a:pt x="1989201" y="2212771"/>
                </a:lnTo>
                <a:lnTo>
                  <a:pt x="2065401" y="2174671"/>
                </a:lnTo>
                <a:lnTo>
                  <a:pt x="2103501" y="2155621"/>
                </a:lnTo>
                <a:close/>
              </a:path>
              <a:path w="3073400" h="2212975">
                <a:moveTo>
                  <a:pt x="2103501" y="517652"/>
                </a:moveTo>
                <a:lnTo>
                  <a:pt x="2065401" y="498602"/>
                </a:lnTo>
                <a:lnTo>
                  <a:pt x="1989201" y="460502"/>
                </a:lnTo>
                <a:lnTo>
                  <a:pt x="1989201" y="498602"/>
                </a:lnTo>
                <a:lnTo>
                  <a:pt x="1206881" y="498602"/>
                </a:lnTo>
                <a:lnTo>
                  <a:pt x="1206881" y="536702"/>
                </a:lnTo>
                <a:lnTo>
                  <a:pt x="1989201" y="536702"/>
                </a:lnTo>
                <a:lnTo>
                  <a:pt x="1989201" y="574802"/>
                </a:lnTo>
                <a:lnTo>
                  <a:pt x="2065401" y="536702"/>
                </a:lnTo>
                <a:lnTo>
                  <a:pt x="2103501" y="517652"/>
                </a:lnTo>
                <a:close/>
              </a:path>
              <a:path w="3073400" h="2212975">
                <a:moveTo>
                  <a:pt x="2197176" y="1952447"/>
                </a:moveTo>
                <a:lnTo>
                  <a:pt x="1215885" y="783856"/>
                </a:lnTo>
                <a:lnTo>
                  <a:pt x="1233258" y="769264"/>
                </a:lnTo>
                <a:lnTo>
                  <a:pt x="1245069" y="759345"/>
                </a:lnTo>
                <a:lnTo>
                  <a:pt x="1127798" y="708571"/>
                </a:lnTo>
                <a:lnTo>
                  <a:pt x="1157541" y="832853"/>
                </a:lnTo>
                <a:lnTo>
                  <a:pt x="1186713" y="808355"/>
                </a:lnTo>
                <a:lnTo>
                  <a:pt x="2167991" y="1976958"/>
                </a:lnTo>
                <a:lnTo>
                  <a:pt x="2197176" y="1952447"/>
                </a:lnTo>
                <a:close/>
              </a:path>
              <a:path w="3073400" h="2212975">
                <a:moveTo>
                  <a:pt x="2430653" y="1771319"/>
                </a:moveTo>
                <a:lnTo>
                  <a:pt x="2392553" y="1771319"/>
                </a:lnTo>
                <a:lnTo>
                  <a:pt x="2392553" y="787641"/>
                </a:lnTo>
                <a:lnTo>
                  <a:pt x="2354453" y="787641"/>
                </a:lnTo>
                <a:lnTo>
                  <a:pt x="2354453" y="1771319"/>
                </a:lnTo>
                <a:lnTo>
                  <a:pt x="2316353" y="1771319"/>
                </a:lnTo>
                <a:lnTo>
                  <a:pt x="2373503" y="1885619"/>
                </a:lnTo>
                <a:lnTo>
                  <a:pt x="2421128" y="1790369"/>
                </a:lnTo>
                <a:lnTo>
                  <a:pt x="2430653" y="1771319"/>
                </a:lnTo>
                <a:close/>
              </a:path>
              <a:path w="3073400" h="2212975">
                <a:moveTo>
                  <a:pt x="2430653" y="133350"/>
                </a:moveTo>
                <a:lnTo>
                  <a:pt x="2392553" y="133350"/>
                </a:lnTo>
                <a:lnTo>
                  <a:pt x="2392553" y="38100"/>
                </a:lnTo>
                <a:lnTo>
                  <a:pt x="2392553" y="19050"/>
                </a:lnTo>
                <a:lnTo>
                  <a:pt x="2392553" y="0"/>
                </a:lnTo>
                <a:lnTo>
                  <a:pt x="0" y="0"/>
                </a:lnTo>
                <a:lnTo>
                  <a:pt x="0" y="1078750"/>
                </a:lnTo>
                <a:lnTo>
                  <a:pt x="38100" y="1078750"/>
                </a:lnTo>
                <a:lnTo>
                  <a:pt x="38100" y="38100"/>
                </a:lnTo>
                <a:lnTo>
                  <a:pt x="2354453" y="38100"/>
                </a:lnTo>
                <a:lnTo>
                  <a:pt x="2354453" y="133350"/>
                </a:lnTo>
                <a:lnTo>
                  <a:pt x="2316353" y="133350"/>
                </a:lnTo>
                <a:lnTo>
                  <a:pt x="2373503" y="247650"/>
                </a:lnTo>
                <a:lnTo>
                  <a:pt x="2421128" y="152400"/>
                </a:lnTo>
                <a:lnTo>
                  <a:pt x="2430653" y="133350"/>
                </a:lnTo>
                <a:close/>
              </a:path>
              <a:path w="3073400" h="2212975">
                <a:moveTo>
                  <a:pt x="3073235" y="1539671"/>
                </a:moveTo>
                <a:lnTo>
                  <a:pt x="2948876" y="1569085"/>
                </a:lnTo>
                <a:lnTo>
                  <a:pt x="2973298" y="1598333"/>
                </a:lnTo>
                <a:lnTo>
                  <a:pt x="2552204" y="1950085"/>
                </a:lnTo>
                <a:lnTo>
                  <a:pt x="2576639" y="1979320"/>
                </a:lnTo>
                <a:lnTo>
                  <a:pt x="2997720" y="1627581"/>
                </a:lnTo>
                <a:lnTo>
                  <a:pt x="3022155" y="1656816"/>
                </a:lnTo>
                <a:lnTo>
                  <a:pt x="3052978" y="1586115"/>
                </a:lnTo>
                <a:lnTo>
                  <a:pt x="3073235" y="1539671"/>
                </a:lnTo>
                <a:close/>
              </a:path>
              <a:path w="3073400" h="2212975">
                <a:moveTo>
                  <a:pt x="3073235" y="1157833"/>
                </a:moveTo>
                <a:lnTo>
                  <a:pt x="3053537" y="1109078"/>
                </a:lnTo>
                <a:lnTo>
                  <a:pt x="3025381" y="1039342"/>
                </a:lnTo>
                <a:lnTo>
                  <a:pt x="3000159" y="1067904"/>
                </a:lnTo>
                <a:lnTo>
                  <a:pt x="2577033" y="694283"/>
                </a:lnTo>
                <a:lnTo>
                  <a:pt x="2551811" y="722845"/>
                </a:lnTo>
                <a:lnTo>
                  <a:pt x="2974937" y="1096467"/>
                </a:lnTo>
                <a:lnTo>
                  <a:pt x="2949727" y="1125016"/>
                </a:lnTo>
                <a:lnTo>
                  <a:pt x="3073235" y="11578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484139" y="2178811"/>
            <a:ext cx="6329680" cy="11290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5600" marR="5080" indent="-342900">
              <a:lnSpc>
                <a:spcPct val="100800"/>
              </a:lnSpc>
              <a:spcBef>
                <a:spcPts val="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Given the problem-solution graph in Figure </a:t>
            </a:r>
            <a:r>
              <a:rPr sz="2400" dirty="0">
                <a:latin typeface="Times New Roman"/>
                <a:cs typeface="Times New Roman"/>
              </a:rPr>
              <a:t>1,  </a:t>
            </a:r>
            <a:r>
              <a:rPr sz="2400" spc="-5" dirty="0">
                <a:latin typeface="Times New Roman"/>
                <a:cs typeface="Times New Roman"/>
              </a:rPr>
              <a:t>perform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breadth-first 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search </a:t>
            </a:r>
            <a:r>
              <a:rPr sz="2400" spc="-5" dirty="0">
                <a:latin typeface="Times New Roman"/>
                <a:cs typeface="Times New Roman"/>
              </a:rPr>
              <a:t>starting </a:t>
            </a:r>
            <a:r>
              <a:rPr sz="2400" dirty="0">
                <a:latin typeface="Times New Roman"/>
                <a:cs typeface="Times New Roman"/>
              </a:rPr>
              <a:t>from </a:t>
            </a:r>
            <a:r>
              <a:rPr sz="2400" spc="-5" dirty="0">
                <a:latin typeface="Times New Roman"/>
                <a:cs typeface="Times New Roman"/>
              </a:rPr>
              <a:t>the  initial state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and ending in the goal state</a:t>
            </a:r>
            <a:r>
              <a:rPr sz="2400" spc="-26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F.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21" name="object 21"/>
          <p:cNvSpPr txBox="1"/>
          <p:nvPr/>
        </p:nvSpPr>
        <p:spPr>
          <a:xfrm>
            <a:off x="5484139" y="3638804"/>
            <a:ext cx="6289040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5600" marR="5080" indent="-342900">
              <a:lnSpc>
                <a:spcPct val="100800"/>
              </a:lnSpc>
              <a:spcBef>
                <a:spcPts val="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If </a:t>
            </a:r>
            <a:r>
              <a:rPr sz="2400" spc="-5" dirty="0">
                <a:latin typeface="Times New Roman"/>
                <a:cs typeface="Times New Roman"/>
              </a:rPr>
              <a:t>there are two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more nodes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the same  preference, then handle the nodes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2F5597"/>
                </a:solidFill>
                <a:latin typeface="Times New Roman"/>
                <a:cs typeface="Times New Roman"/>
              </a:rPr>
              <a:t>alphabetically</a:t>
            </a:r>
            <a:r>
              <a:rPr sz="2400" spc="-15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53717" y="4628388"/>
            <a:ext cx="9309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/>
                <a:cs typeface="Times New Roman"/>
              </a:rPr>
              <a:t>Figure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5"/>
            <a:ext cx="307005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5" dirty="0">
                <a:uFill>
                  <a:solidFill>
                    <a:srgbClr val="D0CECE"/>
                  </a:solidFill>
                </a:uFill>
              </a:rPr>
              <a:t>Exercise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 1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7"/>
            <a:ext cx="155575" cy="1092835"/>
            <a:chOff x="-6350" y="152577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7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79995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79995"/>
                  </a:lnTo>
                  <a:lnTo>
                    <a:pt x="0" y="1079995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7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450719" y="411408"/>
            <a:ext cx="3460750" cy="6631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4384" y="3055086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9608" y="3147060"/>
            <a:ext cx="208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472C4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32216" y="2223985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04581" y="2314956"/>
            <a:ext cx="194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29080" y="3861955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701444" y="3954779"/>
            <a:ext cx="194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68828" y="2223985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134055" y="2314956"/>
            <a:ext cx="208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68828" y="3861955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148342" y="3954779"/>
            <a:ext cx="180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859479" y="3055086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046130" y="3147060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65327" y="1976335"/>
            <a:ext cx="3073400" cy="2212975"/>
          </a:xfrm>
          <a:custGeom>
            <a:avLst/>
            <a:gdLst/>
            <a:ahLst/>
            <a:cxnLst/>
            <a:rect l="l" t="t" r="r" b="b"/>
            <a:pathLst>
              <a:path w="3073400" h="2212975">
                <a:moveTo>
                  <a:pt x="742835" y="1964702"/>
                </a:moveTo>
                <a:lnTo>
                  <a:pt x="722210" y="1920201"/>
                </a:lnTo>
                <a:lnTo>
                  <a:pt x="689114" y="1848751"/>
                </a:lnTo>
                <a:lnTo>
                  <a:pt x="665353" y="1878545"/>
                </a:lnTo>
                <a:lnTo>
                  <a:pt x="221843" y="1524787"/>
                </a:lnTo>
                <a:lnTo>
                  <a:pt x="198094" y="1554568"/>
                </a:lnTo>
                <a:lnTo>
                  <a:pt x="641591" y="1908327"/>
                </a:lnTo>
                <a:lnTo>
                  <a:pt x="617842" y="1938108"/>
                </a:lnTo>
                <a:lnTo>
                  <a:pt x="742835" y="1964702"/>
                </a:lnTo>
                <a:close/>
              </a:path>
              <a:path w="3073400" h="2212975">
                <a:moveTo>
                  <a:pt x="745959" y="708571"/>
                </a:moveTo>
                <a:lnTo>
                  <a:pt x="621652" y="738187"/>
                </a:lnTo>
                <a:lnTo>
                  <a:pt x="646125" y="767397"/>
                </a:lnTo>
                <a:lnTo>
                  <a:pt x="197726" y="1143241"/>
                </a:lnTo>
                <a:lnTo>
                  <a:pt x="222211" y="1172438"/>
                </a:lnTo>
                <a:lnTo>
                  <a:pt x="670598" y="796594"/>
                </a:lnTo>
                <a:lnTo>
                  <a:pt x="695083" y="825792"/>
                </a:lnTo>
                <a:lnTo>
                  <a:pt x="725741" y="755154"/>
                </a:lnTo>
                <a:lnTo>
                  <a:pt x="745959" y="708571"/>
                </a:lnTo>
                <a:close/>
              </a:path>
              <a:path w="3073400" h="2212975">
                <a:moveTo>
                  <a:pt x="991222" y="1771484"/>
                </a:moveTo>
                <a:lnTo>
                  <a:pt x="953122" y="1771396"/>
                </a:lnTo>
                <a:lnTo>
                  <a:pt x="953122" y="1771269"/>
                </a:lnTo>
                <a:lnTo>
                  <a:pt x="955941" y="787704"/>
                </a:lnTo>
                <a:lnTo>
                  <a:pt x="917829" y="787590"/>
                </a:lnTo>
                <a:lnTo>
                  <a:pt x="915022" y="1771269"/>
                </a:lnTo>
                <a:lnTo>
                  <a:pt x="914971" y="1790319"/>
                </a:lnTo>
                <a:lnTo>
                  <a:pt x="915022" y="1771269"/>
                </a:lnTo>
                <a:lnTo>
                  <a:pt x="876922" y="1771154"/>
                </a:lnTo>
                <a:lnTo>
                  <a:pt x="933754" y="1885619"/>
                </a:lnTo>
                <a:lnTo>
                  <a:pt x="981671" y="1790433"/>
                </a:lnTo>
                <a:lnTo>
                  <a:pt x="991222" y="1771484"/>
                </a:lnTo>
                <a:close/>
              </a:path>
              <a:path w="3073400" h="2212975">
                <a:moveTo>
                  <a:pt x="2103501" y="2155621"/>
                </a:moveTo>
                <a:lnTo>
                  <a:pt x="2065401" y="2136571"/>
                </a:lnTo>
                <a:lnTo>
                  <a:pt x="1989201" y="2098471"/>
                </a:lnTo>
                <a:lnTo>
                  <a:pt x="1989201" y="2136571"/>
                </a:lnTo>
                <a:lnTo>
                  <a:pt x="1203756" y="2136571"/>
                </a:lnTo>
                <a:lnTo>
                  <a:pt x="1203756" y="2174671"/>
                </a:lnTo>
                <a:lnTo>
                  <a:pt x="1989201" y="2174671"/>
                </a:lnTo>
                <a:lnTo>
                  <a:pt x="1989201" y="2212771"/>
                </a:lnTo>
                <a:lnTo>
                  <a:pt x="2065401" y="2174671"/>
                </a:lnTo>
                <a:lnTo>
                  <a:pt x="2103501" y="2155621"/>
                </a:lnTo>
                <a:close/>
              </a:path>
              <a:path w="3073400" h="2212975">
                <a:moveTo>
                  <a:pt x="2103501" y="517652"/>
                </a:moveTo>
                <a:lnTo>
                  <a:pt x="2065401" y="498602"/>
                </a:lnTo>
                <a:lnTo>
                  <a:pt x="1989201" y="460502"/>
                </a:lnTo>
                <a:lnTo>
                  <a:pt x="1989201" y="498602"/>
                </a:lnTo>
                <a:lnTo>
                  <a:pt x="1206881" y="498602"/>
                </a:lnTo>
                <a:lnTo>
                  <a:pt x="1206881" y="536702"/>
                </a:lnTo>
                <a:lnTo>
                  <a:pt x="1989201" y="536702"/>
                </a:lnTo>
                <a:lnTo>
                  <a:pt x="1989201" y="574802"/>
                </a:lnTo>
                <a:lnTo>
                  <a:pt x="2065401" y="536702"/>
                </a:lnTo>
                <a:lnTo>
                  <a:pt x="2103501" y="517652"/>
                </a:lnTo>
                <a:close/>
              </a:path>
              <a:path w="3073400" h="2212975">
                <a:moveTo>
                  <a:pt x="2197176" y="1952447"/>
                </a:moveTo>
                <a:lnTo>
                  <a:pt x="1215885" y="783856"/>
                </a:lnTo>
                <a:lnTo>
                  <a:pt x="1233258" y="769264"/>
                </a:lnTo>
                <a:lnTo>
                  <a:pt x="1245069" y="759345"/>
                </a:lnTo>
                <a:lnTo>
                  <a:pt x="1127798" y="708571"/>
                </a:lnTo>
                <a:lnTo>
                  <a:pt x="1157541" y="832853"/>
                </a:lnTo>
                <a:lnTo>
                  <a:pt x="1186713" y="808355"/>
                </a:lnTo>
                <a:lnTo>
                  <a:pt x="2167991" y="1976958"/>
                </a:lnTo>
                <a:lnTo>
                  <a:pt x="2197176" y="1952447"/>
                </a:lnTo>
                <a:close/>
              </a:path>
              <a:path w="3073400" h="2212975">
                <a:moveTo>
                  <a:pt x="2430653" y="1771319"/>
                </a:moveTo>
                <a:lnTo>
                  <a:pt x="2392553" y="1771319"/>
                </a:lnTo>
                <a:lnTo>
                  <a:pt x="2392553" y="787641"/>
                </a:lnTo>
                <a:lnTo>
                  <a:pt x="2354453" y="787641"/>
                </a:lnTo>
                <a:lnTo>
                  <a:pt x="2354453" y="1771319"/>
                </a:lnTo>
                <a:lnTo>
                  <a:pt x="2316353" y="1771319"/>
                </a:lnTo>
                <a:lnTo>
                  <a:pt x="2373503" y="1885619"/>
                </a:lnTo>
                <a:lnTo>
                  <a:pt x="2421128" y="1790369"/>
                </a:lnTo>
                <a:lnTo>
                  <a:pt x="2430653" y="1771319"/>
                </a:lnTo>
                <a:close/>
              </a:path>
              <a:path w="3073400" h="2212975">
                <a:moveTo>
                  <a:pt x="2430653" y="133350"/>
                </a:moveTo>
                <a:lnTo>
                  <a:pt x="2392553" y="133350"/>
                </a:lnTo>
                <a:lnTo>
                  <a:pt x="2392553" y="38100"/>
                </a:lnTo>
                <a:lnTo>
                  <a:pt x="2392553" y="19050"/>
                </a:lnTo>
                <a:lnTo>
                  <a:pt x="2392553" y="0"/>
                </a:lnTo>
                <a:lnTo>
                  <a:pt x="0" y="0"/>
                </a:lnTo>
                <a:lnTo>
                  <a:pt x="0" y="1078750"/>
                </a:lnTo>
                <a:lnTo>
                  <a:pt x="38100" y="1078750"/>
                </a:lnTo>
                <a:lnTo>
                  <a:pt x="38100" y="38100"/>
                </a:lnTo>
                <a:lnTo>
                  <a:pt x="2354453" y="38100"/>
                </a:lnTo>
                <a:lnTo>
                  <a:pt x="2354453" y="133350"/>
                </a:lnTo>
                <a:lnTo>
                  <a:pt x="2316353" y="133350"/>
                </a:lnTo>
                <a:lnTo>
                  <a:pt x="2373503" y="247650"/>
                </a:lnTo>
                <a:lnTo>
                  <a:pt x="2421128" y="152400"/>
                </a:lnTo>
                <a:lnTo>
                  <a:pt x="2430653" y="133350"/>
                </a:lnTo>
                <a:close/>
              </a:path>
              <a:path w="3073400" h="2212975">
                <a:moveTo>
                  <a:pt x="3073235" y="1539671"/>
                </a:moveTo>
                <a:lnTo>
                  <a:pt x="2948876" y="1569085"/>
                </a:lnTo>
                <a:lnTo>
                  <a:pt x="2973298" y="1598333"/>
                </a:lnTo>
                <a:lnTo>
                  <a:pt x="2552204" y="1950085"/>
                </a:lnTo>
                <a:lnTo>
                  <a:pt x="2576639" y="1979320"/>
                </a:lnTo>
                <a:lnTo>
                  <a:pt x="2997720" y="1627581"/>
                </a:lnTo>
                <a:lnTo>
                  <a:pt x="3022155" y="1656816"/>
                </a:lnTo>
                <a:lnTo>
                  <a:pt x="3052978" y="1586115"/>
                </a:lnTo>
                <a:lnTo>
                  <a:pt x="3073235" y="1539671"/>
                </a:lnTo>
                <a:close/>
              </a:path>
              <a:path w="3073400" h="2212975">
                <a:moveTo>
                  <a:pt x="3073235" y="1157833"/>
                </a:moveTo>
                <a:lnTo>
                  <a:pt x="3053537" y="1109078"/>
                </a:lnTo>
                <a:lnTo>
                  <a:pt x="3025381" y="1039342"/>
                </a:lnTo>
                <a:lnTo>
                  <a:pt x="3000159" y="1067904"/>
                </a:lnTo>
                <a:lnTo>
                  <a:pt x="2577033" y="694283"/>
                </a:lnTo>
                <a:lnTo>
                  <a:pt x="2551811" y="722845"/>
                </a:lnTo>
                <a:lnTo>
                  <a:pt x="2974937" y="1096467"/>
                </a:lnTo>
                <a:lnTo>
                  <a:pt x="2949727" y="1125016"/>
                </a:lnTo>
                <a:lnTo>
                  <a:pt x="3073235" y="11578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484138" y="1700276"/>
            <a:ext cx="335506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lang="en-US" sz="2400" b="1" spc="-10" dirty="0">
                <a:latin typeface="Times New Roman"/>
                <a:cs typeface="Times New Roman"/>
              </a:rPr>
              <a:t>Breadth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first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search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53717" y="4628388"/>
            <a:ext cx="9309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/>
                <a:cs typeface="Times New Roman"/>
              </a:rPr>
              <a:t>Figure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044067" y="2555805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209293" y="2648414"/>
            <a:ext cx="208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472C4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799758" y="3554698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972123" y="3648158"/>
            <a:ext cx="194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/>
                <a:cs typeface="Times New Roman"/>
              </a:rPr>
              <a:t>B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044067" y="3554698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216431" y="3648158"/>
            <a:ext cx="194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/>
                <a:cs typeface="Times New Roman"/>
              </a:rPr>
              <a:t>C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274404" y="3554698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0439631" y="3648158"/>
            <a:ext cx="208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044067" y="4553579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223581" y="4644854"/>
            <a:ext cx="180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274404" y="4553579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0461056" y="4644854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069761" y="2999759"/>
            <a:ext cx="2532380" cy="1553845"/>
          </a:xfrm>
          <a:custGeom>
            <a:avLst/>
            <a:gdLst/>
            <a:ahLst/>
            <a:cxnLst/>
            <a:rect l="l" t="t" r="r" b="b"/>
            <a:pathLst>
              <a:path w="2532379" h="1553845">
                <a:moveTo>
                  <a:pt x="1062050" y="33934"/>
                </a:moveTo>
                <a:lnTo>
                  <a:pt x="1044727" y="0"/>
                </a:lnTo>
                <a:lnTo>
                  <a:pt x="93116" y="485990"/>
                </a:lnTo>
                <a:lnTo>
                  <a:pt x="75793" y="452056"/>
                </a:lnTo>
                <a:lnTo>
                  <a:pt x="0" y="554939"/>
                </a:lnTo>
                <a:lnTo>
                  <a:pt x="127787" y="553847"/>
                </a:lnTo>
                <a:lnTo>
                  <a:pt x="114871" y="528574"/>
                </a:lnTo>
                <a:lnTo>
                  <a:pt x="110451" y="519912"/>
                </a:lnTo>
                <a:lnTo>
                  <a:pt x="1062050" y="33934"/>
                </a:lnTo>
                <a:close/>
              </a:path>
              <a:path w="2532379" h="1553845">
                <a:moveTo>
                  <a:pt x="1301457" y="1439519"/>
                </a:moveTo>
                <a:lnTo>
                  <a:pt x="1263357" y="1439519"/>
                </a:lnTo>
                <a:lnTo>
                  <a:pt x="1263357" y="1094930"/>
                </a:lnTo>
                <a:lnTo>
                  <a:pt x="1225257" y="1094930"/>
                </a:lnTo>
                <a:lnTo>
                  <a:pt x="1225257" y="1439519"/>
                </a:lnTo>
                <a:lnTo>
                  <a:pt x="1187157" y="1439519"/>
                </a:lnTo>
                <a:lnTo>
                  <a:pt x="1244307" y="1553819"/>
                </a:lnTo>
                <a:lnTo>
                  <a:pt x="1291932" y="1458569"/>
                </a:lnTo>
                <a:lnTo>
                  <a:pt x="1301457" y="1439519"/>
                </a:lnTo>
                <a:close/>
              </a:path>
              <a:path w="2532379" h="1553845">
                <a:moveTo>
                  <a:pt x="1301457" y="440639"/>
                </a:moveTo>
                <a:lnTo>
                  <a:pt x="1263357" y="440639"/>
                </a:lnTo>
                <a:lnTo>
                  <a:pt x="1263357" y="96050"/>
                </a:lnTo>
                <a:lnTo>
                  <a:pt x="1225257" y="96050"/>
                </a:lnTo>
                <a:lnTo>
                  <a:pt x="1225257" y="440639"/>
                </a:lnTo>
                <a:lnTo>
                  <a:pt x="1187157" y="440639"/>
                </a:lnTo>
                <a:lnTo>
                  <a:pt x="1244307" y="554939"/>
                </a:lnTo>
                <a:lnTo>
                  <a:pt x="1291932" y="459689"/>
                </a:lnTo>
                <a:lnTo>
                  <a:pt x="1301457" y="440639"/>
                </a:lnTo>
                <a:close/>
              </a:path>
              <a:path w="2532379" h="1553845">
                <a:moveTo>
                  <a:pt x="2474645" y="554939"/>
                </a:moveTo>
                <a:lnTo>
                  <a:pt x="2455062" y="528066"/>
                </a:lnTo>
                <a:lnTo>
                  <a:pt x="2399398" y="451637"/>
                </a:lnTo>
                <a:lnTo>
                  <a:pt x="2381885" y="485482"/>
                </a:lnTo>
                <a:lnTo>
                  <a:pt x="1443977" y="50"/>
                </a:lnTo>
                <a:lnTo>
                  <a:pt x="1426464" y="33883"/>
                </a:lnTo>
                <a:lnTo>
                  <a:pt x="2364371" y="519315"/>
                </a:lnTo>
                <a:lnTo>
                  <a:pt x="2346871" y="553148"/>
                </a:lnTo>
                <a:lnTo>
                  <a:pt x="2474645" y="554939"/>
                </a:lnTo>
                <a:close/>
              </a:path>
              <a:path w="2532379" h="1553845">
                <a:moveTo>
                  <a:pt x="2531795" y="1439519"/>
                </a:moveTo>
                <a:lnTo>
                  <a:pt x="2493695" y="1439519"/>
                </a:lnTo>
                <a:lnTo>
                  <a:pt x="2493695" y="1094930"/>
                </a:lnTo>
                <a:lnTo>
                  <a:pt x="2455595" y="1094930"/>
                </a:lnTo>
                <a:lnTo>
                  <a:pt x="2455595" y="1439519"/>
                </a:lnTo>
                <a:lnTo>
                  <a:pt x="2417495" y="1439519"/>
                </a:lnTo>
                <a:lnTo>
                  <a:pt x="2474645" y="1553819"/>
                </a:lnTo>
                <a:lnTo>
                  <a:pt x="2522270" y="1458569"/>
                </a:lnTo>
                <a:lnTo>
                  <a:pt x="2531795" y="14395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5" y="321565"/>
            <a:ext cx="254547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5" dirty="0">
                <a:uFill>
                  <a:solidFill>
                    <a:srgbClr val="D0CECE"/>
                  </a:solidFill>
                </a:uFill>
              </a:rPr>
              <a:t>Exercise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 2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7"/>
            <a:ext cx="155575" cy="1092835"/>
            <a:chOff x="-6350" y="152577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7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79995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79995"/>
                  </a:lnTo>
                  <a:lnTo>
                    <a:pt x="0" y="1079995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7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450719" y="411408"/>
            <a:ext cx="3460750" cy="6631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4384" y="3055086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9608" y="3147060"/>
            <a:ext cx="208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472C4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32216" y="2223985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04581" y="2314956"/>
            <a:ext cx="194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29080" y="3861955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701444" y="3954779"/>
            <a:ext cx="194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68828" y="2223985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134055" y="2314956"/>
            <a:ext cx="208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68828" y="3861955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148342" y="3954779"/>
            <a:ext cx="180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859479" y="3055086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046130" y="3147060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65327" y="1976335"/>
            <a:ext cx="3073400" cy="2212975"/>
          </a:xfrm>
          <a:custGeom>
            <a:avLst/>
            <a:gdLst/>
            <a:ahLst/>
            <a:cxnLst/>
            <a:rect l="l" t="t" r="r" b="b"/>
            <a:pathLst>
              <a:path w="3073400" h="2212975">
                <a:moveTo>
                  <a:pt x="742835" y="1964702"/>
                </a:moveTo>
                <a:lnTo>
                  <a:pt x="722210" y="1920201"/>
                </a:lnTo>
                <a:lnTo>
                  <a:pt x="689114" y="1848751"/>
                </a:lnTo>
                <a:lnTo>
                  <a:pt x="665353" y="1878545"/>
                </a:lnTo>
                <a:lnTo>
                  <a:pt x="221843" y="1524787"/>
                </a:lnTo>
                <a:lnTo>
                  <a:pt x="198094" y="1554568"/>
                </a:lnTo>
                <a:lnTo>
                  <a:pt x="641591" y="1908327"/>
                </a:lnTo>
                <a:lnTo>
                  <a:pt x="617842" y="1938108"/>
                </a:lnTo>
                <a:lnTo>
                  <a:pt x="742835" y="1964702"/>
                </a:lnTo>
                <a:close/>
              </a:path>
              <a:path w="3073400" h="2212975">
                <a:moveTo>
                  <a:pt x="745959" y="708571"/>
                </a:moveTo>
                <a:lnTo>
                  <a:pt x="621652" y="738187"/>
                </a:lnTo>
                <a:lnTo>
                  <a:pt x="646125" y="767397"/>
                </a:lnTo>
                <a:lnTo>
                  <a:pt x="197726" y="1143241"/>
                </a:lnTo>
                <a:lnTo>
                  <a:pt x="222211" y="1172438"/>
                </a:lnTo>
                <a:lnTo>
                  <a:pt x="670598" y="796594"/>
                </a:lnTo>
                <a:lnTo>
                  <a:pt x="695083" y="825792"/>
                </a:lnTo>
                <a:lnTo>
                  <a:pt x="725741" y="755154"/>
                </a:lnTo>
                <a:lnTo>
                  <a:pt x="745959" y="708571"/>
                </a:lnTo>
                <a:close/>
              </a:path>
              <a:path w="3073400" h="2212975">
                <a:moveTo>
                  <a:pt x="991222" y="1771484"/>
                </a:moveTo>
                <a:lnTo>
                  <a:pt x="953122" y="1771396"/>
                </a:lnTo>
                <a:lnTo>
                  <a:pt x="953122" y="1771269"/>
                </a:lnTo>
                <a:lnTo>
                  <a:pt x="955941" y="787704"/>
                </a:lnTo>
                <a:lnTo>
                  <a:pt x="917829" y="787590"/>
                </a:lnTo>
                <a:lnTo>
                  <a:pt x="915022" y="1771269"/>
                </a:lnTo>
                <a:lnTo>
                  <a:pt x="914971" y="1790319"/>
                </a:lnTo>
                <a:lnTo>
                  <a:pt x="915022" y="1771269"/>
                </a:lnTo>
                <a:lnTo>
                  <a:pt x="876922" y="1771154"/>
                </a:lnTo>
                <a:lnTo>
                  <a:pt x="933754" y="1885619"/>
                </a:lnTo>
                <a:lnTo>
                  <a:pt x="981671" y="1790433"/>
                </a:lnTo>
                <a:lnTo>
                  <a:pt x="991222" y="1771484"/>
                </a:lnTo>
                <a:close/>
              </a:path>
              <a:path w="3073400" h="2212975">
                <a:moveTo>
                  <a:pt x="2103501" y="2155621"/>
                </a:moveTo>
                <a:lnTo>
                  <a:pt x="2065401" y="2136571"/>
                </a:lnTo>
                <a:lnTo>
                  <a:pt x="1989201" y="2098471"/>
                </a:lnTo>
                <a:lnTo>
                  <a:pt x="1989201" y="2136571"/>
                </a:lnTo>
                <a:lnTo>
                  <a:pt x="1203756" y="2136571"/>
                </a:lnTo>
                <a:lnTo>
                  <a:pt x="1203756" y="2174671"/>
                </a:lnTo>
                <a:lnTo>
                  <a:pt x="1989201" y="2174671"/>
                </a:lnTo>
                <a:lnTo>
                  <a:pt x="1989201" y="2212771"/>
                </a:lnTo>
                <a:lnTo>
                  <a:pt x="2065401" y="2174671"/>
                </a:lnTo>
                <a:lnTo>
                  <a:pt x="2103501" y="2155621"/>
                </a:lnTo>
                <a:close/>
              </a:path>
              <a:path w="3073400" h="2212975">
                <a:moveTo>
                  <a:pt x="2103501" y="517652"/>
                </a:moveTo>
                <a:lnTo>
                  <a:pt x="2065401" y="498602"/>
                </a:lnTo>
                <a:lnTo>
                  <a:pt x="1989201" y="460502"/>
                </a:lnTo>
                <a:lnTo>
                  <a:pt x="1989201" y="498602"/>
                </a:lnTo>
                <a:lnTo>
                  <a:pt x="1206881" y="498602"/>
                </a:lnTo>
                <a:lnTo>
                  <a:pt x="1206881" y="536702"/>
                </a:lnTo>
                <a:lnTo>
                  <a:pt x="1989201" y="536702"/>
                </a:lnTo>
                <a:lnTo>
                  <a:pt x="1989201" y="574802"/>
                </a:lnTo>
                <a:lnTo>
                  <a:pt x="2065401" y="536702"/>
                </a:lnTo>
                <a:lnTo>
                  <a:pt x="2103501" y="517652"/>
                </a:lnTo>
                <a:close/>
              </a:path>
              <a:path w="3073400" h="2212975">
                <a:moveTo>
                  <a:pt x="2197176" y="1952447"/>
                </a:moveTo>
                <a:lnTo>
                  <a:pt x="1215885" y="783856"/>
                </a:lnTo>
                <a:lnTo>
                  <a:pt x="1233258" y="769264"/>
                </a:lnTo>
                <a:lnTo>
                  <a:pt x="1245069" y="759345"/>
                </a:lnTo>
                <a:lnTo>
                  <a:pt x="1127798" y="708571"/>
                </a:lnTo>
                <a:lnTo>
                  <a:pt x="1157541" y="832853"/>
                </a:lnTo>
                <a:lnTo>
                  <a:pt x="1186713" y="808355"/>
                </a:lnTo>
                <a:lnTo>
                  <a:pt x="2167991" y="1976958"/>
                </a:lnTo>
                <a:lnTo>
                  <a:pt x="2197176" y="1952447"/>
                </a:lnTo>
                <a:close/>
              </a:path>
              <a:path w="3073400" h="2212975">
                <a:moveTo>
                  <a:pt x="2430653" y="1771319"/>
                </a:moveTo>
                <a:lnTo>
                  <a:pt x="2392553" y="1771319"/>
                </a:lnTo>
                <a:lnTo>
                  <a:pt x="2392553" y="787641"/>
                </a:lnTo>
                <a:lnTo>
                  <a:pt x="2354453" y="787641"/>
                </a:lnTo>
                <a:lnTo>
                  <a:pt x="2354453" y="1771319"/>
                </a:lnTo>
                <a:lnTo>
                  <a:pt x="2316353" y="1771319"/>
                </a:lnTo>
                <a:lnTo>
                  <a:pt x="2373503" y="1885619"/>
                </a:lnTo>
                <a:lnTo>
                  <a:pt x="2421128" y="1790369"/>
                </a:lnTo>
                <a:lnTo>
                  <a:pt x="2430653" y="1771319"/>
                </a:lnTo>
                <a:close/>
              </a:path>
              <a:path w="3073400" h="2212975">
                <a:moveTo>
                  <a:pt x="2430653" y="133350"/>
                </a:moveTo>
                <a:lnTo>
                  <a:pt x="2392553" y="133350"/>
                </a:lnTo>
                <a:lnTo>
                  <a:pt x="2392553" y="38100"/>
                </a:lnTo>
                <a:lnTo>
                  <a:pt x="2392553" y="19050"/>
                </a:lnTo>
                <a:lnTo>
                  <a:pt x="2392553" y="0"/>
                </a:lnTo>
                <a:lnTo>
                  <a:pt x="0" y="0"/>
                </a:lnTo>
                <a:lnTo>
                  <a:pt x="0" y="1078750"/>
                </a:lnTo>
                <a:lnTo>
                  <a:pt x="38100" y="1078750"/>
                </a:lnTo>
                <a:lnTo>
                  <a:pt x="38100" y="38100"/>
                </a:lnTo>
                <a:lnTo>
                  <a:pt x="2354453" y="38100"/>
                </a:lnTo>
                <a:lnTo>
                  <a:pt x="2354453" y="133350"/>
                </a:lnTo>
                <a:lnTo>
                  <a:pt x="2316353" y="133350"/>
                </a:lnTo>
                <a:lnTo>
                  <a:pt x="2373503" y="247650"/>
                </a:lnTo>
                <a:lnTo>
                  <a:pt x="2421128" y="152400"/>
                </a:lnTo>
                <a:lnTo>
                  <a:pt x="2430653" y="133350"/>
                </a:lnTo>
                <a:close/>
              </a:path>
              <a:path w="3073400" h="2212975">
                <a:moveTo>
                  <a:pt x="3073235" y="1539671"/>
                </a:moveTo>
                <a:lnTo>
                  <a:pt x="2948876" y="1569085"/>
                </a:lnTo>
                <a:lnTo>
                  <a:pt x="2973298" y="1598333"/>
                </a:lnTo>
                <a:lnTo>
                  <a:pt x="2552204" y="1950085"/>
                </a:lnTo>
                <a:lnTo>
                  <a:pt x="2576639" y="1979320"/>
                </a:lnTo>
                <a:lnTo>
                  <a:pt x="2997720" y="1627581"/>
                </a:lnTo>
                <a:lnTo>
                  <a:pt x="3022155" y="1656816"/>
                </a:lnTo>
                <a:lnTo>
                  <a:pt x="3052978" y="1586115"/>
                </a:lnTo>
                <a:lnTo>
                  <a:pt x="3073235" y="1539671"/>
                </a:lnTo>
                <a:close/>
              </a:path>
              <a:path w="3073400" h="2212975">
                <a:moveTo>
                  <a:pt x="3073235" y="1157833"/>
                </a:moveTo>
                <a:lnTo>
                  <a:pt x="3053537" y="1109078"/>
                </a:lnTo>
                <a:lnTo>
                  <a:pt x="3025381" y="1039342"/>
                </a:lnTo>
                <a:lnTo>
                  <a:pt x="3000159" y="1067904"/>
                </a:lnTo>
                <a:lnTo>
                  <a:pt x="2577033" y="694283"/>
                </a:lnTo>
                <a:lnTo>
                  <a:pt x="2551811" y="722845"/>
                </a:lnTo>
                <a:lnTo>
                  <a:pt x="2974937" y="1096467"/>
                </a:lnTo>
                <a:lnTo>
                  <a:pt x="2949727" y="1125016"/>
                </a:lnTo>
                <a:lnTo>
                  <a:pt x="3073235" y="11578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484139" y="2178811"/>
            <a:ext cx="6048375" cy="11290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5600" marR="5080" indent="-342900" algn="just">
              <a:lnSpc>
                <a:spcPct val="100800"/>
              </a:lnSpc>
              <a:spcBef>
                <a:spcPts val="7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Given the problem-solution graph in Figure </a:t>
            </a:r>
            <a:r>
              <a:rPr sz="2400" dirty="0">
                <a:latin typeface="Times New Roman"/>
                <a:cs typeface="Times New Roman"/>
              </a:rPr>
              <a:t>1,  </a:t>
            </a:r>
            <a:r>
              <a:rPr sz="2400" spc="-5" dirty="0">
                <a:latin typeface="Times New Roman"/>
                <a:cs typeface="Times New Roman"/>
              </a:rPr>
              <a:t>perform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depth-first 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search </a:t>
            </a:r>
            <a:r>
              <a:rPr sz="2400" spc="-5" dirty="0">
                <a:latin typeface="Times New Roman"/>
                <a:cs typeface="Times New Roman"/>
              </a:rPr>
              <a:t>starting </a:t>
            </a:r>
            <a:r>
              <a:rPr sz="2400" dirty="0">
                <a:latin typeface="Times New Roman"/>
                <a:cs typeface="Times New Roman"/>
              </a:rPr>
              <a:t>from </a:t>
            </a:r>
            <a:r>
              <a:rPr sz="2400" spc="-5" dirty="0">
                <a:latin typeface="Times New Roman"/>
                <a:cs typeface="Times New Roman"/>
              </a:rPr>
              <a:t>the  initial state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and ending in the goal state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F.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21" name="object 21"/>
          <p:cNvSpPr txBox="1"/>
          <p:nvPr/>
        </p:nvSpPr>
        <p:spPr>
          <a:xfrm>
            <a:off x="5484139" y="3638804"/>
            <a:ext cx="6210300" cy="11290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5600" marR="5080" indent="-342900">
              <a:lnSpc>
                <a:spcPct val="100800"/>
              </a:lnSpc>
              <a:spcBef>
                <a:spcPts val="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If </a:t>
            </a:r>
            <a:r>
              <a:rPr sz="2400" spc="-5" dirty="0">
                <a:latin typeface="Times New Roman"/>
                <a:cs typeface="Times New Roman"/>
              </a:rPr>
              <a:t>there are two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more nodes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the same  preference, then handle the nodes in </a:t>
            </a:r>
            <a:r>
              <a:rPr sz="2400" spc="-5" dirty="0">
                <a:solidFill>
                  <a:srgbClr val="2F5597"/>
                </a:solidFill>
                <a:latin typeface="Times New Roman"/>
                <a:cs typeface="Times New Roman"/>
              </a:rPr>
              <a:t>descending  (rather than ascending) alphabetical</a:t>
            </a:r>
            <a:r>
              <a:rPr sz="2400" spc="5" dirty="0">
                <a:solidFill>
                  <a:srgbClr val="2F5597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F5597"/>
                </a:solidFill>
                <a:latin typeface="Times New Roman"/>
                <a:cs typeface="Times New Roman"/>
              </a:rPr>
              <a:t>order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53717" y="4628388"/>
            <a:ext cx="9309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/>
                <a:cs typeface="Times New Roman"/>
              </a:rPr>
              <a:t>Figure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5"/>
            <a:ext cx="26850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5" dirty="0">
                <a:uFill>
                  <a:solidFill>
                    <a:srgbClr val="D0CECE"/>
                  </a:solidFill>
                </a:uFill>
              </a:rPr>
              <a:t>Exercise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 2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7"/>
            <a:ext cx="155575" cy="1092835"/>
            <a:chOff x="-6350" y="152577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7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79995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79995"/>
                  </a:lnTo>
                  <a:lnTo>
                    <a:pt x="0" y="1079995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7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450719" y="411408"/>
            <a:ext cx="3460750" cy="6631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2292" y="3353015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87516" y="3444989"/>
            <a:ext cx="208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472C4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40124" y="2521914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112489" y="2612885"/>
            <a:ext cx="194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36988" y="4159884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109352" y="4252708"/>
            <a:ext cx="194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76736" y="2521914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541963" y="2612885"/>
            <a:ext cx="208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76736" y="4159884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556250" y="4252708"/>
            <a:ext cx="180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67387" y="3353015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54038" y="3444989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273235" y="2274264"/>
            <a:ext cx="3073400" cy="2212975"/>
          </a:xfrm>
          <a:custGeom>
            <a:avLst/>
            <a:gdLst/>
            <a:ahLst/>
            <a:cxnLst/>
            <a:rect l="l" t="t" r="r" b="b"/>
            <a:pathLst>
              <a:path w="3073400" h="2212975">
                <a:moveTo>
                  <a:pt x="742835" y="1964702"/>
                </a:moveTo>
                <a:lnTo>
                  <a:pt x="722210" y="1920201"/>
                </a:lnTo>
                <a:lnTo>
                  <a:pt x="689114" y="1848751"/>
                </a:lnTo>
                <a:lnTo>
                  <a:pt x="665353" y="1878545"/>
                </a:lnTo>
                <a:lnTo>
                  <a:pt x="221843" y="1524787"/>
                </a:lnTo>
                <a:lnTo>
                  <a:pt x="198094" y="1554568"/>
                </a:lnTo>
                <a:lnTo>
                  <a:pt x="641591" y="1908327"/>
                </a:lnTo>
                <a:lnTo>
                  <a:pt x="617842" y="1938108"/>
                </a:lnTo>
                <a:lnTo>
                  <a:pt x="742835" y="1964702"/>
                </a:lnTo>
                <a:close/>
              </a:path>
              <a:path w="3073400" h="2212975">
                <a:moveTo>
                  <a:pt x="745959" y="708571"/>
                </a:moveTo>
                <a:lnTo>
                  <a:pt x="621652" y="738187"/>
                </a:lnTo>
                <a:lnTo>
                  <a:pt x="646125" y="767397"/>
                </a:lnTo>
                <a:lnTo>
                  <a:pt x="197726" y="1143241"/>
                </a:lnTo>
                <a:lnTo>
                  <a:pt x="222211" y="1172438"/>
                </a:lnTo>
                <a:lnTo>
                  <a:pt x="670598" y="796594"/>
                </a:lnTo>
                <a:lnTo>
                  <a:pt x="695083" y="825792"/>
                </a:lnTo>
                <a:lnTo>
                  <a:pt x="725741" y="755154"/>
                </a:lnTo>
                <a:lnTo>
                  <a:pt x="745959" y="708571"/>
                </a:lnTo>
                <a:close/>
              </a:path>
              <a:path w="3073400" h="2212975">
                <a:moveTo>
                  <a:pt x="991222" y="1771484"/>
                </a:moveTo>
                <a:lnTo>
                  <a:pt x="953122" y="1771396"/>
                </a:lnTo>
                <a:lnTo>
                  <a:pt x="953122" y="1771269"/>
                </a:lnTo>
                <a:lnTo>
                  <a:pt x="955941" y="787704"/>
                </a:lnTo>
                <a:lnTo>
                  <a:pt x="917829" y="787590"/>
                </a:lnTo>
                <a:lnTo>
                  <a:pt x="915022" y="1771269"/>
                </a:lnTo>
                <a:lnTo>
                  <a:pt x="914971" y="1790319"/>
                </a:lnTo>
                <a:lnTo>
                  <a:pt x="915022" y="1771269"/>
                </a:lnTo>
                <a:lnTo>
                  <a:pt x="876922" y="1771154"/>
                </a:lnTo>
                <a:lnTo>
                  <a:pt x="933754" y="1885619"/>
                </a:lnTo>
                <a:lnTo>
                  <a:pt x="981671" y="1790433"/>
                </a:lnTo>
                <a:lnTo>
                  <a:pt x="991222" y="1771484"/>
                </a:lnTo>
                <a:close/>
              </a:path>
              <a:path w="3073400" h="2212975">
                <a:moveTo>
                  <a:pt x="2103501" y="2155621"/>
                </a:moveTo>
                <a:lnTo>
                  <a:pt x="2065401" y="2136571"/>
                </a:lnTo>
                <a:lnTo>
                  <a:pt x="1989201" y="2098471"/>
                </a:lnTo>
                <a:lnTo>
                  <a:pt x="1989201" y="2136571"/>
                </a:lnTo>
                <a:lnTo>
                  <a:pt x="1203756" y="2136571"/>
                </a:lnTo>
                <a:lnTo>
                  <a:pt x="1203756" y="2174671"/>
                </a:lnTo>
                <a:lnTo>
                  <a:pt x="1989201" y="2174671"/>
                </a:lnTo>
                <a:lnTo>
                  <a:pt x="1989201" y="2212771"/>
                </a:lnTo>
                <a:lnTo>
                  <a:pt x="2065401" y="2174671"/>
                </a:lnTo>
                <a:lnTo>
                  <a:pt x="2103501" y="2155621"/>
                </a:lnTo>
                <a:close/>
              </a:path>
              <a:path w="3073400" h="2212975">
                <a:moveTo>
                  <a:pt x="2103501" y="517652"/>
                </a:moveTo>
                <a:lnTo>
                  <a:pt x="2065401" y="498602"/>
                </a:lnTo>
                <a:lnTo>
                  <a:pt x="1989201" y="460502"/>
                </a:lnTo>
                <a:lnTo>
                  <a:pt x="1989201" y="498602"/>
                </a:lnTo>
                <a:lnTo>
                  <a:pt x="1206881" y="498602"/>
                </a:lnTo>
                <a:lnTo>
                  <a:pt x="1206881" y="536702"/>
                </a:lnTo>
                <a:lnTo>
                  <a:pt x="1989201" y="536702"/>
                </a:lnTo>
                <a:lnTo>
                  <a:pt x="1989201" y="574802"/>
                </a:lnTo>
                <a:lnTo>
                  <a:pt x="2065401" y="536702"/>
                </a:lnTo>
                <a:lnTo>
                  <a:pt x="2103501" y="517652"/>
                </a:lnTo>
                <a:close/>
              </a:path>
              <a:path w="3073400" h="2212975">
                <a:moveTo>
                  <a:pt x="2197176" y="1952447"/>
                </a:moveTo>
                <a:lnTo>
                  <a:pt x="1215885" y="783856"/>
                </a:lnTo>
                <a:lnTo>
                  <a:pt x="1233258" y="769264"/>
                </a:lnTo>
                <a:lnTo>
                  <a:pt x="1245069" y="759345"/>
                </a:lnTo>
                <a:lnTo>
                  <a:pt x="1127798" y="708571"/>
                </a:lnTo>
                <a:lnTo>
                  <a:pt x="1157541" y="832853"/>
                </a:lnTo>
                <a:lnTo>
                  <a:pt x="1186713" y="808355"/>
                </a:lnTo>
                <a:lnTo>
                  <a:pt x="2167991" y="1976958"/>
                </a:lnTo>
                <a:lnTo>
                  <a:pt x="2197176" y="1952447"/>
                </a:lnTo>
                <a:close/>
              </a:path>
              <a:path w="3073400" h="2212975">
                <a:moveTo>
                  <a:pt x="2430653" y="1771319"/>
                </a:moveTo>
                <a:lnTo>
                  <a:pt x="2392553" y="1771319"/>
                </a:lnTo>
                <a:lnTo>
                  <a:pt x="2392553" y="787641"/>
                </a:lnTo>
                <a:lnTo>
                  <a:pt x="2354453" y="787641"/>
                </a:lnTo>
                <a:lnTo>
                  <a:pt x="2354453" y="1771319"/>
                </a:lnTo>
                <a:lnTo>
                  <a:pt x="2316353" y="1771319"/>
                </a:lnTo>
                <a:lnTo>
                  <a:pt x="2373503" y="1885619"/>
                </a:lnTo>
                <a:lnTo>
                  <a:pt x="2421128" y="1790369"/>
                </a:lnTo>
                <a:lnTo>
                  <a:pt x="2430653" y="1771319"/>
                </a:lnTo>
                <a:close/>
              </a:path>
              <a:path w="3073400" h="2212975">
                <a:moveTo>
                  <a:pt x="2430653" y="133350"/>
                </a:moveTo>
                <a:lnTo>
                  <a:pt x="2392553" y="133350"/>
                </a:lnTo>
                <a:lnTo>
                  <a:pt x="2392553" y="38100"/>
                </a:lnTo>
                <a:lnTo>
                  <a:pt x="2392553" y="19050"/>
                </a:lnTo>
                <a:lnTo>
                  <a:pt x="2392553" y="0"/>
                </a:lnTo>
                <a:lnTo>
                  <a:pt x="0" y="0"/>
                </a:lnTo>
                <a:lnTo>
                  <a:pt x="0" y="1078750"/>
                </a:lnTo>
                <a:lnTo>
                  <a:pt x="38100" y="1078750"/>
                </a:lnTo>
                <a:lnTo>
                  <a:pt x="38100" y="38100"/>
                </a:lnTo>
                <a:lnTo>
                  <a:pt x="2354453" y="38100"/>
                </a:lnTo>
                <a:lnTo>
                  <a:pt x="2354453" y="133350"/>
                </a:lnTo>
                <a:lnTo>
                  <a:pt x="2316353" y="133350"/>
                </a:lnTo>
                <a:lnTo>
                  <a:pt x="2373503" y="247650"/>
                </a:lnTo>
                <a:lnTo>
                  <a:pt x="2421128" y="152400"/>
                </a:lnTo>
                <a:lnTo>
                  <a:pt x="2430653" y="133350"/>
                </a:lnTo>
                <a:close/>
              </a:path>
              <a:path w="3073400" h="2212975">
                <a:moveTo>
                  <a:pt x="3073235" y="1539671"/>
                </a:moveTo>
                <a:lnTo>
                  <a:pt x="2948876" y="1569085"/>
                </a:lnTo>
                <a:lnTo>
                  <a:pt x="2973298" y="1598333"/>
                </a:lnTo>
                <a:lnTo>
                  <a:pt x="2552204" y="1950085"/>
                </a:lnTo>
                <a:lnTo>
                  <a:pt x="2576639" y="1979320"/>
                </a:lnTo>
                <a:lnTo>
                  <a:pt x="2997720" y="1627581"/>
                </a:lnTo>
                <a:lnTo>
                  <a:pt x="3022155" y="1656816"/>
                </a:lnTo>
                <a:lnTo>
                  <a:pt x="3052978" y="1586115"/>
                </a:lnTo>
                <a:lnTo>
                  <a:pt x="3073235" y="1539671"/>
                </a:lnTo>
                <a:close/>
              </a:path>
              <a:path w="3073400" h="2212975">
                <a:moveTo>
                  <a:pt x="3073235" y="1157833"/>
                </a:moveTo>
                <a:lnTo>
                  <a:pt x="3053537" y="1109078"/>
                </a:lnTo>
                <a:lnTo>
                  <a:pt x="3025381" y="1039342"/>
                </a:lnTo>
                <a:lnTo>
                  <a:pt x="3000159" y="1067904"/>
                </a:lnTo>
                <a:lnTo>
                  <a:pt x="2577033" y="694283"/>
                </a:lnTo>
                <a:lnTo>
                  <a:pt x="2551811" y="722845"/>
                </a:lnTo>
                <a:lnTo>
                  <a:pt x="2974937" y="1096467"/>
                </a:lnTo>
                <a:lnTo>
                  <a:pt x="2949727" y="1125016"/>
                </a:lnTo>
                <a:lnTo>
                  <a:pt x="3073235" y="11578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542729" y="1453519"/>
            <a:ext cx="27965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De</a:t>
            </a:r>
            <a:r>
              <a:rPr lang="en-US" sz="2400" b="1" spc="-5" dirty="0">
                <a:latin typeface="Times New Roman"/>
                <a:cs typeface="Times New Roman"/>
              </a:rPr>
              <a:t>p</a:t>
            </a:r>
            <a:r>
              <a:rPr sz="2400" b="1" spc="-5" dirty="0">
                <a:latin typeface="Times New Roman"/>
                <a:cs typeface="Times New Roman"/>
              </a:rPr>
              <a:t>th first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search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61625" y="4926317"/>
            <a:ext cx="9309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/>
                <a:cs typeface="Times New Roman"/>
              </a:rPr>
              <a:t>Figure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804389" y="2150215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969616" y="2241109"/>
            <a:ext cx="208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472C4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804389" y="3149095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969616" y="3240852"/>
            <a:ext cx="208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793339" y="4142362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979992" y="4234501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F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339269" y="5715000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511634" y="5806757"/>
            <a:ext cx="194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640830" y="4926317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813194" y="5018723"/>
            <a:ext cx="194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41" name="object 34">
            <a:extLst>
              <a:ext uri="{FF2B5EF4-FFF2-40B4-BE49-F238E27FC236}">
                <a16:creationId xmlns:a16="http://schemas.microsoft.com/office/drawing/2014/main" id="{EEE94EEC-F891-4B72-B42F-CA9FE003C9B9}"/>
              </a:ext>
            </a:extLst>
          </p:cNvPr>
          <p:cNvSpPr/>
          <p:nvPr/>
        </p:nvSpPr>
        <p:spPr>
          <a:xfrm>
            <a:off x="7847439" y="4140221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000"/>
                </a:moveTo>
                <a:lnTo>
                  <a:pt x="4350" y="221467"/>
                </a:lnTo>
                <a:lnTo>
                  <a:pt x="16891" y="175788"/>
                </a:lnTo>
                <a:lnTo>
                  <a:pt x="36862" y="133725"/>
                </a:lnTo>
                <a:lnTo>
                  <a:pt x="63500" y="96042"/>
                </a:lnTo>
                <a:lnTo>
                  <a:pt x="96042" y="63500"/>
                </a:lnTo>
                <a:lnTo>
                  <a:pt x="133725" y="36862"/>
                </a:lnTo>
                <a:lnTo>
                  <a:pt x="175788" y="16891"/>
                </a:lnTo>
                <a:lnTo>
                  <a:pt x="221467" y="4350"/>
                </a:lnTo>
                <a:lnTo>
                  <a:pt x="270000" y="0"/>
                </a:lnTo>
                <a:lnTo>
                  <a:pt x="318533" y="4350"/>
                </a:lnTo>
                <a:lnTo>
                  <a:pt x="364212" y="16891"/>
                </a:lnTo>
                <a:lnTo>
                  <a:pt x="406274" y="36862"/>
                </a:lnTo>
                <a:lnTo>
                  <a:pt x="443957" y="63500"/>
                </a:lnTo>
                <a:lnTo>
                  <a:pt x="476499" y="96042"/>
                </a:lnTo>
                <a:lnTo>
                  <a:pt x="503137" y="133725"/>
                </a:lnTo>
                <a:lnTo>
                  <a:pt x="523108" y="175788"/>
                </a:lnTo>
                <a:lnTo>
                  <a:pt x="535650" y="221467"/>
                </a:lnTo>
                <a:lnTo>
                  <a:pt x="540000" y="270000"/>
                </a:lnTo>
                <a:lnTo>
                  <a:pt x="535650" y="318533"/>
                </a:lnTo>
                <a:lnTo>
                  <a:pt x="523108" y="364212"/>
                </a:lnTo>
                <a:lnTo>
                  <a:pt x="503137" y="406274"/>
                </a:lnTo>
                <a:lnTo>
                  <a:pt x="476499" y="443957"/>
                </a:lnTo>
                <a:lnTo>
                  <a:pt x="443957" y="476499"/>
                </a:lnTo>
                <a:lnTo>
                  <a:pt x="406274" y="503137"/>
                </a:lnTo>
                <a:lnTo>
                  <a:pt x="364212" y="523108"/>
                </a:lnTo>
                <a:lnTo>
                  <a:pt x="318533" y="535650"/>
                </a:lnTo>
                <a:lnTo>
                  <a:pt x="270000" y="540000"/>
                </a:lnTo>
                <a:lnTo>
                  <a:pt x="221467" y="535650"/>
                </a:lnTo>
                <a:lnTo>
                  <a:pt x="175788" y="523108"/>
                </a:lnTo>
                <a:lnTo>
                  <a:pt x="133725" y="503137"/>
                </a:lnTo>
                <a:lnTo>
                  <a:pt x="96042" y="476499"/>
                </a:lnTo>
                <a:lnTo>
                  <a:pt x="63500" y="443957"/>
                </a:lnTo>
                <a:lnTo>
                  <a:pt x="36862" y="406274"/>
                </a:lnTo>
                <a:lnTo>
                  <a:pt x="16891" y="364212"/>
                </a:lnTo>
                <a:lnTo>
                  <a:pt x="4350" y="318533"/>
                </a:lnTo>
                <a:lnTo>
                  <a:pt x="0" y="270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5">
            <a:extLst>
              <a:ext uri="{FF2B5EF4-FFF2-40B4-BE49-F238E27FC236}">
                <a16:creationId xmlns:a16="http://schemas.microsoft.com/office/drawing/2014/main" id="{EC4319A0-5DE7-4F38-997F-0701DB3A8E07}"/>
              </a:ext>
            </a:extLst>
          </p:cNvPr>
          <p:cNvSpPr txBox="1"/>
          <p:nvPr/>
        </p:nvSpPr>
        <p:spPr>
          <a:xfrm>
            <a:off x="8019803" y="4232627"/>
            <a:ext cx="194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/>
                <a:cs typeface="Times New Roman"/>
              </a:rPr>
              <a:t>E</a:t>
            </a:r>
            <a:endParaRPr sz="2000" dirty="0">
              <a:latin typeface="Times New Roman"/>
              <a:cs typeface="Times New Roman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DEFB757C-B4C9-49B5-B73B-721636C5796D}"/>
              </a:ext>
            </a:extLst>
          </p:cNvPr>
          <p:cNvCxnSpPr>
            <a:cxnSpLocks/>
          </p:cNvCxnSpPr>
          <p:nvPr/>
        </p:nvCxnSpPr>
        <p:spPr>
          <a:xfrm>
            <a:off x="7082151" y="2706319"/>
            <a:ext cx="0" cy="45259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6E6CAF6C-9A39-4DC8-A45E-51C72AC41EBB}"/>
              </a:ext>
            </a:extLst>
          </p:cNvPr>
          <p:cNvCxnSpPr>
            <a:cxnSpLocks/>
          </p:cNvCxnSpPr>
          <p:nvPr/>
        </p:nvCxnSpPr>
        <p:spPr>
          <a:xfrm>
            <a:off x="7069546" y="3701024"/>
            <a:ext cx="0" cy="45259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457FAF27-2A36-443E-98B1-4EEEFF0C4263}"/>
              </a:ext>
            </a:extLst>
          </p:cNvPr>
          <p:cNvCxnSpPr>
            <a:cxnSpLocks/>
          </p:cNvCxnSpPr>
          <p:nvPr/>
        </p:nvCxnSpPr>
        <p:spPr>
          <a:xfrm>
            <a:off x="7289451" y="3608528"/>
            <a:ext cx="630900" cy="62409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CC4BB0F6-9E6C-446B-BAE9-0EBC9AA27D29}"/>
              </a:ext>
            </a:extLst>
          </p:cNvPr>
          <p:cNvCxnSpPr>
            <a:cxnSpLocks/>
          </p:cNvCxnSpPr>
          <p:nvPr/>
        </p:nvCxnSpPr>
        <p:spPr>
          <a:xfrm>
            <a:off x="8314912" y="4614871"/>
            <a:ext cx="398667" cy="39436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34E46E7B-E32B-4A7A-86C3-B4CDE69E3A19}"/>
              </a:ext>
            </a:extLst>
          </p:cNvPr>
          <p:cNvCxnSpPr>
            <a:cxnSpLocks/>
          </p:cNvCxnSpPr>
          <p:nvPr/>
        </p:nvCxnSpPr>
        <p:spPr>
          <a:xfrm>
            <a:off x="9070904" y="5403554"/>
            <a:ext cx="378676" cy="374594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CB3111DE-EAC4-47E0-81F2-58C40E3208C1}"/>
              </a:ext>
            </a:extLst>
          </p:cNvPr>
          <p:cNvCxnSpPr>
            <a:cxnSpLocks/>
          </p:cNvCxnSpPr>
          <p:nvPr/>
        </p:nvCxnSpPr>
        <p:spPr>
          <a:xfrm flipH="1">
            <a:off x="7333650" y="4416715"/>
            <a:ext cx="52731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9E4B5F8-9BAA-4793-9137-ABD74F03E027}"/>
              </a:ext>
            </a:extLst>
          </p:cNvPr>
          <p:cNvCxnSpPr>
            <a:cxnSpLocks/>
          </p:cNvCxnSpPr>
          <p:nvPr/>
        </p:nvCxnSpPr>
        <p:spPr>
          <a:xfrm>
            <a:off x="8907320" y="3498554"/>
            <a:ext cx="0" cy="1427763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0617ECCB-A562-4554-AD2C-FA51E3626ACF}"/>
              </a:ext>
            </a:extLst>
          </p:cNvPr>
          <p:cNvCxnSpPr>
            <a:cxnSpLocks/>
          </p:cNvCxnSpPr>
          <p:nvPr/>
        </p:nvCxnSpPr>
        <p:spPr>
          <a:xfrm flipH="1">
            <a:off x="7344775" y="3443524"/>
            <a:ext cx="156254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E6865B28-DB8D-45D5-88F3-D7BB86121320}"/>
              </a:ext>
            </a:extLst>
          </p:cNvPr>
          <p:cNvCxnSpPr>
            <a:cxnSpLocks/>
          </p:cNvCxnSpPr>
          <p:nvPr/>
        </p:nvCxnSpPr>
        <p:spPr>
          <a:xfrm flipH="1">
            <a:off x="8080306" y="5958271"/>
            <a:ext cx="1258963" cy="0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044DC08A-A575-40EE-BD83-C0D124B67C28}"/>
              </a:ext>
            </a:extLst>
          </p:cNvPr>
          <p:cNvCxnSpPr>
            <a:cxnSpLocks/>
          </p:cNvCxnSpPr>
          <p:nvPr/>
        </p:nvCxnSpPr>
        <p:spPr>
          <a:xfrm flipV="1">
            <a:off x="8105419" y="4700475"/>
            <a:ext cx="0" cy="116027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29898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5" dirty="0">
                <a:uFill>
                  <a:solidFill>
                    <a:srgbClr val="D0CECE"/>
                  </a:solidFill>
                </a:uFill>
              </a:rPr>
              <a:t>Exercise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 3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16</a:t>
            </a:fld>
            <a:endParaRPr spc="-60" dirty="0"/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EFFAE900-A52E-4993-AAAB-DE76343CB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79306"/>
            <a:ext cx="2437713" cy="2402638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FE6FA188-FCD6-488F-934D-9A377ABB4B0E}"/>
              </a:ext>
            </a:extLst>
          </p:cNvPr>
          <p:cNvSpPr txBox="1"/>
          <p:nvPr/>
        </p:nvSpPr>
        <p:spPr>
          <a:xfrm>
            <a:off x="366150" y="1208607"/>
            <a:ext cx="114596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4 queens problem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a 4 x 4 chessboard with 4 queens. The goal is to place the 4 queens on the chessboard such that no two queens can attack each other. Each queen attacks anything in the same row, in the same column, or in the same diagonal.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E6D1A8EA-DED5-4D34-90CF-FE7E8ED1E514}"/>
                  </a:ext>
                </a:extLst>
              </p:cNvPr>
              <p:cNvSpPr txBox="1"/>
              <p:nvPr/>
            </p:nvSpPr>
            <p:spPr>
              <a:xfrm>
                <a:off x="2514600" y="2743200"/>
                <a:ext cx="9677400" cy="3785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 sz="2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zh-CN" dirty="0"/>
                  <a:t>• </a:t>
                </a:r>
                <a:r>
                  <a:rPr lang="en-US" altLang="zh-CN" b="1" dirty="0"/>
                  <a:t>State: </a:t>
                </a:r>
                <a:r>
                  <a:rPr lang="en-US" altLang="zh-CN" dirty="0"/>
                  <a:t>4 queens on the board. One queen per column.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)</a:t>
                </a:r>
              </a:p>
              <a:p>
                <a:r>
                  <a:rPr lang="en-US" altLang="zh-CN" dirty="0"/>
                  <a:t>– Variables: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is the </a:t>
                </a:r>
                <a:r>
                  <a:rPr lang="en-US" altLang="zh-CN" b="1" dirty="0"/>
                  <a:t>row</a:t>
                </a:r>
                <a:r>
                  <a:rPr lang="en-US" altLang="zh-CN" dirty="0"/>
                  <a:t> position of the queen in column </a:t>
                </a:r>
                <a:r>
                  <a:rPr lang="en-US" altLang="zh-CN" i="1" dirty="0" err="1"/>
                  <a:t>i</a:t>
                </a:r>
                <a:r>
                  <a:rPr lang="en-US" altLang="zh-CN" dirty="0"/>
                  <a:t>. Assume that there is one queen per column. </a:t>
                </a:r>
              </a:p>
              <a:p>
                <a:r>
                  <a:rPr lang="en-US" altLang="zh-CN" dirty="0"/>
                  <a:t>– Domain for each variable: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∈ {0, 1, 2, 3}, ∀</a:t>
                </a:r>
                <a:r>
                  <a:rPr lang="en-US" altLang="zh-CN" i="1" dirty="0" err="1"/>
                  <a:t>i</a:t>
                </a:r>
                <a:r>
                  <a:rPr lang="en-US" altLang="zh-CN" dirty="0"/>
                  <a:t>. </a:t>
                </a:r>
              </a:p>
              <a:p>
                <a:r>
                  <a:rPr lang="en-US" altLang="zh-CN" dirty="0"/>
                  <a:t>• </a:t>
                </a:r>
                <a:r>
                  <a:rPr lang="en-US" altLang="zh-CN" b="1" dirty="0"/>
                  <a:t>Initial state: </a:t>
                </a:r>
                <a:r>
                  <a:rPr lang="en-US" altLang="zh-CN" dirty="0"/>
                  <a:t>a random state.</a:t>
                </a:r>
              </a:p>
              <a:p>
                <a:r>
                  <a:rPr lang="en-US" altLang="zh-CN" dirty="0"/>
                  <a:t>• </a:t>
                </a:r>
                <a:r>
                  <a:rPr lang="en-US" altLang="zh-CN" b="1" dirty="0"/>
                  <a:t>Goal state: </a:t>
                </a:r>
                <a:r>
                  <a:rPr lang="en-US" altLang="zh-CN" dirty="0"/>
                  <a:t>4 queens on the board. No pair of queens are attacking each other. </a:t>
                </a:r>
              </a:p>
              <a:p>
                <a:r>
                  <a:rPr lang="en-US" altLang="zh-CN" dirty="0"/>
                  <a:t>•</a:t>
                </a:r>
                <a:r>
                  <a:rPr lang="en-US" altLang="zh-CN" b="1" dirty="0"/>
                  <a:t> Generation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of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a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solution: </a:t>
                </a:r>
                <a:r>
                  <a:rPr lang="en-US" altLang="zh-CN" dirty="0"/>
                  <a:t>Swap the row positions of two queens. </a:t>
                </a:r>
              </a:p>
              <a:p>
                <a:r>
                  <a:rPr lang="en-US" altLang="zh-CN" dirty="0"/>
                  <a:t>• </a:t>
                </a:r>
                <a:r>
                  <a:rPr lang="en-US" altLang="zh-CN" b="1" dirty="0"/>
                  <a:t>Objective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function: </a:t>
                </a:r>
                <a:r>
                  <a:rPr lang="en-US" altLang="zh-CN" dirty="0"/>
                  <a:t>The number of pairs of queens attacking each other, directly or indirectly.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E6D1A8EA-DED5-4D34-90CF-FE7E8ED1E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2743200"/>
                <a:ext cx="9677400" cy="3785652"/>
              </a:xfrm>
              <a:prstGeom prst="rect">
                <a:avLst/>
              </a:prstGeom>
              <a:blipFill>
                <a:blip r:embed="rId5"/>
                <a:stretch>
                  <a:fillRect l="-1048" t="-1338" b="-2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543418" y="5681944"/>
            <a:ext cx="12234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/>
              <a:t>(2,0,3,1)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25326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5" dirty="0">
                <a:uFill>
                  <a:solidFill>
                    <a:srgbClr val="D0CECE"/>
                  </a:solidFill>
                </a:uFill>
              </a:rPr>
              <a:t>Exercise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 3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17</a:t>
            </a:fld>
            <a:endParaRPr spc="-6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036C1BD-A466-4836-9FFE-C240E463EE27}"/>
              </a:ext>
            </a:extLst>
          </p:cNvPr>
          <p:cNvSpPr txBox="1"/>
          <p:nvPr/>
        </p:nvSpPr>
        <p:spPr>
          <a:xfrm>
            <a:off x="303464" y="2715048"/>
            <a:ext cx="11704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swap the row positions of two queens.</a:t>
            </a:r>
          </a:p>
          <a:p>
            <a:pPr marL="342900" indent="-342900">
              <a:buFont typeface="Arial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multiple solutions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the same objective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value, select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the pair of queens swapped has the smallest subscript/column number.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BD4EF3DF-9658-4A5D-A316-371DB46C3C9C}"/>
                  </a:ext>
                </a:extLst>
              </p:cNvPr>
              <p:cNvSpPr txBox="1"/>
              <p:nvPr/>
            </p:nvSpPr>
            <p:spPr>
              <a:xfrm>
                <a:off x="335132" y="1482384"/>
                <a:ext cx="1152173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 sz="2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zh-CN" dirty="0"/>
                  <a:t>Start with the 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 = 0. Show the steps of executing the hill climbing algorithm until it terminates.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D4EF3DF-9658-4A5D-A316-371DB46C3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32" y="1482384"/>
                <a:ext cx="11521736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847" t="-5882" r="-106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1540F2FA-08F0-4B75-87D0-34749BF59DFF}"/>
                  </a:ext>
                </a:extLst>
              </p:cNvPr>
              <p:cNvSpPr txBox="1"/>
              <p:nvPr/>
            </p:nvSpPr>
            <p:spPr>
              <a:xfrm>
                <a:off x="609600" y="3805030"/>
                <a:ext cx="1028700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example, when we can swap either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we will swap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When we can swap either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we will swap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540F2FA-08F0-4B75-87D0-34749BF59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805030"/>
                <a:ext cx="10287000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889" t="-5839" r="-474" b="-15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13824AEA-FB96-4795-390B-2137BB0A4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755746"/>
              </p:ext>
            </p:extLst>
          </p:nvPr>
        </p:nvGraphicFramePr>
        <p:xfrm>
          <a:off x="8915400" y="5010647"/>
          <a:ext cx="152400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142258179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21357826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6798989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36510409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7073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82269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20163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809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2EB02F-306A-C13D-ED64-D2AE4069C37D}"/>
                  </a:ext>
                </a:extLst>
              </p:cNvPr>
              <p:cNvSpPr txBox="1"/>
              <p:nvPr/>
            </p:nvSpPr>
            <p:spPr>
              <a:xfrm>
                <a:off x="8839200" y="4642258"/>
                <a:ext cx="17526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2EB02F-306A-C13D-ED64-D2AE4069C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0" y="4642258"/>
                <a:ext cx="17526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AEB9D61-1BFD-F644-C751-D983380E9AF7}"/>
              </a:ext>
            </a:extLst>
          </p:cNvPr>
          <p:cNvSpPr txBox="1"/>
          <p:nvPr/>
        </p:nvSpPr>
        <p:spPr>
          <a:xfrm>
            <a:off x="8569036" y="4870326"/>
            <a:ext cx="308264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0</a:t>
            </a:r>
          </a:p>
          <a:p>
            <a:pPr>
              <a:lnSpc>
                <a:spcPct val="150000"/>
              </a:lnSpc>
            </a:pPr>
            <a:r>
              <a:rPr lang="en-US" dirty="0"/>
              <a:t>1</a:t>
            </a:r>
          </a:p>
          <a:p>
            <a:pPr>
              <a:lnSpc>
                <a:spcPct val="150000"/>
              </a:lnSpc>
            </a:pPr>
            <a:r>
              <a:rPr lang="en-US" dirty="0"/>
              <a:t>2</a:t>
            </a:r>
          </a:p>
          <a:p>
            <a:pPr>
              <a:lnSpc>
                <a:spcPct val="150000"/>
              </a:lnSpc>
            </a:pPr>
            <a:r>
              <a:rPr lang="en-US" dirty="0"/>
              <a:t>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29898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5" dirty="0">
                <a:uFill>
                  <a:solidFill>
                    <a:srgbClr val="D0CECE"/>
                  </a:solidFill>
                </a:uFill>
              </a:rPr>
              <a:t>Exercise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 3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18</a:t>
            </a:fld>
            <a:endParaRPr spc="-6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3D888BB-613D-4AE0-803B-6077E4F77C26}"/>
                  </a:ext>
                </a:extLst>
              </p:cNvPr>
              <p:cNvSpPr txBox="1"/>
              <p:nvPr/>
            </p:nvSpPr>
            <p:spPr>
              <a:xfrm>
                <a:off x="439154" y="4229413"/>
                <a:ext cx="3303939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 state: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 </a:t>
                </a:r>
              </a:p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(cost is 2.) </a:t>
                </a:r>
                <a:endPara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3D888BB-613D-4AE0-803B-6077E4F77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54" y="4229413"/>
                <a:ext cx="3303939" cy="1077218"/>
              </a:xfrm>
              <a:prstGeom prst="rect">
                <a:avLst/>
              </a:prstGeom>
              <a:blipFill>
                <a:blip r:embed="rId3"/>
                <a:stretch>
                  <a:fillRect l="-3065" t="-4651" b="-8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118D22C-C12F-437A-BC94-543B222882F4}"/>
                  </a:ext>
                </a:extLst>
              </p:cNvPr>
              <p:cNvSpPr txBox="1"/>
              <p:nvPr/>
            </p:nvSpPr>
            <p:spPr>
              <a:xfrm>
                <a:off x="4624381" y="1442432"/>
                <a:ext cx="412071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 cost is 1. </a:t>
                </a:r>
                <a:endPara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118D22C-C12F-437A-BC94-543B22288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381" y="1442432"/>
                <a:ext cx="4120718" cy="400110"/>
              </a:xfrm>
              <a:prstGeom prst="rect">
                <a:avLst/>
              </a:prstGeom>
              <a:blipFill>
                <a:blip r:embed="rId4"/>
                <a:stretch>
                  <a:fillRect t="-9375" r="-2769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55CDE39-9C3C-46F5-84C8-C86C667F57A4}"/>
                  </a:ext>
                </a:extLst>
              </p:cNvPr>
              <p:cNvSpPr txBox="1"/>
              <p:nvPr/>
            </p:nvSpPr>
            <p:spPr>
              <a:xfrm>
                <a:off x="4624381" y="2173802"/>
                <a:ext cx="412071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endPara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55CDE39-9C3C-46F5-84C8-C86C667F5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381" y="2173802"/>
                <a:ext cx="4120718" cy="400110"/>
              </a:xfrm>
              <a:prstGeom prst="rect">
                <a:avLst/>
              </a:prstGeom>
              <a:blipFill>
                <a:blip r:embed="rId5"/>
                <a:stretch>
                  <a:fillRect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25521A5-D5FC-4402-B690-1EFA22053AEE}"/>
                  </a:ext>
                </a:extLst>
              </p:cNvPr>
              <p:cNvSpPr txBox="1"/>
              <p:nvPr/>
            </p:nvSpPr>
            <p:spPr>
              <a:xfrm>
                <a:off x="4624381" y="2905172"/>
                <a:ext cx="412071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</a:t>
                </a:r>
                <a:endPara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25521A5-D5FC-4402-B690-1EFA22053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381" y="2905172"/>
                <a:ext cx="4120718" cy="400110"/>
              </a:xfrm>
              <a:prstGeom prst="rect">
                <a:avLst/>
              </a:prstGeom>
              <a:blipFill>
                <a:blip r:embed="rId6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41A6666-D799-44DB-B5A3-2830911076F5}"/>
                  </a:ext>
                </a:extLst>
              </p:cNvPr>
              <p:cNvSpPr txBox="1"/>
              <p:nvPr/>
            </p:nvSpPr>
            <p:spPr>
              <a:xfrm>
                <a:off x="4624381" y="3636542"/>
                <a:ext cx="412071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endPara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41A6666-D799-44DB-B5A3-283091107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381" y="3636542"/>
                <a:ext cx="4120718" cy="400110"/>
              </a:xfrm>
              <a:prstGeom prst="rect">
                <a:avLst/>
              </a:prstGeom>
              <a:blipFill>
                <a:blip r:embed="rId7"/>
                <a:stretch>
                  <a:fillRect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FEE8769-8EFD-4ED7-85C6-32E0F90C3AB8}"/>
                  </a:ext>
                </a:extLst>
              </p:cNvPr>
              <p:cNvSpPr txBox="1"/>
              <p:nvPr/>
            </p:nvSpPr>
            <p:spPr>
              <a:xfrm>
                <a:off x="4624381" y="4367912"/>
                <a:ext cx="412071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endPara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FEE8769-8EFD-4ED7-85C6-32E0F90C3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381" y="4367912"/>
                <a:ext cx="4120718" cy="400110"/>
              </a:xfrm>
              <a:prstGeom prst="rect">
                <a:avLst/>
              </a:prstGeom>
              <a:blipFill>
                <a:blip r:embed="rId8"/>
                <a:stretch>
                  <a:fillRect t="-937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A936D8D-432F-4AF7-9CA1-F6918E06605A}"/>
                  </a:ext>
                </a:extLst>
              </p:cNvPr>
              <p:cNvSpPr txBox="1"/>
              <p:nvPr/>
            </p:nvSpPr>
            <p:spPr>
              <a:xfrm>
                <a:off x="4624381" y="5099284"/>
                <a:ext cx="412071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</a:t>
                </a:r>
                <a:endPara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A936D8D-432F-4AF7-9CA1-F6918E066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381" y="5099284"/>
                <a:ext cx="4120718" cy="400110"/>
              </a:xfrm>
              <a:prstGeom prst="rect">
                <a:avLst/>
              </a:prstGeom>
              <a:blipFill>
                <a:blip r:embed="rId9"/>
                <a:stretch>
                  <a:fillRect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0B0493B3-457D-40A5-94C4-46F362AAF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652963"/>
              </p:ext>
            </p:extLst>
          </p:nvPr>
        </p:nvGraphicFramePr>
        <p:xfrm>
          <a:off x="1336532" y="2640983"/>
          <a:ext cx="152400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142258179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21357826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6798989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36510409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7073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82269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20163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80902"/>
                  </a:ext>
                </a:extLst>
              </a:tr>
            </a:tbl>
          </a:graphicData>
        </a:graphic>
      </p:graphicFrame>
      <p:sp>
        <p:nvSpPr>
          <p:cNvPr id="10" name="右大括号 9">
            <a:extLst>
              <a:ext uri="{FF2B5EF4-FFF2-40B4-BE49-F238E27FC236}">
                <a16:creationId xmlns:a16="http://schemas.microsoft.com/office/drawing/2014/main" id="{231D3792-7A3D-4110-BEBA-188F22C42F55}"/>
              </a:ext>
            </a:extLst>
          </p:cNvPr>
          <p:cNvSpPr/>
          <p:nvPr/>
        </p:nvSpPr>
        <p:spPr>
          <a:xfrm rot="10800000">
            <a:off x="3733800" y="1295400"/>
            <a:ext cx="668046" cy="4191000"/>
          </a:xfrm>
          <a:prstGeom prst="rightBrace">
            <a:avLst>
              <a:gd name="adj1" fmla="val 50064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2" name="表格 7">
            <a:extLst>
              <a:ext uri="{FF2B5EF4-FFF2-40B4-BE49-F238E27FC236}">
                <a16:creationId xmlns:a16="http://schemas.microsoft.com/office/drawing/2014/main" id="{A4094AAE-1A8E-F608-F641-73EC11FED9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560318"/>
              </p:ext>
            </p:extLst>
          </p:nvPr>
        </p:nvGraphicFramePr>
        <p:xfrm>
          <a:off x="9866101" y="1204541"/>
          <a:ext cx="1440000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4225817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1357826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67989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65104095"/>
                    </a:ext>
                  </a:extLst>
                </a:gridCol>
              </a:tblGrid>
              <a:tr h="3654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70730"/>
                  </a:ext>
                </a:extLst>
              </a:tr>
              <a:tr h="365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822695"/>
                  </a:ext>
                </a:extLst>
              </a:tr>
              <a:tr h="3654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201635"/>
                  </a:ext>
                </a:extLst>
              </a:tr>
              <a:tr h="3654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80902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D8FE10-155F-4DCB-C75E-FA1EE5665DD0}"/>
              </a:ext>
            </a:extLst>
          </p:cNvPr>
          <p:cNvCxnSpPr>
            <a:stCxn id="20" idx="3"/>
            <a:endCxn id="12" idx="1"/>
          </p:cNvCxnSpPr>
          <p:nvPr/>
        </p:nvCxnSpPr>
        <p:spPr>
          <a:xfrm>
            <a:off x="8745099" y="1642487"/>
            <a:ext cx="1121002" cy="293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17">
            <a:extLst>
              <a:ext uri="{FF2B5EF4-FFF2-40B4-BE49-F238E27FC236}">
                <a16:creationId xmlns:a16="http://schemas.microsoft.com/office/drawing/2014/main" id="{7E8EDCE7-3773-DFFA-0E3C-DAA9863E5A32}"/>
              </a:ext>
            </a:extLst>
          </p:cNvPr>
          <p:cNvSpPr txBox="1"/>
          <p:nvPr/>
        </p:nvSpPr>
        <p:spPr>
          <a:xfrm>
            <a:off x="446562" y="1250665"/>
            <a:ext cx="33039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138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29898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5" dirty="0">
                <a:uFill>
                  <a:solidFill>
                    <a:srgbClr val="D0CECE"/>
                  </a:solidFill>
                </a:uFill>
              </a:rPr>
              <a:t>Exercise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 3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19</a:t>
            </a:fld>
            <a:endParaRPr spc="-6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3D888BB-613D-4AE0-803B-6077E4F77C26}"/>
                  </a:ext>
                </a:extLst>
              </p:cNvPr>
              <p:cNvSpPr txBox="1"/>
              <p:nvPr/>
            </p:nvSpPr>
            <p:spPr>
              <a:xfrm>
                <a:off x="439154" y="4229413"/>
                <a:ext cx="3303939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 state: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 </a:t>
                </a:r>
              </a:p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(cost is 2.) </a:t>
                </a:r>
                <a:endPara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3D888BB-613D-4AE0-803B-6077E4F77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54" y="4229413"/>
                <a:ext cx="3303939" cy="1077218"/>
              </a:xfrm>
              <a:prstGeom prst="rect">
                <a:avLst/>
              </a:prstGeom>
              <a:blipFill>
                <a:blip r:embed="rId3"/>
                <a:stretch>
                  <a:fillRect l="-3065" t="-4651" b="-8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118D22C-C12F-437A-BC94-543B222882F4}"/>
                  </a:ext>
                </a:extLst>
              </p:cNvPr>
              <p:cNvSpPr txBox="1"/>
              <p:nvPr/>
            </p:nvSpPr>
            <p:spPr>
              <a:xfrm>
                <a:off x="4624381" y="1442432"/>
                <a:ext cx="412071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 cost is 1. </a:t>
                </a:r>
                <a:endPara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118D22C-C12F-437A-BC94-543B22288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381" y="1442432"/>
                <a:ext cx="4120718" cy="400110"/>
              </a:xfrm>
              <a:prstGeom prst="rect">
                <a:avLst/>
              </a:prstGeom>
              <a:blipFill>
                <a:blip r:embed="rId4"/>
                <a:stretch>
                  <a:fillRect t="-9375" r="-2769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55CDE39-9C3C-46F5-84C8-C86C667F57A4}"/>
                  </a:ext>
                </a:extLst>
              </p:cNvPr>
              <p:cNvSpPr txBox="1"/>
              <p:nvPr/>
            </p:nvSpPr>
            <p:spPr>
              <a:xfrm>
                <a:off x="4624381" y="2173802"/>
                <a:ext cx="412071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 cost is 1. </a:t>
                </a:r>
                <a:endPara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55CDE39-9C3C-46F5-84C8-C86C667F5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381" y="2173802"/>
                <a:ext cx="4120718" cy="400110"/>
              </a:xfrm>
              <a:prstGeom prst="rect">
                <a:avLst/>
              </a:prstGeom>
              <a:blipFill>
                <a:blip r:embed="rId5"/>
                <a:stretch>
                  <a:fillRect t="-9375" r="-2769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25521A5-D5FC-4402-B690-1EFA22053AEE}"/>
                  </a:ext>
                </a:extLst>
              </p:cNvPr>
              <p:cNvSpPr txBox="1"/>
              <p:nvPr/>
            </p:nvSpPr>
            <p:spPr>
              <a:xfrm>
                <a:off x="4624381" y="2905172"/>
                <a:ext cx="412071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is 6. </a:t>
                </a:r>
                <a:endPara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25521A5-D5FC-4402-B690-1EFA22053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381" y="2905172"/>
                <a:ext cx="4120718" cy="400110"/>
              </a:xfrm>
              <a:prstGeom prst="rect">
                <a:avLst/>
              </a:prstGeom>
              <a:blipFill>
                <a:blip r:embed="rId6"/>
                <a:stretch>
                  <a:fillRect t="-6061" r="-2769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41A6666-D799-44DB-B5A3-2830911076F5}"/>
                  </a:ext>
                </a:extLst>
              </p:cNvPr>
              <p:cNvSpPr txBox="1"/>
              <p:nvPr/>
            </p:nvSpPr>
            <p:spPr>
              <a:xfrm>
                <a:off x="4624381" y="3636542"/>
                <a:ext cx="412071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is 6. </a:t>
                </a:r>
                <a:endPara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41A6666-D799-44DB-B5A3-283091107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381" y="3636542"/>
                <a:ext cx="4120718" cy="400110"/>
              </a:xfrm>
              <a:prstGeom prst="rect">
                <a:avLst/>
              </a:prstGeom>
              <a:blipFill>
                <a:blip r:embed="rId7"/>
                <a:stretch>
                  <a:fillRect t="-9375" r="-2769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FEE8769-8EFD-4ED7-85C6-32E0F90C3AB8}"/>
                  </a:ext>
                </a:extLst>
              </p:cNvPr>
              <p:cNvSpPr txBox="1"/>
              <p:nvPr/>
            </p:nvSpPr>
            <p:spPr>
              <a:xfrm>
                <a:off x="4624381" y="4367912"/>
                <a:ext cx="412071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is 1. </a:t>
                </a:r>
                <a:endPara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FEE8769-8EFD-4ED7-85C6-32E0F90C3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381" y="4367912"/>
                <a:ext cx="4120718" cy="400110"/>
              </a:xfrm>
              <a:prstGeom prst="rect">
                <a:avLst/>
              </a:prstGeom>
              <a:blipFill>
                <a:blip r:embed="rId8"/>
                <a:stretch>
                  <a:fillRect t="-9375" r="-276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A936D8D-432F-4AF7-9CA1-F6918E06605A}"/>
                  </a:ext>
                </a:extLst>
              </p:cNvPr>
              <p:cNvSpPr txBox="1"/>
              <p:nvPr/>
            </p:nvSpPr>
            <p:spPr>
              <a:xfrm>
                <a:off x="4624381" y="5099284"/>
                <a:ext cx="412071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is 1. </a:t>
                </a:r>
                <a:endPara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A936D8D-432F-4AF7-9CA1-F6918E066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381" y="5099284"/>
                <a:ext cx="4120718" cy="400110"/>
              </a:xfrm>
              <a:prstGeom prst="rect">
                <a:avLst/>
              </a:prstGeom>
              <a:blipFill>
                <a:blip r:embed="rId9"/>
                <a:stretch>
                  <a:fillRect t="-9375" r="-2769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0B0493B3-457D-40A5-94C4-46F362AAF4EE}"/>
              </a:ext>
            </a:extLst>
          </p:cNvPr>
          <p:cNvGraphicFramePr>
            <a:graphicFrameLocks noGrp="1"/>
          </p:cNvGraphicFramePr>
          <p:nvPr/>
        </p:nvGraphicFramePr>
        <p:xfrm>
          <a:off x="1336532" y="2640983"/>
          <a:ext cx="152400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142258179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21357826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6798989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36510409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7073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82269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20163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80902"/>
                  </a:ext>
                </a:extLst>
              </a:tr>
            </a:tbl>
          </a:graphicData>
        </a:graphic>
      </p:graphicFrame>
      <p:sp>
        <p:nvSpPr>
          <p:cNvPr id="10" name="右大括号 9">
            <a:extLst>
              <a:ext uri="{FF2B5EF4-FFF2-40B4-BE49-F238E27FC236}">
                <a16:creationId xmlns:a16="http://schemas.microsoft.com/office/drawing/2014/main" id="{231D3792-7A3D-4110-BEBA-188F22C42F55}"/>
              </a:ext>
            </a:extLst>
          </p:cNvPr>
          <p:cNvSpPr/>
          <p:nvPr/>
        </p:nvSpPr>
        <p:spPr>
          <a:xfrm rot="10800000">
            <a:off x="3733800" y="1295400"/>
            <a:ext cx="668046" cy="4191000"/>
          </a:xfrm>
          <a:prstGeom prst="rightBrace">
            <a:avLst>
              <a:gd name="adj1" fmla="val 50064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2" name="表格 7">
            <a:extLst>
              <a:ext uri="{FF2B5EF4-FFF2-40B4-BE49-F238E27FC236}">
                <a16:creationId xmlns:a16="http://schemas.microsoft.com/office/drawing/2014/main" id="{A4094AAE-1A8E-F608-F641-73EC11FED9C6}"/>
              </a:ext>
            </a:extLst>
          </p:cNvPr>
          <p:cNvGraphicFramePr>
            <a:graphicFrameLocks noGrp="1"/>
          </p:cNvGraphicFramePr>
          <p:nvPr/>
        </p:nvGraphicFramePr>
        <p:xfrm>
          <a:off x="9866101" y="1204541"/>
          <a:ext cx="1440000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4225817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1357826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67989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65104095"/>
                    </a:ext>
                  </a:extLst>
                </a:gridCol>
              </a:tblGrid>
              <a:tr h="3654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70730"/>
                  </a:ext>
                </a:extLst>
              </a:tr>
              <a:tr h="365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822695"/>
                  </a:ext>
                </a:extLst>
              </a:tr>
              <a:tr h="3654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201635"/>
                  </a:ext>
                </a:extLst>
              </a:tr>
              <a:tr h="3654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80902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360206B-4596-C319-B549-3F8B3FF2AEFF}"/>
              </a:ext>
            </a:extLst>
          </p:cNvPr>
          <p:cNvGraphicFramePr>
            <a:graphicFrameLocks noGrp="1"/>
          </p:cNvGraphicFramePr>
          <p:nvPr/>
        </p:nvGraphicFramePr>
        <p:xfrm>
          <a:off x="9859190" y="3085210"/>
          <a:ext cx="1440000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4225817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1357826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67989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65104095"/>
                    </a:ext>
                  </a:extLst>
                </a:gridCol>
              </a:tblGrid>
              <a:tr h="365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70730"/>
                  </a:ext>
                </a:extLst>
              </a:tr>
              <a:tr h="3654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822695"/>
                  </a:ext>
                </a:extLst>
              </a:tr>
              <a:tr h="3654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201635"/>
                  </a:ext>
                </a:extLst>
              </a:tr>
              <a:tr h="3654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80902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D8FE10-155F-4DCB-C75E-FA1EE5665DD0}"/>
              </a:ext>
            </a:extLst>
          </p:cNvPr>
          <p:cNvCxnSpPr>
            <a:stCxn id="20" idx="3"/>
            <a:endCxn id="12" idx="1"/>
          </p:cNvCxnSpPr>
          <p:nvPr/>
        </p:nvCxnSpPr>
        <p:spPr>
          <a:xfrm>
            <a:off x="8745099" y="1642487"/>
            <a:ext cx="1121002" cy="293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C8126FF-146A-88CC-5A77-036186F40B7C}"/>
              </a:ext>
            </a:extLst>
          </p:cNvPr>
          <p:cNvCxnSpPr>
            <a:cxnSpLocks/>
            <a:stCxn id="24" idx="3"/>
            <a:endCxn id="8" idx="1"/>
          </p:cNvCxnSpPr>
          <p:nvPr/>
        </p:nvCxnSpPr>
        <p:spPr>
          <a:xfrm>
            <a:off x="8745099" y="3105227"/>
            <a:ext cx="1114091" cy="711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17">
            <a:extLst>
              <a:ext uri="{FF2B5EF4-FFF2-40B4-BE49-F238E27FC236}">
                <a16:creationId xmlns:a16="http://schemas.microsoft.com/office/drawing/2014/main" id="{7E8EDCE7-3773-DFFA-0E3C-DAA9863E5A32}"/>
              </a:ext>
            </a:extLst>
          </p:cNvPr>
          <p:cNvSpPr txBox="1"/>
          <p:nvPr/>
        </p:nvSpPr>
        <p:spPr>
          <a:xfrm>
            <a:off x="446562" y="1250665"/>
            <a:ext cx="33039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8EDAB45-D5D6-EF6D-FC50-5D1B279FF53D}"/>
              </a:ext>
            </a:extLst>
          </p:cNvPr>
          <p:cNvSpPr/>
          <p:nvPr/>
        </p:nvSpPr>
        <p:spPr>
          <a:xfrm>
            <a:off x="4401846" y="1404745"/>
            <a:ext cx="4343253" cy="53131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26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29898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5" dirty="0">
                <a:uFill>
                  <a:solidFill>
                    <a:srgbClr val="D0CECE"/>
                  </a:solidFill>
                </a:uFill>
              </a:rPr>
              <a:t>Exercise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 3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20</a:t>
            </a:fld>
            <a:endParaRPr spc="-6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3D888BB-613D-4AE0-803B-6077E4F77C26}"/>
                  </a:ext>
                </a:extLst>
              </p:cNvPr>
              <p:cNvSpPr txBox="1"/>
              <p:nvPr/>
            </p:nvSpPr>
            <p:spPr>
              <a:xfrm>
                <a:off x="439154" y="4229413"/>
                <a:ext cx="3303939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Second state: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 cost is 1. </a:t>
                </a:r>
                <a:endPara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3D888BB-613D-4AE0-803B-6077E4F77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54" y="4229413"/>
                <a:ext cx="3303939" cy="1077218"/>
              </a:xfrm>
              <a:prstGeom prst="rect">
                <a:avLst/>
              </a:prstGeom>
              <a:blipFill>
                <a:blip r:embed="rId3"/>
                <a:stretch>
                  <a:fillRect l="-3065" t="-4651" b="-8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右大括号 9">
            <a:extLst>
              <a:ext uri="{FF2B5EF4-FFF2-40B4-BE49-F238E27FC236}">
                <a16:creationId xmlns:a16="http://schemas.microsoft.com/office/drawing/2014/main" id="{231D3792-7A3D-4110-BEBA-188F22C42F55}"/>
              </a:ext>
            </a:extLst>
          </p:cNvPr>
          <p:cNvSpPr/>
          <p:nvPr/>
        </p:nvSpPr>
        <p:spPr>
          <a:xfrm rot="10800000">
            <a:off x="3733800" y="1295400"/>
            <a:ext cx="668046" cy="4191000"/>
          </a:xfrm>
          <a:prstGeom prst="rightBrace">
            <a:avLst>
              <a:gd name="adj1" fmla="val 50064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2" name="表格 7">
            <a:extLst>
              <a:ext uri="{FF2B5EF4-FFF2-40B4-BE49-F238E27FC236}">
                <a16:creationId xmlns:a16="http://schemas.microsoft.com/office/drawing/2014/main" id="{A4094AAE-1A8E-F608-F641-73EC11FED9C6}"/>
              </a:ext>
            </a:extLst>
          </p:cNvPr>
          <p:cNvGraphicFramePr>
            <a:graphicFrameLocks noGrp="1"/>
          </p:cNvGraphicFramePr>
          <p:nvPr/>
        </p:nvGraphicFramePr>
        <p:xfrm>
          <a:off x="1335331" y="2627700"/>
          <a:ext cx="1526400" cy="152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600">
                  <a:extLst>
                    <a:ext uri="{9D8B030D-6E8A-4147-A177-3AD203B41FA5}">
                      <a16:colId xmlns:a16="http://schemas.microsoft.com/office/drawing/2014/main" val="1422581795"/>
                    </a:ext>
                  </a:extLst>
                </a:gridCol>
                <a:gridCol w="381600">
                  <a:extLst>
                    <a:ext uri="{9D8B030D-6E8A-4147-A177-3AD203B41FA5}">
                      <a16:colId xmlns:a16="http://schemas.microsoft.com/office/drawing/2014/main" val="1213578262"/>
                    </a:ext>
                  </a:extLst>
                </a:gridCol>
                <a:gridCol w="381600">
                  <a:extLst>
                    <a:ext uri="{9D8B030D-6E8A-4147-A177-3AD203B41FA5}">
                      <a16:colId xmlns:a16="http://schemas.microsoft.com/office/drawing/2014/main" val="3367989896"/>
                    </a:ext>
                  </a:extLst>
                </a:gridCol>
                <a:gridCol w="381600">
                  <a:extLst>
                    <a:ext uri="{9D8B030D-6E8A-4147-A177-3AD203B41FA5}">
                      <a16:colId xmlns:a16="http://schemas.microsoft.com/office/drawing/2014/main" val="1365104095"/>
                    </a:ext>
                  </a:extLst>
                </a:gridCol>
              </a:tblGrid>
              <a:tr h="3816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70730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822695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201635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80902"/>
                  </a:ext>
                </a:extLst>
              </a:tr>
            </a:tbl>
          </a:graphicData>
        </a:graphic>
      </p:graphicFrame>
      <p:sp>
        <p:nvSpPr>
          <p:cNvPr id="21" name="文本框 17">
            <a:extLst>
              <a:ext uri="{FF2B5EF4-FFF2-40B4-BE49-F238E27FC236}">
                <a16:creationId xmlns:a16="http://schemas.microsoft.com/office/drawing/2014/main" id="{7E8EDCE7-3773-DFFA-0E3C-DAA9863E5A32}"/>
              </a:ext>
            </a:extLst>
          </p:cNvPr>
          <p:cNvSpPr txBox="1"/>
          <p:nvPr/>
        </p:nvSpPr>
        <p:spPr>
          <a:xfrm>
            <a:off x="446562" y="1250665"/>
            <a:ext cx="33039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29">
                <a:extLst>
                  <a:ext uri="{FF2B5EF4-FFF2-40B4-BE49-F238E27FC236}">
                    <a16:creationId xmlns:a16="http://schemas.microsoft.com/office/drawing/2014/main" id="{5394AEC6-F0D6-3B5B-6477-40C51B379EAA}"/>
                  </a:ext>
                </a:extLst>
              </p:cNvPr>
              <p:cNvSpPr txBox="1"/>
              <p:nvPr/>
            </p:nvSpPr>
            <p:spPr>
              <a:xfrm>
                <a:off x="4401846" y="5086290"/>
                <a:ext cx="42165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</a:t>
                </a:r>
                <a:endPara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29">
                <a:extLst>
                  <a:ext uri="{FF2B5EF4-FFF2-40B4-BE49-F238E27FC236}">
                    <a16:creationId xmlns:a16="http://schemas.microsoft.com/office/drawing/2014/main" id="{5394AEC6-F0D6-3B5B-6477-40C51B379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846" y="5086290"/>
                <a:ext cx="4216500" cy="400110"/>
              </a:xfrm>
              <a:prstGeom prst="rect">
                <a:avLst/>
              </a:prstGeom>
              <a:blipFill>
                <a:blip r:embed="rId4"/>
                <a:stretch>
                  <a:fillRect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30">
                <a:extLst>
                  <a:ext uri="{FF2B5EF4-FFF2-40B4-BE49-F238E27FC236}">
                    <a16:creationId xmlns:a16="http://schemas.microsoft.com/office/drawing/2014/main" id="{CD07B70B-9E62-DC18-D4E3-27751FE226EF}"/>
                  </a:ext>
                </a:extLst>
              </p:cNvPr>
              <p:cNvSpPr txBox="1"/>
              <p:nvPr/>
            </p:nvSpPr>
            <p:spPr>
              <a:xfrm>
                <a:off x="4401846" y="1312139"/>
                <a:ext cx="42165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endPara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30">
                <a:extLst>
                  <a:ext uri="{FF2B5EF4-FFF2-40B4-BE49-F238E27FC236}">
                    <a16:creationId xmlns:a16="http://schemas.microsoft.com/office/drawing/2014/main" id="{CD07B70B-9E62-DC18-D4E3-27751FE22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846" y="1312139"/>
                <a:ext cx="4216500" cy="400110"/>
              </a:xfrm>
              <a:prstGeom prst="rect">
                <a:avLst/>
              </a:prstGeom>
              <a:blipFill>
                <a:blip r:embed="rId5"/>
                <a:stretch>
                  <a:fillRect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31">
                <a:extLst>
                  <a:ext uri="{FF2B5EF4-FFF2-40B4-BE49-F238E27FC236}">
                    <a16:creationId xmlns:a16="http://schemas.microsoft.com/office/drawing/2014/main" id="{B3217E2C-68A5-549C-18DE-2A6B621479D5}"/>
                  </a:ext>
                </a:extLst>
              </p:cNvPr>
              <p:cNvSpPr txBox="1"/>
              <p:nvPr/>
            </p:nvSpPr>
            <p:spPr>
              <a:xfrm>
                <a:off x="4401846" y="2066969"/>
                <a:ext cx="42165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endPara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本框 31">
                <a:extLst>
                  <a:ext uri="{FF2B5EF4-FFF2-40B4-BE49-F238E27FC236}">
                    <a16:creationId xmlns:a16="http://schemas.microsoft.com/office/drawing/2014/main" id="{B3217E2C-68A5-549C-18DE-2A6B62147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846" y="2066969"/>
                <a:ext cx="4216500" cy="400110"/>
              </a:xfrm>
              <a:prstGeom prst="rect">
                <a:avLst/>
              </a:prstGeom>
              <a:blipFill>
                <a:blip r:embed="rId6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32">
                <a:extLst>
                  <a:ext uri="{FF2B5EF4-FFF2-40B4-BE49-F238E27FC236}">
                    <a16:creationId xmlns:a16="http://schemas.microsoft.com/office/drawing/2014/main" id="{DE188EB2-CFE3-C616-AD7E-9A6731AA4FEA}"/>
                  </a:ext>
                </a:extLst>
              </p:cNvPr>
              <p:cNvSpPr txBox="1"/>
              <p:nvPr/>
            </p:nvSpPr>
            <p:spPr>
              <a:xfrm>
                <a:off x="4401846" y="2821799"/>
                <a:ext cx="42165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endPara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本框 32">
                <a:extLst>
                  <a:ext uri="{FF2B5EF4-FFF2-40B4-BE49-F238E27FC236}">
                    <a16:creationId xmlns:a16="http://schemas.microsoft.com/office/drawing/2014/main" id="{DE188EB2-CFE3-C616-AD7E-9A6731AA4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846" y="2821799"/>
                <a:ext cx="4216500" cy="400110"/>
              </a:xfrm>
              <a:prstGeom prst="rect">
                <a:avLst/>
              </a:prstGeom>
              <a:blipFill>
                <a:blip r:embed="rId7"/>
                <a:stretch>
                  <a:fillRect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33">
                <a:extLst>
                  <a:ext uri="{FF2B5EF4-FFF2-40B4-BE49-F238E27FC236}">
                    <a16:creationId xmlns:a16="http://schemas.microsoft.com/office/drawing/2014/main" id="{0681B92B-B433-7A46-A45E-40E53F9913CF}"/>
                  </a:ext>
                </a:extLst>
              </p:cNvPr>
              <p:cNvSpPr txBox="1"/>
              <p:nvPr/>
            </p:nvSpPr>
            <p:spPr>
              <a:xfrm>
                <a:off x="4401846" y="3576629"/>
                <a:ext cx="42165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endPara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文本框 33">
                <a:extLst>
                  <a:ext uri="{FF2B5EF4-FFF2-40B4-BE49-F238E27FC236}">
                    <a16:creationId xmlns:a16="http://schemas.microsoft.com/office/drawing/2014/main" id="{0681B92B-B433-7A46-A45E-40E53F991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846" y="3576629"/>
                <a:ext cx="4216500" cy="400110"/>
              </a:xfrm>
              <a:prstGeom prst="rect">
                <a:avLst/>
              </a:prstGeom>
              <a:blipFill>
                <a:blip r:embed="rId8"/>
                <a:stretch>
                  <a:fillRect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34">
                <a:extLst>
                  <a:ext uri="{FF2B5EF4-FFF2-40B4-BE49-F238E27FC236}">
                    <a16:creationId xmlns:a16="http://schemas.microsoft.com/office/drawing/2014/main" id="{B9485860-E748-7051-1B03-5964CB4A4187}"/>
                  </a:ext>
                </a:extLst>
              </p:cNvPr>
              <p:cNvSpPr txBox="1"/>
              <p:nvPr/>
            </p:nvSpPr>
            <p:spPr>
              <a:xfrm>
                <a:off x="4401846" y="4331459"/>
                <a:ext cx="42165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</a:t>
                </a:r>
                <a:endPara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文本框 34">
                <a:extLst>
                  <a:ext uri="{FF2B5EF4-FFF2-40B4-BE49-F238E27FC236}">
                    <a16:creationId xmlns:a16="http://schemas.microsoft.com/office/drawing/2014/main" id="{B9485860-E748-7051-1B03-5964CB4A4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846" y="4331459"/>
                <a:ext cx="4216500" cy="400110"/>
              </a:xfrm>
              <a:prstGeom prst="rect">
                <a:avLst/>
              </a:prstGeom>
              <a:blipFill>
                <a:blip r:embed="rId9"/>
                <a:stretch>
                  <a:fillRect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21855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29898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5" dirty="0">
                <a:uFill>
                  <a:solidFill>
                    <a:srgbClr val="D0CECE"/>
                  </a:solidFill>
                </a:uFill>
              </a:rPr>
              <a:t>Exercise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 3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21</a:t>
            </a:fld>
            <a:endParaRPr spc="-6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3D888BB-613D-4AE0-803B-6077E4F77C26}"/>
                  </a:ext>
                </a:extLst>
              </p:cNvPr>
              <p:cNvSpPr txBox="1"/>
              <p:nvPr/>
            </p:nvSpPr>
            <p:spPr>
              <a:xfrm>
                <a:off x="439154" y="4229413"/>
                <a:ext cx="3303939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Second state: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 cost is 1. </a:t>
                </a:r>
                <a:endPara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3D888BB-613D-4AE0-803B-6077E4F77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54" y="4229413"/>
                <a:ext cx="3303939" cy="1077218"/>
              </a:xfrm>
              <a:prstGeom prst="rect">
                <a:avLst/>
              </a:prstGeom>
              <a:blipFill>
                <a:blip r:embed="rId3"/>
                <a:stretch>
                  <a:fillRect l="-3065" t="-4651" b="-8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右大括号 9">
            <a:extLst>
              <a:ext uri="{FF2B5EF4-FFF2-40B4-BE49-F238E27FC236}">
                <a16:creationId xmlns:a16="http://schemas.microsoft.com/office/drawing/2014/main" id="{231D3792-7A3D-4110-BEBA-188F22C42F55}"/>
              </a:ext>
            </a:extLst>
          </p:cNvPr>
          <p:cNvSpPr/>
          <p:nvPr/>
        </p:nvSpPr>
        <p:spPr>
          <a:xfrm rot="10800000">
            <a:off x="3733800" y="1295400"/>
            <a:ext cx="668046" cy="4191000"/>
          </a:xfrm>
          <a:prstGeom prst="rightBrace">
            <a:avLst>
              <a:gd name="adj1" fmla="val 50064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2" name="表格 7">
            <a:extLst>
              <a:ext uri="{FF2B5EF4-FFF2-40B4-BE49-F238E27FC236}">
                <a16:creationId xmlns:a16="http://schemas.microsoft.com/office/drawing/2014/main" id="{A4094AAE-1A8E-F608-F641-73EC11FED9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782158"/>
              </p:ext>
            </p:extLst>
          </p:nvPr>
        </p:nvGraphicFramePr>
        <p:xfrm>
          <a:off x="1335331" y="2627700"/>
          <a:ext cx="1526400" cy="152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600">
                  <a:extLst>
                    <a:ext uri="{9D8B030D-6E8A-4147-A177-3AD203B41FA5}">
                      <a16:colId xmlns:a16="http://schemas.microsoft.com/office/drawing/2014/main" val="1422581795"/>
                    </a:ext>
                  </a:extLst>
                </a:gridCol>
                <a:gridCol w="381600">
                  <a:extLst>
                    <a:ext uri="{9D8B030D-6E8A-4147-A177-3AD203B41FA5}">
                      <a16:colId xmlns:a16="http://schemas.microsoft.com/office/drawing/2014/main" val="1213578262"/>
                    </a:ext>
                  </a:extLst>
                </a:gridCol>
                <a:gridCol w="381600">
                  <a:extLst>
                    <a:ext uri="{9D8B030D-6E8A-4147-A177-3AD203B41FA5}">
                      <a16:colId xmlns:a16="http://schemas.microsoft.com/office/drawing/2014/main" val="3367989896"/>
                    </a:ext>
                  </a:extLst>
                </a:gridCol>
                <a:gridCol w="381600">
                  <a:extLst>
                    <a:ext uri="{9D8B030D-6E8A-4147-A177-3AD203B41FA5}">
                      <a16:colId xmlns:a16="http://schemas.microsoft.com/office/drawing/2014/main" val="1365104095"/>
                    </a:ext>
                  </a:extLst>
                </a:gridCol>
              </a:tblGrid>
              <a:tr h="3816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70730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822695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201635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80902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360206B-4596-C319-B549-3F8B3FF2A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83760"/>
              </p:ext>
            </p:extLst>
          </p:nvPr>
        </p:nvGraphicFramePr>
        <p:xfrm>
          <a:off x="9859190" y="1558526"/>
          <a:ext cx="1440000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4225817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1357826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67989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65104095"/>
                    </a:ext>
                  </a:extLst>
                </a:gridCol>
              </a:tblGrid>
              <a:tr h="365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70730"/>
                  </a:ext>
                </a:extLst>
              </a:tr>
              <a:tr h="3654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822695"/>
                  </a:ext>
                </a:extLst>
              </a:tr>
              <a:tr h="3654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201635"/>
                  </a:ext>
                </a:extLst>
              </a:tr>
              <a:tr h="3654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80902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C8126FF-146A-88CC-5A77-036186F40B7C}"/>
              </a:ext>
            </a:extLst>
          </p:cNvPr>
          <p:cNvCxnSpPr>
            <a:cxnSpLocks/>
            <a:stCxn id="19" idx="3"/>
            <a:endCxn id="8" idx="1"/>
          </p:cNvCxnSpPr>
          <p:nvPr/>
        </p:nvCxnSpPr>
        <p:spPr>
          <a:xfrm flipV="1">
            <a:off x="8618346" y="2290046"/>
            <a:ext cx="1240844" cy="731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17">
            <a:extLst>
              <a:ext uri="{FF2B5EF4-FFF2-40B4-BE49-F238E27FC236}">
                <a16:creationId xmlns:a16="http://schemas.microsoft.com/office/drawing/2014/main" id="{7E8EDCE7-3773-DFFA-0E3C-DAA9863E5A32}"/>
              </a:ext>
            </a:extLst>
          </p:cNvPr>
          <p:cNvSpPr txBox="1"/>
          <p:nvPr/>
        </p:nvSpPr>
        <p:spPr>
          <a:xfrm>
            <a:off x="446562" y="1250665"/>
            <a:ext cx="33039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29">
                <a:extLst>
                  <a:ext uri="{FF2B5EF4-FFF2-40B4-BE49-F238E27FC236}">
                    <a16:creationId xmlns:a16="http://schemas.microsoft.com/office/drawing/2014/main" id="{5394AEC6-F0D6-3B5B-6477-40C51B379EAA}"/>
                  </a:ext>
                </a:extLst>
              </p:cNvPr>
              <p:cNvSpPr txBox="1"/>
              <p:nvPr/>
            </p:nvSpPr>
            <p:spPr>
              <a:xfrm>
                <a:off x="4401846" y="5086290"/>
                <a:ext cx="42165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is 0.</a:t>
                </a:r>
                <a:endPara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29">
                <a:extLst>
                  <a:ext uri="{FF2B5EF4-FFF2-40B4-BE49-F238E27FC236}">
                    <a16:creationId xmlns:a16="http://schemas.microsoft.com/office/drawing/2014/main" id="{5394AEC6-F0D6-3B5B-6477-40C51B379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846" y="5086290"/>
                <a:ext cx="4216500" cy="400110"/>
              </a:xfrm>
              <a:prstGeom prst="rect">
                <a:avLst/>
              </a:prstGeom>
              <a:blipFill>
                <a:blip r:embed="rId4"/>
                <a:stretch>
                  <a:fillRect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30">
                <a:extLst>
                  <a:ext uri="{FF2B5EF4-FFF2-40B4-BE49-F238E27FC236}">
                    <a16:creationId xmlns:a16="http://schemas.microsoft.com/office/drawing/2014/main" id="{CD07B70B-9E62-DC18-D4E3-27751FE226EF}"/>
                  </a:ext>
                </a:extLst>
              </p:cNvPr>
              <p:cNvSpPr txBox="1"/>
              <p:nvPr/>
            </p:nvSpPr>
            <p:spPr>
              <a:xfrm>
                <a:off x="4401846" y="1312139"/>
                <a:ext cx="42165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 cost is 2. </a:t>
                </a:r>
                <a:endPara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30">
                <a:extLst>
                  <a:ext uri="{FF2B5EF4-FFF2-40B4-BE49-F238E27FC236}">
                    <a16:creationId xmlns:a16="http://schemas.microsoft.com/office/drawing/2014/main" id="{CD07B70B-9E62-DC18-D4E3-27751FE22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846" y="1312139"/>
                <a:ext cx="4216500" cy="400110"/>
              </a:xfrm>
              <a:prstGeom prst="rect">
                <a:avLst/>
              </a:prstGeom>
              <a:blipFill>
                <a:blip r:embed="rId5"/>
                <a:stretch>
                  <a:fillRect t="-9375" r="-601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31">
                <a:extLst>
                  <a:ext uri="{FF2B5EF4-FFF2-40B4-BE49-F238E27FC236}">
                    <a16:creationId xmlns:a16="http://schemas.microsoft.com/office/drawing/2014/main" id="{B3217E2C-68A5-549C-18DE-2A6B621479D5}"/>
                  </a:ext>
                </a:extLst>
              </p:cNvPr>
              <p:cNvSpPr txBox="1"/>
              <p:nvPr/>
            </p:nvSpPr>
            <p:spPr>
              <a:xfrm>
                <a:off x="4401846" y="2066969"/>
                <a:ext cx="42165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 cost is 2. </a:t>
                </a:r>
                <a:endPara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本框 31">
                <a:extLst>
                  <a:ext uri="{FF2B5EF4-FFF2-40B4-BE49-F238E27FC236}">
                    <a16:creationId xmlns:a16="http://schemas.microsoft.com/office/drawing/2014/main" id="{B3217E2C-68A5-549C-18DE-2A6B62147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846" y="2066969"/>
                <a:ext cx="4216500" cy="400110"/>
              </a:xfrm>
              <a:prstGeom prst="rect">
                <a:avLst/>
              </a:prstGeom>
              <a:blipFill>
                <a:blip r:embed="rId6"/>
                <a:stretch>
                  <a:fillRect t="-6061" r="-60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32">
                <a:extLst>
                  <a:ext uri="{FF2B5EF4-FFF2-40B4-BE49-F238E27FC236}">
                    <a16:creationId xmlns:a16="http://schemas.microsoft.com/office/drawing/2014/main" id="{DE188EB2-CFE3-C616-AD7E-9A6731AA4FEA}"/>
                  </a:ext>
                </a:extLst>
              </p:cNvPr>
              <p:cNvSpPr txBox="1"/>
              <p:nvPr/>
            </p:nvSpPr>
            <p:spPr>
              <a:xfrm>
                <a:off x="4401846" y="2821799"/>
                <a:ext cx="42165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is 4. </a:t>
                </a:r>
                <a:endPara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本框 32">
                <a:extLst>
                  <a:ext uri="{FF2B5EF4-FFF2-40B4-BE49-F238E27FC236}">
                    <a16:creationId xmlns:a16="http://schemas.microsoft.com/office/drawing/2014/main" id="{DE188EB2-CFE3-C616-AD7E-9A6731AA4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846" y="2821799"/>
                <a:ext cx="4216500" cy="400110"/>
              </a:xfrm>
              <a:prstGeom prst="rect">
                <a:avLst/>
              </a:prstGeom>
              <a:blipFill>
                <a:blip r:embed="rId7"/>
                <a:stretch>
                  <a:fillRect t="-9375" r="-601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33">
                <a:extLst>
                  <a:ext uri="{FF2B5EF4-FFF2-40B4-BE49-F238E27FC236}">
                    <a16:creationId xmlns:a16="http://schemas.microsoft.com/office/drawing/2014/main" id="{0681B92B-B433-7A46-A45E-40E53F9913CF}"/>
                  </a:ext>
                </a:extLst>
              </p:cNvPr>
              <p:cNvSpPr txBox="1"/>
              <p:nvPr/>
            </p:nvSpPr>
            <p:spPr>
              <a:xfrm>
                <a:off x="4401846" y="3576629"/>
                <a:ext cx="42165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 cost is 4. </a:t>
                </a:r>
                <a:endPara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文本框 33">
                <a:extLst>
                  <a:ext uri="{FF2B5EF4-FFF2-40B4-BE49-F238E27FC236}">
                    <a16:creationId xmlns:a16="http://schemas.microsoft.com/office/drawing/2014/main" id="{0681B92B-B433-7A46-A45E-40E53F991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846" y="3576629"/>
                <a:ext cx="4216500" cy="400110"/>
              </a:xfrm>
              <a:prstGeom prst="rect">
                <a:avLst/>
              </a:prstGeom>
              <a:blipFill>
                <a:blip r:embed="rId8"/>
                <a:stretch>
                  <a:fillRect t="-9375" r="-601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34">
                <a:extLst>
                  <a:ext uri="{FF2B5EF4-FFF2-40B4-BE49-F238E27FC236}">
                    <a16:creationId xmlns:a16="http://schemas.microsoft.com/office/drawing/2014/main" id="{B9485860-E748-7051-1B03-5964CB4A4187}"/>
                  </a:ext>
                </a:extLst>
              </p:cNvPr>
              <p:cNvSpPr txBox="1"/>
              <p:nvPr/>
            </p:nvSpPr>
            <p:spPr>
              <a:xfrm>
                <a:off x="4401846" y="4331459"/>
                <a:ext cx="42165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is 2. </a:t>
                </a:r>
                <a:endPara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文本框 34">
                <a:extLst>
                  <a:ext uri="{FF2B5EF4-FFF2-40B4-BE49-F238E27FC236}">
                    <a16:creationId xmlns:a16="http://schemas.microsoft.com/office/drawing/2014/main" id="{B9485860-E748-7051-1B03-5964CB4A4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846" y="4331459"/>
                <a:ext cx="4216500" cy="400110"/>
              </a:xfrm>
              <a:prstGeom prst="rect">
                <a:avLst/>
              </a:prstGeom>
              <a:blipFill>
                <a:blip r:embed="rId9"/>
                <a:stretch>
                  <a:fillRect t="-9375" r="-601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" name="表格 7">
            <a:extLst>
              <a:ext uri="{FF2B5EF4-FFF2-40B4-BE49-F238E27FC236}">
                <a16:creationId xmlns:a16="http://schemas.microsoft.com/office/drawing/2014/main" id="{A4AB7E21-2A9F-3409-2C1A-ADDDE8711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407009"/>
              </p:ext>
            </p:extLst>
          </p:nvPr>
        </p:nvGraphicFramePr>
        <p:xfrm>
          <a:off x="9958253" y="4447020"/>
          <a:ext cx="1440000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4225817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1357826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67989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65104095"/>
                    </a:ext>
                  </a:extLst>
                </a:gridCol>
              </a:tblGrid>
              <a:tr h="3654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70730"/>
                  </a:ext>
                </a:extLst>
              </a:tr>
              <a:tr h="365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822695"/>
                  </a:ext>
                </a:extLst>
              </a:tr>
              <a:tr h="3654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201635"/>
                  </a:ext>
                </a:extLst>
              </a:tr>
              <a:tr h="3654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80902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6AEBE22-E5E9-8EB7-903E-6E45BD2035FE}"/>
              </a:ext>
            </a:extLst>
          </p:cNvPr>
          <p:cNvCxnSpPr>
            <a:cxnSpLocks/>
            <a:stCxn id="13" idx="3"/>
            <a:endCxn id="31" idx="1"/>
          </p:cNvCxnSpPr>
          <p:nvPr/>
        </p:nvCxnSpPr>
        <p:spPr>
          <a:xfrm flipV="1">
            <a:off x="8618346" y="5178540"/>
            <a:ext cx="1339907" cy="107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669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26088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5" dirty="0">
                <a:uFill>
                  <a:solidFill>
                    <a:srgbClr val="D0CECE"/>
                  </a:solidFill>
                </a:uFill>
              </a:rPr>
              <a:t>Exercise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 4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22</a:t>
            </a:fld>
            <a:endParaRPr spc="-6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0BED8BB-398A-4018-AF59-50559F0E1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2743200"/>
            <a:ext cx="6477000" cy="338137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9984BB6-EB76-4DAE-8EF0-F70C033AFF4F}"/>
              </a:ext>
            </a:extLst>
          </p:cNvPr>
          <p:cNvSpPr/>
          <p:nvPr/>
        </p:nvSpPr>
        <p:spPr>
          <a:xfrm>
            <a:off x="2971800" y="2743200"/>
            <a:ext cx="866405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222C066-B41F-4225-AEDA-88F5C8A963EF}"/>
              </a:ext>
            </a:extLst>
          </p:cNvPr>
          <p:cNvSpPr txBox="1"/>
          <p:nvPr/>
        </p:nvSpPr>
        <p:spPr>
          <a:xfrm>
            <a:off x="800100" y="1336297"/>
            <a:ext cx="10591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the A* Algorithm on the following graph. Explicitly write down the queue at each step, where the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 figure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the heuristic value, and the black figure is the path cost.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2432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B5BF0C4A-04DF-F00D-F15E-59382714AAD3}"/>
              </a:ext>
            </a:extLst>
          </p:cNvPr>
          <p:cNvGrpSpPr/>
          <p:nvPr/>
        </p:nvGrpSpPr>
        <p:grpSpPr>
          <a:xfrm>
            <a:off x="990601" y="1219199"/>
            <a:ext cx="3891238" cy="2005997"/>
            <a:chOff x="990601" y="1219199"/>
            <a:chExt cx="3891238" cy="2005997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00BED8BB-398A-4018-AF59-50559F0E15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693" t="570"/>
            <a:stretch/>
          </p:blipFill>
          <p:spPr>
            <a:xfrm>
              <a:off x="990601" y="1219199"/>
              <a:ext cx="3891238" cy="2005997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D0E5587-3A90-F154-4227-8C7ED92725C0}"/>
                </a:ext>
              </a:extLst>
            </p:cNvPr>
            <p:cNvSpPr/>
            <p:nvPr/>
          </p:nvSpPr>
          <p:spPr>
            <a:xfrm>
              <a:off x="990601" y="1219199"/>
              <a:ext cx="228599" cy="762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23</a:t>
            </a:fld>
            <a:endParaRPr spc="-6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984BB6-EB76-4DAE-8EF0-F70C033AFF4F}"/>
              </a:ext>
            </a:extLst>
          </p:cNvPr>
          <p:cNvSpPr/>
          <p:nvPr/>
        </p:nvSpPr>
        <p:spPr>
          <a:xfrm>
            <a:off x="6477000" y="1107830"/>
            <a:ext cx="705773" cy="343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7F1A4C6-D2B6-4844-9B35-783A130730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4416" y="4588319"/>
            <a:ext cx="1581150" cy="771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0677235-27BE-22C5-8CE9-2FBE2A1370FA}"/>
                  </a:ext>
                </a:extLst>
              </p:cNvPr>
              <p:cNvSpPr txBox="1"/>
              <p:nvPr/>
            </p:nvSpPr>
            <p:spPr>
              <a:xfrm>
                <a:off x="7421154" y="4931771"/>
                <a:ext cx="18580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heuristic value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0677235-27BE-22C5-8CE9-2FBE2A137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154" y="4931771"/>
                <a:ext cx="1858062" cy="369332"/>
              </a:xfrm>
              <a:prstGeom prst="rect">
                <a:avLst/>
              </a:prstGeom>
              <a:blipFill>
                <a:blip r:embed="rId6"/>
                <a:stretch>
                  <a:fillRect l="-2721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AE88FA4-1732-C73D-E8B5-617DDDDF82F4}"/>
                  </a:ext>
                </a:extLst>
              </p:cNvPr>
              <p:cNvSpPr txBox="1"/>
              <p:nvPr/>
            </p:nvSpPr>
            <p:spPr>
              <a:xfrm>
                <a:off x="7798668" y="4573370"/>
                <a:ext cx="15927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ctual cost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AE88FA4-1732-C73D-E8B5-617DDDDF8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668" y="4573370"/>
                <a:ext cx="1592726" cy="369332"/>
              </a:xfrm>
              <a:prstGeom prst="rect">
                <a:avLst/>
              </a:prstGeom>
              <a:blipFill>
                <a:blip r:embed="rId7"/>
                <a:stretch>
                  <a:fillRect l="-2362" t="-6667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721250D-3223-DA99-73E6-D2DC665CB1DC}"/>
                  </a:ext>
                </a:extLst>
              </p:cNvPr>
              <p:cNvSpPr txBox="1"/>
              <p:nvPr/>
            </p:nvSpPr>
            <p:spPr>
              <a:xfrm>
                <a:off x="10174466" y="4789415"/>
                <a:ext cx="15927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721250D-3223-DA99-73E6-D2DC665CB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4466" y="4789415"/>
                <a:ext cx="1592726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A05077F6-F943-148C-1A66-0AD012CF1944}"/>
              </a:ext>
            </a:extLst>
          </p:cNvPr>
          <p:cNvSpPr txBox="1"/>
          <p:nvPr/>
        </p:nvSpPr>
        <p:spPr>
          <a:xfrm>
            <a:off x="277104" y="1348731"/>
            <a:ext cx="1256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openList</a:t>
            </a:r>
            <a:endParaRPr lang="zh-CN" altLang="en-US" dirty="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5E6735A-5600-C0BE-E2E5-B0061199B039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905165" y="1718063"/>
            <a:ext cx="390235" cy="33723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object 2">
            <a:extLst>
              <a:ext uri="{FF2B5EF4-FFF2-40B4-BE49-F238E27FC236}">
                <a16:creationId xmlns:a16="http://schemas.microsoft.com/office/drawing/2014/main" id="{CB642EA0-80A9-7DA3-16A7-4762225D88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26088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5" dirty="0">
                <a:uFill>
                  <a:solidFill>
                    <a:srgbClr val="D0CECE"/>
                  </a:solidFill>
                </a:uFill>
              </a:rPr>
              <a:t>Exercise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 4</a:t>
            </a:r>
            <a:endParaRPr sz="4400" dirty="0">
              <a:latin typeface="Times New Roman"/>
              <a:cs typeface="Times New Roman"/>
            </a:endParaRP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DFF9D645-D07E-A784-43BF-6CD89A1D62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812936"/>
              </p:ext>
            </p:extLst>
          </p:nvPr>
        </p:nvGraphicFramePr>
        <p:xfrm>
          <a:off x="5021591" y="523345"/>
          <a:ext cx="3383134" cy="402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4786">
                  <a:extLst>
                    <a:ext uri="{9D8B030D-6E8A-4147-A177-3AD203B41FA5}">
                      <a16:colId xmlns:a16="http://schemas.microsoft.com/office/drawing/2014/main" val="2544753554"/>
                    </a:ext>
                  </a:extLst>
                </a:gridCol>
                <a:gridCol w="741722">
                  <a:extLst>
                    <a:ext uri="{9D8B030D-6E8A-4147-A177-3AD203B41FA5}">
                      <a16:colId xmlns:a16="http://schemas.microsoft.com/office/drawing/2014/main" val="4284987241"/>
                    </a:ext>
                  </a:extLst>
                </a:gridCol>
                <a:gridCol w="1098313">
                  <a:extLst>
                    <a:ext uri="{9D8B030D-6E8A-4147-A177-3AD203B41FA5}">
                      <a16:colId xmlns:a16="http://schemas.microsoft.com/office/drawing/2014/main" val="3575881044"/>
                    </a:ext>
                  </a:extLst>
                </a:gridCol>
                <a:gridCol w="1098313">
                  <a:extLst>
                    <a:ext uri="{9D8B030D-6E8A-4147-A177-3AD203B41FA5}">
                      <a16:colId xmlns:a16="http://schemas.microsoft.com/office/drawing/2014/main" val="3456363485"/>
                    </a:ext>
                  </a:extLst>
                </a:gridCol>
              </a:tblGrid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open_list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close_list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9785369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22600476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273965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4103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6129648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320675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68166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261603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51013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055686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753119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48643"/>
                  </a:ext>
                </a:extLst>
              </a:tr>
            </a:tbl>
          </a:graphicData>
        </a:graphic>
      </p:graphicFrame>
      <p:sp>
        <p:nvSpPr>
          <p:cNvPr id="2" name="文本框 13">
            <a:extLst>
              <a:ext uri="{FF2B5EF4-FFF2-40B4-BE49-F238E27FC236}">
                <a16:creationId xmlns:a16="http://schemas.microsoft.com/office/drawing/2014/main" id="{6FD36821-73BE-9971-D8F6-ECE1B79FAEF0}"/>
              </a:ext>
            </a:extLst>
          </p:cNvPr>
          <p:cNvSpPr txBox="1"/>
          <p:nvPr/>
        </p:nvSpPr>
        <p:spPr>
          <a:xfrm>
            <a:off x="308407" y="3326627"/>
            <a:ext cx="7757187" cy="343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(start)</a:t>
            </a: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min(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key=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lambda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end: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current_node.neighbours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).f &gt;=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).f &gt;=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close_list.pop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neighbour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 and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7840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EEB7FA15-65A8-73A2-EC31-5D2F961C3762}"/>
              </a:ext>
            </a:extLst>
          </p:cNvPr>
          <p:cNvGrpSpPr/>
          <p:nvPr/>
        </p:nvGrpSpPr>
        <p:grpSpPr>
          <a:xfrm>
            <a:off x="990601" y="1219199"/>
            <a:ext cx="3891238" cy="2005997"/>
            <a:chOff x="990601" y="1219199"/>
            <a:chExt cx="3891238" cy="2005997"/>
          </a:xfrm>
        </p:grpSpPr>
        <p:pic>
          <p:nvPicPr>
            <p:cNvPr id="39" name="图片 11">
              <a:extLst>
                <a:ext uri="{FF2B5EF4-FFF2-40B4-BE49-F238E27FC236}">
                  <a16:creationId xmlns:a16="http://schemas.microsoft.com/office/drawing/2014/main" id="{810AB524-37A9-3584-24D6-5C5494E73A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693" t="570"/>
            <a:stretch/>
          </p:blipFill>
          <p:spPr>
            <a:xfrm>
              <a:off x="990601" y="1219199"/>
              <a:ext cx="3891238" cy="2005997"/>
            </a:xfrm>
            <a:prstGeom prst="rect">
              <a:avLst/>
            </a:prstGeom>
          </p:spPr>
        </p:pic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DB93CD0-8964-BD18-78F4-B6D7CC746FE2}"/>
                </a:ext>
              </a:extLst>
            </p:cNvPr>
            <p:cNvSpPr/>
            <p:nvPr/>
          </p:nvSpPr>
          <p:spPr>
            <a:xfrm>
              <a:off x="990601" y="1219199"/>
              <a:ext cx="228599" cy="762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24</a:t>
            </a:fld>
            <a:endParaRPr spc="-6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984BB6-EB76-4DAE-8EF0-F70C033AFF4F}"/>
              </a:ext>
            </a:extLst>
          </p:cNvPr>
          <p:cNvSpPr/>
          <p:nvPr/>
        </p:nvSpPr>
        <p:spPr>
          <a:xfrm>
            <a:off x="2971800" y="2743200"/>
            <a:ext cx="866405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378DD39D-8ACE-BB5B-59AC-21BBE9FABE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26088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5" dirty="0">
                <a:uFill>
                  <a:solidFill>
                    <a:srgbClr val="D0CECE"/>
                  </a:solidFill>
                </a:uFill>
              </a:rPr>
              <a:t>Exercise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 4</a:t>
            </a:r>
            <a:endParaRPr sz="4400" dirty="0">
              <a:latin typeface="Times New Roman"/>
              <a:cs typeface="Times New Roman"/>
            </a:endParaRPr>
          </a:p>
        </p:txBody>
      </p:sp>
      <p:pic>
        <p:nvPicPr>
          <p:cNvPr id="20" name="图片 7">
            <a:extLst>
              <a:ext uri="{FF2B5EF4-FFF2-40B4-BE49-F238E27FC236}">
                <a16:creationId xmlns:a16="http://schemas.microsoft.com/office/drawing/2014/main" id="{6EA01FD9-D505-968A-31A7-AC992AE38F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800" y="2807093"/>
            <a:ext cx="3695700" cy="19431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22A0C925-00A7-416B-9D4D-B9B846336C00}"/>
              </a:ext>
            </a:extLst>
          </p:cNvPr>
          <p:cNvSpPr/>
          <p:nvPr/>
        </p:nvSpPr>
        <p:spPr>
          <a:xfrm>
            <a:off x="413337" y="1000010"/>
            <a:ext cx="705773" cy="343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E0C09CA-33DB-2200-CFD1-D78B2D2EB6DD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151688" y="1399529"/>
            <a:ext cx="776479" cy="75921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FDC2AEB-BC9B-E20A-4646-F4CD24D718EB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151688" y="1399529"/>
            <a:ext cx="676631" cy="5675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F208AEA-31BE-1D16-55C2-1F1323850F72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151688" y="1399529"/>
            <a:ext cx="776479" cy="155504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9019B8B-A651-5234-641F-9D8994D78C9C}"/>
              </a:ext>
            </a:extLst>
          </p:cNvPr>
          <p:cNvSpPr txBox="1"/>
          <p:nvPr/>
        </p:nvSpPr>
        <p:spPr>
          <a:xfrm>
            <a:off x="148297" y="1214863"/>
            <a:ext cx="1003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openList</a:t>
            </a:r>
            <a:endParaRPr lang="zh-CN" altLang="en-US" dirty="0"/>
          </a:p>
        </p:txBody>
      </p: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14780E1A-732A-2DA8-2589-E8F71FB4C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073532"/>
              </p:ext>
            </p:extLst>
          </p:nvPr>
        </p:nvGraphicFramePr>
        <p:xfrm>
          <a:off x="5021591" y="523345"/>
          <a:ext cx="3383134" cy="402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4786">
                  <a:extLst>
                    <a:ext uri="{9D8B030D-6E8A-4147-A177-3AD203B41FA5}">
                      <a16:colId xmlns:a16="http://schemas.microsoft.com/office/drawing/2014/main" val="2544753554"/>
                    </a:ext>
                  </a:extLst>
                </a:gridCol>
                <a:gridCol w="741722">
                  <a:extLst>
                    <a:ext uri="{9D8B030D-6E8A-4147-A177-3AD203B41FA5}">
                      <a16:colId xmlns:a16="http://schemas.microsoft.com/office/drawing/2014/main" val="4284987241"/>
                    </a:ext>
                  </a:extLst>
                </a:gridCol>
                <a:gridCol w="1098313">
                  <a:extLst>
                    <a:ext uri="{9D8B030D-6E8A-4147-A177-3AD203B41FA5}">
                      <a16:colId xmlns:a16="http://schemas.microsoft.com/office/drawing/2014/main" val="3575881044"/>
                    </a:ext>
                  </a:extLst>
                </a:gridCol>
                <a:gridCol w="1098313">
                  <a:extLst>
                    <a:ext uri="{9D8B030D-6E8A-4147-A177-3AD203B41FA5}">
                      <a16:colId xmlns:a16="http://schemas.microsoft.com/office/drawing/2014/main" val="3456363485"/>
                    </a:ext>
                  </a:extLst>
                </a:gridCol>
              </a:tblGrid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open_list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close_list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9785369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22600476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ABC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273965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4103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6129648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320675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68166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261603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51013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055686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753119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48643"/>
                  </a:ext>
                </a:extLst>
              </a:tr>
            </a:tbl>
          </a:graphicData>
        </a:graphic>
      </p:graphicFrame>
      <p:sp>
        <p:nvSpPr>
          <p:cNvPr id="2" name="文本框 13">
            <a:extLst>
              <a:ext uri="{FF2B5EF4-FFF2-40B4-BE49-F238E27FC236}">
                <a16:creationId xmlns:a16="http://schemas.microsoft.com/office/drawing/2014/main" id="{DD5E5691-383D-DF01-318D-7C1EE39BB694}"/>
              </a:ext>
            </a:extLst>
          </p:cNvPr>
          <p:cNvSpPr txBox="1"/>
          <p:nvPr/>
        </p:nvSpPr>
        <p:spPr>
          <a:xfrm>
            <a:off x="308407" y="3326627"/>
            <a:ext cx="7757187" cy="343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(start)</a:t>
            </a: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min(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key=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lambda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end: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current_node.neighbours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).f &gt;=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).f &gt;=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close_list.pop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neighbour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 and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40522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2751637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5" dirty="0">
                <a:uFill>
                  <a:solidFill>
                    <a:srgbClr val="D0CECE"/>
                  </a:solidFill>
                </a:uFill>
              </a:rPr>
              <a:t>Exercise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 4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25</a:t>
            </a:fld>
            <a:endParaRPr spc="-6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984BB6-EB76-4DAE-8EF0-F70C033AFF4F}"/>
              </a:ext>
            </a:extLst>
          </p:cNvPr>
          <p:cNvSpPr/>
          <p:nvPr/>
        </p:nvSpPr>
        <p:spPr>
          <a:xfrm>
            <a:off x="2971800" y="2743200"/>
            <a:ext cx="866405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A0C925-00A7-416B-9D4D-B9B846336C00}"/>
              </a:ext>
            </a:extLst>
          </p:cNvPr>
          <p:cNvSpPr/>
          <p:nvPr/>
        </p:nvSpPr>
        <p:spPr>
          <a:xfrm>
            <a:off x="6477000" y="1107830"/>
            <a:ext cx="705773" cy="343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>
            <a:off x="2188504" y="1358388"/>
            <a:ext cx="658639" cy="3771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5878B9A-9CA1-5FC7-34A1-761AB780F747}"/>
              </a:ext>
            </a:extLst>
          </p:cNvPr>
          <p:cNvGrpSpPr/>
          <p:nvPr/>
        </p:nvGrpSpPr>
        <p:grpSpPr>
          <a:xfrm>
            <a:off x="990601" y="1219199"/>
            <a:ext cx="3891238" cy="2005997"/>
            <a:chOff x="990601" y="1219199"/>
            <a:chExt cx="3891238" cy="2005997"/>
          </a:xfrm>
        </p:grpSpPr>
        <p:pic>
          <p:nvPicPr>
            <p:cNvPr id="23" name="图片 11">
              <a:extLst>
                <a:ext uri="{FF2B5EF4-FFF2-40B4-BE49-F238E27FC236}">
                  <a16:creationId xmlns:a16="http://schemas.microsoft.com/office/drawing/2014/main" id="{8220E6EF-A655-4553-5F46-E50FEB49A2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693" t="570"/>
            <a:stretch/>
          </p:blipFill>
          <p:spPr>
            <a:xfrm>
              <a:off x="990601" y="1219199"/>
              <a:ext cx="3891238" cy="2005997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CA34FC9-4918-15A5-BA69-1AF458D077D5}"/>
                </a:ext>
              </a:extLst>
            </p:cNvPr>
            <p:cNvSpPr/>
            <p:nvPr/>
          </p:nvSpPr>
          <p:spPr>
            <a:xfrm>
              <a:off x="990601" y="1219199"/>
              <a:ext cx="228599" cy="762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85513D4-DBD0-9B6B-ADB3-B90062952B71}"/>
              </a:ext>
            </a:extLst>
          </p:cNvPr>
          <p:cNvCxnSpPr>
            <a:cxnSpLocks/>
          </p:cNvCxnSpPr>
          <p:nvPr/>
        </p:nvCxnSpPr>
        <p:spPr>
          <a:xfrm>
            <a:off x="1216787" y="1295400"/>
            <a:ext cx="689828" cy="8382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D9EAB5E-5629-8002-F6AC-9818FDF3410C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1219306" y="1295400"/>
            <a:ext cx="1595055" cy="44011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A560363-0912-A446-DF4F-B9DDB63760B7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1219306" y="1295400"/>
            <a:ext cx="1625318" cy="12192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文本框 8">
            <a:extLst>
              <a:ext uri="{FF2B5EF4-FFF2-40B4-BE49-F238E27FC236}">
                <a16:creationId xmlns:a16="http://schemas.microsoft.com/office/drawing/2014/main" id="{A7D64DCE-0A81-74E4-FACF-C06958D9DF74}"/>
              </a:ext>
            </a:extLst>
          </p:cNvPr>
          <p:cNvSpPr txBox="1"/>
          <p:nvPr/>
        </p:nvSpPr>
        <p:spPr>
          <a:xfrm>
            <a:off x="215915" y="1110734"/>
            <a:ext cx="1003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openList</a:t>
            </a:r>
            <a:endParaRPr lang="zh-CN" altLang="en-US" dirty="0"/>
          </a:p>
        </p:txBody>
      </p:sp>
      <p:pic>
        <p:nvPicPr>
          <p:cNvPr id="39" name="图片 8">
            <a:extLst>
              <a:ext uri="{FF2B5EF4-FFF2-40B4-BE49-F238E27FC236}">
                <a16:creationId xmlns:a16="http://schemas.microsoft.com/office/drawing/2014/main" id="{CC302F55-7819-E8F5-A023-D6F9FBBD3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7951" y="3745038"/>
            <a:ext cx="2543597" cy="2274762"/>
          </a:xfrm>
          <a:prstGeom prst="rect">
            <a:avLst/>
          </a:prstGeom>
        </p:spPr>
      </p:pic>
      <p:pic>
        <p:nvPicPr>
          <p:cNvPr id="40" name="图片 15">
            <a:extLst>
              <a:ext uri="{FF2B5EF4-FFF2-40B4-BE49-F238E27FC236}">
                <a16:creationId xmlns:a16="http://schemas.microsoft.com/office/drawing/2014/main" id="{3268EDEA-646E-8EBD-0256-D9971CFCD4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934" y="1219199"/>
            <a:ext cx="2973612" cy="1563445"/>
          </a:xfrm>
          <a:prstGeom prst="rect">
            <a:avLst/>
          </a:prstGeom>
        </p:spPr>
      </p:pic>
      <p:sp>
        <p:nvSpPr>
          <p:cNvPr id="41" name="右箭头 16">
            <a:extLst>
              <a:ext uri="{FF2B5EF4-FFF2-40B4-BE49-F238E27FC236}">
                <a16:creationId xmlns:a16="http://schemas.microsoft.com/office/drawing/2014/main" id="{BECED422-0882-8B7E-D492-BC504D7136A8}"/>
              </a:ext>
            </a:extLst>
          </p:cNvPr>
          <p:cNvSpPr/>
          <p:nvPr/>
        </p:nvSpPr>
        <p:spPr>
          <a:xfrm rot="5400000">
            <a:off x="9942841" y="3062708"/>
            <a:ext cx="812657" cy="377126"/>
          </a:xfrm>
          <a:prstGeom prst="rightArrow">
            <a:avLst>
              <a:gd name="adj1" fmla="val 50000"/>
              <a:gd name="adj2" fmla="val 7963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40A2786D-1E16-FE6C-E509-1D5A9C8FC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059533"/>
              </p:ext>
            </p:extLst>
          </p:nvPr>
        </p:nvGraphicFramePr>
        <p:xfrm>
          <a:off x="5021591" y="523345"/>
          <a:ext cx="3383134" cy="402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4786">
                  <a:extLst>
                    <a:ext uri="{9D8B030D-6E8A-4147-A177-3AD203B41FA5}">
                      <a16:colId xmlns:a16="http://schemas.microsoft.com/office/drawing/2014/main" val="2544753554"/>
                    </a:ext>
                  </a:extLst>
                </a:gridCol>
                <a:gridCol w="741722">
                  <a:extLst>
                    <a:ext uri="{9D8B030D-6E8A-4147-A177-3AD203B41FA5}">
                      <a16:colId xmlns:a16="http://schemas.microsoft.com/office/drawing/2014/main" val="4284987241"/>
                    </a:ext>
                  </a:extLst>
                </a:gridCol>
                <a:gridCol w="1098313">
                  <a:extLst>
                    <a:ext uri="{9D8B030D-6E8A-4147-A177-3AD203B41FA5}">
                      <a16:colId xmlns:a16="http://schemas.microsoft.com/office/drawing/2014/main" val="3575881044"/>
                    </a:ext>
                  </a:extLst>
                </a:gridCol>
                <a:gridCol w="1098313">
                  <a:extLst>
                    <a:ext uri="{9D8B030D-6E8A-4147-A177-3AD203B41FA5}">
                      <a16:colId xmlns:a16="http://schemas.microsoft.com/office/drawing/2014/main" val="3456363485"/>
                    </a:ext>
                  </a:extLst>
                </a:gridCol>
              </a:tblGrid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open_list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close_list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9785369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22600476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ABC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273965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C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ABD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4103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EBD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6129648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320675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68166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261603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51013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055686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753119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48643"/>
                  </a:ext>
                </a:extLst>
              </a:tr>
            </a:tbl>
          </a:graphicData>
        </a:graphic>
      </p:graphicFrame>
      <p:sp>
        <p:nvSpPr>
          <p:cNvPr id="7" name="文本框 13">
            <a:extLst>
              <a:ext uri="{FF2B5EF4-FFF2-40B4-BE49-F238E27FC236}">
                <a16:creationId xmlns:a16="http://schemas.microsoft.com/office/drawing/2014/main" id="{D3D1023F-9ADE-C638-4267-FA6DD697153F}"/>
              </a:ext>
            </a:extLst>
          </p:cNvPr>
          <p:cNvSpPr txBox="1"/>
          <p:nvPr/>
        </p:nvSpPr>
        <p:spPr>
          <a:xfrm>
            <a:off x="308407" y="3326627"/>
            <a:ext cx="7757187" cy="343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(start)</a:t>
            </a: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min(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key=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lambda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end: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current_node.neighbours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).f &gt;=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).f &gt;=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close_list.pop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neighbour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 and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147339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2880877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5" dirty="0">
                <a:uFill>
                  <a:solidFill>
                    <a:srgbClr val="D0CECE"/>
                  </a:solidFill>
                </a:uFill>
              </a:rPr>
              <a:t>Exercise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 4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26</a:t>
            </a:fld>
            <a:endParaRPr spc="-6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A0C925-00A7-416B-9D4D-B9B846336C00}"/>
              </a:ext>
            </a:extLst>
          </p:cNvPr>
          <p:cNvSpPr/>
          <p:nvPr/>
        </p:nvSpPr>
        <p:spPr>
          <a:xfrm>
            <a:off x="6477000" y="1107830"/>
            <a:ext cx="705773" cy="343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12">
            <a:extLst>
              <a:ext uri="{FF2B5EF4-FFF2-40B4-BE49-F238E27FC236}">
                <a16:creationId xmlns:a16="http://schemas.microsoft.com/office/drawing/2014/main" id="{30F27AE7-C345-188C-5F35-FE72CC6D2C9D}"/>
              </a:ext>
            </a:extLst>
          </p:cNvPr>
          <p:cNvSpPr/>
          <p:nvPr/>
        </p:nvSpPr>
        <p:spPr>
          <a:xfrm>
            <a:off x="2971800" y="2743200"/>
            <a:ext cx="866405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13">
            <a:extLst>
              <a:ext uri="{FF2B5EF4-FFF2-40B4-BE49-F238E27FC236}">
                <a16:creationId xmlns:a16="http://schemas.microsoft.com/office/drawing/2014/main" id="{688ABE69-2DF0-6FD4-8F9B-5D44CA372026}"/>
              </a:ext>
            </a:extLst>
          </p:cNvPr>
          <p:cNvSpPr/>
          <p:nvPr/>
        </p:nvSpPr>
        <p:spPr>
          <a:xfrm>
            <a:off x="6477000" y="1107830"/>
            <a:ext cx="705773" cy="343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右箭头 16">
            <a:extLst>
              <a:ext uri="{FF2B5EF4-FFF2-40B4-BE49-F238E27FC236}">
                <a16:creationId xmlns:a16="http://schemas.microsoft.com/office/drawing/2014/main" id="{40138CC2-D5D6-EAC2-BE17-8737B0AC3647}"/>
              </a:ext>
            </a:extLst>
          </p:cNvPr>
          <p:cNvSpPr/>
          <p:nvPr/>
        </p:nvSpPr>
        <p:spPr>
          <a:xfrm>
            <a:off x="2188504" y="1358388"/>
            <a:ext cx="658639" cy="3771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BB19AE2-A38B-AEB8-87C3-87BF7593820E}"/>
              </a:ext>
            </a:extLst>
          </p:cNvPr>
          <p:cNvGrpSpPr/>
          <p:nvPr/>
        </p:nvGrpSpPr>
        <p:grpSpPr>
          <a:xfrm>
            <a:off x="990601" y="1219199"/>
            <a:ext cx="3891238" cy="2005997"/>
            <a:chOff x="990601" y="1219199"/>
            <a:chExt cx="3891238" cy="2005997"/>
          </a:xfrm>
        </p:grpSpPr>
        <p:pic>
          <p:nvPicPr>
            <p:cNvPr id="18" name="图片 11">
              <a:extLst>
                <a:ext uri="{FF2B5EF4-FFF2-40B4-BE49-F238E27FC236}">
                  <a16:creationId xmlns:a16="http://schemas.microsoft.com/office/drawing/2014/main" id="{AB0B1A81-644D-1FE3-6621-97AD110004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-693" t="570"/>
            <a:stretch/>
          </p:blipFill>
          <p:spPr>
            <a:xfrm>
              <a:off x="990601" y="1219199"/>
              <a:ext cx="3891238" cy="2005997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AD13238-08A1-88A8-1B9A-629A0DAEE30B}"/>
                </a:ext>
              </a:extLst>
            </p:cNvPr>
            <p:cNvSpPr/>
            <p:nvPr/>
          </p:nvSpPr>
          <p:spPr>
            <a:xfrm>
              <a:off x="990601" y="1219199"/>
              <a:ext cx="228599" cy="762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直接箭头连接符 7">
            <a:extLst>
              <a:ext uri="{FF2B5EF4-FFF2-40B4-BE49-F238E27FC236}">
                <a16:creationId xmlns:a16="http://schemas.microsoft.com/office/drawing/2014/main" id="{90E8EA9E-6119-0C90-ABCF-4652AA22F6D1}"/>
              </a:ext>
            </a:extLst>
          </p:cNvPr>
          <p:cNvCxnSpPr>
            <a:cxnSpLocks/>
          </p:cNvCxnSpPr>
          <p:nvPr/>
        </p:nvCxnSpPr>
        <p:spPr>
          <a:xfrm>
            <a:off x="1216787" y="1295400"/>
            <a:ext cx="689828" cy="8382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9">
            <a:extLst>
              <a:ext uri="{FF2B5EF4-FFF2-40B4-BE49-F238E27FC236}">
                <a16:creationId xmlns:a16="http://schemas.microsoft.com/office/drawing/2014/main" id="{2748F941-22D5-BE62-00C0-9EC946C8B7C6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1219306" y="1295400"/>
            <a:ext cx="2362094" cy="9144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17">
            <a:extLst>
              <a:ext uri="{FF2B5EF4-FFF2-40B4-BE49-F238E27FC236}">
                <a16:creationId xmlns:a16="http://schemas.microsoft.com/office/drawing/2014/main" id="{0502962A-EEA4-656B-21D4-5283F60200DC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1219306" y="1295400"/>
            <a:ext cx="1625318" cy="12192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8">
            <a:extLst>
              <a:ext uri="{FF2B5EF4-FFF2-40B4-BE49-F238E27FC236}">
                <a16:creationId xmlns:a16="http://schemas.microsoft.com/office/drawing/2014/main" id="{5E853A8E-2B50-DAE2-0AF6-683F218B4D27}"/>
              </a:ext>
            </a:extLst>
          </p:cNvPr>
          <p:cNvSpPr txBox="1"/>
          <p:nvPr/>
        </p:nvSpPr>
        <p:spPr>
          <a:xfrm>
            <a:off x="215915" y="1110734"/>
            <a:ext cx="1003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openList</a:t>
            </a:r>
            <a:endParaRPr lang="zh-CN" altLang="en-US" dirty="0"/>
          </a:p>
        </p:txBody>
      </p:sp>
      <p:pic>
        <p:nvPicPr>
          <p:cNvPr id="34" name="图片 8">
            <a:extLst>
              <a:ext uri="{FF2B5EF4-FFF2-40B4-BE49-F238E27FC236}">
                <a16:creationId xmlns:a16="http://schemas.microsoft.com/office/drawing/2014/main" id="{B5C501D7-3109-E569-81F1-3E4A582621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6142" y="3566686"/>
            <a:ext cx="2653048" cy="2879912"/>
          </a:xfrm>
          <a:prstGeom prst="rect">
            <a:avLst/>
          </a:prstGeom>
        </p:spPr>
      </p:pic>
      <p:pic>
        <p:nvPicPr>
          <p:cNvPr id="35" name="图片 14">
            <a:extLst>
              <a:ext uri="{FF2B5EF4-FFF2-40B4-BE49-F238E27FC236}">
                <a16:creationId xmlns:a16="http://schemas.microsoft.com/office/drawing/2014/main" id="{31C3E136-F95F-1C69-9C71-3C05A105B9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1177" y="1171897"/>
            <a:ext cx="2419848" cy="2164092"/>
          </a:xfrm>
          <a:prstGeom prst="rect">
            <a:avLst/>
          </a:prstGeom>
        </p:spPr>
      </p:pic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474D1471-A08F-9A03-FDC4-03C59591D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047380"/>
              </p:ext>
            </p:extLst>
          </p:nvPr>
        </p:nvGraphicFramePr>
        <p:xfrm>
          <a:off x="5021591" y="523345"/>
          <a:ext cx="3383134" cy="402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4786">
                  <a:extLst>
                    <a:ext uri="{9D8B030D-6E8A-4147-A177-3AD203B41FA5}">
                      <a16:colId xmlns:a16="http://schemas.microsoft.com/office/drawing/2014/main" val="2544753554"/>
                    </a:ext>
                  </a:extLst>
                </a:gridCol>
                <a:gridCol w="741722">
                  <a:extLst>
                    <a:ext uri="{9D8B030D-6E8A-4147-A177-3AD203B41FA5}">
                      <a16:colId xmlns:a16="http://schemas.microsoft.com/office/drawing/2014/main" val="4284987241"/>
                    </a:ext>
                  </a:extLst>
                </a:gridCol>
                <a:gridCol w="1098313">
                  <a:extLst>
                    <a:ext uri="{9D8B030D-6E8A-4147-A177-3AD203B41FA5}">
                      <a16:colId xmlns:a16="http://schemas.microsoft.com/office/drawing/2014/main" val="3575881044"/>
                    </a:ext>
                  </a:extLst>
                </a:gridCol>
                <a:gridCol w="1098313">
                  <a:extLst>
                    <a:ext uri="{9D8B030D-6E8A-4147-A177-3AD203B41FA5}">
                      <a16:colId xmlns:a16="http://schemas.microsoft.com/office/drawing/2014/main" val="3456363485"/>
                    </a:ext>
                  </a:extLst>
                </a:gridCol>
              </a:tblGrid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open_list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close_list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9785369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22600476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ABC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273965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C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ABD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4103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EBD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6129648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BDF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SCAE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320675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68166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261603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51013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055686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753119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48643"/>
                  </a:ext>
                </a:extLst>
              </a:tr>
            </a:tbl>
          </a:graphicData>
        </a:graphic>
      </p:graphicFrame>
      <p:sp>
        <p:nvSpPr>
          <p:cNvPr id="9" name="文本框 13">
            <a:extLst>
              <a:ext uri="{FF2B5EF4-FFF2-40B4-BE49-F238E27FC236}">
                <a16:creationId xmlns:a16="http://schemas.microsoft.com/office/drawing/2014/main" id="{79DB976F-4D69-F8C5-8FFF-330D0C98F127}"/>
              </a:ext>
            </a:extLst>
          </p:cNvPr>
          <p:cNvSpPr txBox="1"/>
          <p:nvPr/>
        </p:nvSpPr>
        <p:spPr>
          <a:xfrm>
            <a:off x="308407" y="3326627"/>
            <a:ext cx="7757187" cy="343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(start)</a:t>
            </a: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min(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key=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lambda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end: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current_node.neighbours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).f &gt;=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).f &gt;=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close_list.pop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neighbour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 and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51484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524" y="253251"/>
            <a:ext cx="272762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5" dirty="0">
                <a:uFill>
                  <a:solidFill>
                    <a:srgbClr val="D0CECE"/>
                  </a:solidFill>
                </a:uFill>
              </a:rPr>
              <a:t>Exercise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 4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27</a:t>
            </a:fld>
            <a:endParaRPr spc="-6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A0C925-00A7-416B-9D4D-B9B846336C00}"/>
              </a:ext>
            </a:extLst>
          </p:cNvPr>
          <p:cNvSpPr/>
          <p:nvPr/>
        </p:nvSpPr>
        <p:spPr>
          <a:xfrm>
            <a:off x="6477000" y="1107830"/>
            <a:ext cx="705773" cy="343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13">
            <a:extLst>
              <a:ext uri="{FF2B5EF4-FFF2-40B4-BE49-F238E27FC236}">
                <a16:creationId xmlns:a16="http://schemas.microsoft.com/office/drawing/2014/main" id="{291B045D-788D-377E-81D6-9772B81C4EAE}"/>
              </a:ext>
            </a:extLst>
          </p:cNvPr>
          <p:cNvSpPr/>
          <p:nvPr/>
        </p:nvSpPr>
        <p:spPr>
          <a:xfrm>
            <a:off x="6477000" y="1107830"/>
            <a:ext cx="705773" cy="343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12">
            <a:extLst>
              <a:ext uri="{FF2B5EF4-FFF2-40B4-BE49-F238E27FC236}">
                <a16:creationId xmlns:a16="http://schemas.microsoft.com/office/drawing/2014/main" id="{CAFFF31B-E4C7-01D0-67EF-420EFF9EFB8A}"/>
              </a:ext>
            </a:extLst>
          </p:cNvPr>
          <p:cNvSpPr/>
          <p:nvPr/>
        </p:nvSpPr>
        <p:spPr>
          <a:xfrm>
            <a:off x="2971800" y="2743200"/>
            <a:ext cx="866405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13">
            <a:extLst>
              <a:ext uri="{FF2B5EF4-FFF2-40B4-BE49-F238E27FC236}">
                <a16:creationId xmlns:a16="http://schemas.microsoft.com/office/drawing/2014/main" id="{FD934247-CB0D-419E-318A-A44485701767}"/>
              </a:ext>
            </a:extLst>
          </p:cNvPr>
          <p:cNvSpPr/>
          <p:nvPr/>
        </p:nvSpPr>
        <p:spPr>
          <a:xfrm>
            <a:off x="6477000" y="1107830"/>
            <a:ext cx="705773" cy="343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右箭头 16">
            <a:extLst>
              <a:ext uri="{FF2B5EF4-FFF2-40B4-BE49-F238E27FC236}">
                <a16:creationId xmlns:a16="http://schemas.microsoft.com/office/drawing/2014/main" id="{D1E602F0-158F-B36B-7706-AD1D6FB4879B}"/>
              </a:ext>
            </a:extLst>
          </p:cNvPr>
          <p:cNvSpPr/>
          <p:nvPr/>
        </p:nvSpPr>
        <p:spPr>
          <a:xfrm>
            <a:off x="2188504" y="1358388"/>
            <a:ext cx="658639" cy="3771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F37799C-3B80-8274-CB98-660DBF287F86}"/>
              </a:ext>
            </a:extLst>
          </p:cNvPr>
          <p:cNvGrpSpPr/>
          <p:nvPr/>
        </p:nvGrpSpPr>
        <p:grpSpPr>
          <a:xfrm>
            <a:off x="990601" y="1219199"/>
            <a:ext cx="3891238" cy="2005997"/>
            <a:chOff x="990601" y="1219199"/>
            <a:chExt cx="3891238" cy="2005997"/>
          </a:xfrm>
        </p:grpSpPr>
        <p:pic>
          <p:nvPicPr>
            <p:cNvPr id="40" name="图片 11">
              <a:extLst>
                <a:ext uri="{FF2B5EF4-FFF2-40B4-BE49-F238E27FC236}">
                  <a16:creationId xmlns:a16="http://schemas.microsoft.com/office/drawing/2014/main" id="{F2F11183-8A38-C70E-71CB-8CA8DDDB19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693" t="570"/>
            <a:stretch/>
          </p:blipFill>
          <p:spPr>
            <a:xfrm>
              <a:off x="990601" y="1219199"/>
              <a:ext cx="3891238" cy="2005997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5E801A9-336F-F746-2677-AA78E31EA649}"/>
                </a:ext>
              </a:extLst>
            </p:cNvPr>
            <p:cNvSpPr/>
            <p:nvPr/>
          </p:nvSpPr>
          <p:spPr>
            <a:xfrm>
              <a:off x="990601" y="1219199"/>
              <a:ext cx="228599" cy="762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4" name="直接箭头连接符 7">
            <a:extLst>
              <a:ext uri="{FF2B5EF4-FFF2-40B4-BE49-F238E27FC236}">
                <a16:creationId xmlns:a16="http://schemas.microsoft.com/office/drawing/2014/main" id="{51E63368-8C24-ADF6-FE3C-05BAF62FF437}"/>
              </a:ext>
            </a:extLst>
          </p:cNvPr>
          <p:cNvCxnSpPr>
            <a:cxnSpLocks/>
          </p:cNvCxnSpPr>
          <p:nvPr/>
        </p:nvCxnSpPr>
        <p:spPr>
          <a:xfrm>
            <a:off x="1216787" y="1295400"/>
            <a:ext cx="689828" cy="8382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9">
            <a:extLst>
              <a:ext uri="{FF2B5EF4-FFF2-40B4-BE49-F238E27FC236}">
                <a16:creationId xmlns:a16="http://schemas.microsoft.com/office/drawing/2014/main" id="{A314E2B8-7A17-09E7-0B82-74ABF1DB57A0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1219306" y="1295400"/>
            <a:ext cx="3276494" cy="8382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17">
            <a:extLst>
              <a:ext uri="{FF2B5EF4-FFF2-40B4-BE49-F238E27FC236}">
                <a16:creationId xmlns:a16="http://schemas.microsoft.com/office/drawing/2014/main" id="{F48BD730-3768-BBA4-5B0B-8CF747B5BE8B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1219306" y="1295400"/>
            <a:ext cx="1625318" cy="12192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文本框 8">
            <a:extLst>
              <a:ext uri="{FF2B5EF4-FFF2-40B4-BE49-F238E27FC236}">
                <a16:creationId xmlns:a16="http://schemas.microsoft.com/office/drawing/2014/main" id="{4FA93B94-AD27-1E2F-320B-7DE2F10A428A}"/>
              </a:ext>
            </a:extLst>
          </p:cNvPr>
          <p:cNvSpPr txBox="1"/>
          <p:nvPr/>
        </p:nvSpPr>
        <p:spPr>
          <a:xfrm>
            <a:off x="215915" y="1110734"/>
            <a:ext cx="1003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openList</a:t>
            </a:r>
            <a:endParaRPr lang="zh-CN" altLang="en-US" dirty="0"/>
          </a:p>
        </p:txBody>
      </p:sp>
      <p:pic>
        <p:nvPicPr>
          <p:cNvPr id="50" name="图片 7">
            <a:extLst>
              <a:ext uri="{FF2B5EF4-FFF2-40B4-BE49-F238E27FC236}">
                <a16:creationId xmlns:a16="http://schemas.microsoft.com/office/drawing/2014/main" id="{A1170B97-3B63-59C0-AE5D-775F4923F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7470" y="3569360"/>
            <a:ext cx="2076928" cy="2769237"/>
          </a:xfrm>
          <a:prstGeom prst="rect">
            <a:avLst/>
          </a:prstGeom>
        </p:spPr>
      </p:pic>
      <p:pic>
        <p:nvPicPr>
          <p:cNvPr id="51" name="图片 14">
            <a:extLst>
              <a:ext uri="{FF2B5EF4-FFF2-40B4-BE49-F238E27FC236}">
                <a16:creationId xmlns:a16="http://schemas.microsoft.com/office/drawing/2014/main" id="{F1348A91-5C36-7F94-A337-CFC68CDA8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8397" y="1078893"/>
            <a:ext cx="2156001" cy="2340363"/>
          </a:xfrm>
          <a:prstGeom prst="rect">
            <a:avLst/>
          </a:prstGeom>
        </p:spPr>
      </p:pic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653CD3D1-3841-8E5C-B17B-968E2E6FE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932706"/>
              </p:ext>
            </p:extLst>
          </p:nvPr>
        </p:nvGraphicFramePr>
        <p:xfrm>
          <a:off x="5021591" y="523345"/>
          <a:ext cx="3383134" cy="402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4786">
                  <a:extLst>
                    <a:ext uri="{9D8B030D-6E8A-4147-A177-3AD203B41FA5}">
                      <a16:colId xmlns:a16="http://schemas.microsoft.com/office/drawing/2014/main" val="2544753554"/>
                    </a:ext>
                  </a:extLst>
                </a:gridCol>
                <a:gridCol w="741722">
                  <a:extLst>
                    <a:ext uri="{9D8B030D-6E8A-4147-A177-3AD203B41FA5}">
                      <a16:colId xmlns:a16="http://schemas.microsoft.com/office/drawing/2014/main" val="4284987241"/>
                    </a:ext>
                  </a:extLst>
                </a:gridCol>
                <a:gridCol w="1098313">
                  <a:extLst>
                    <a:ext uri="{9D8B030D-6E8A-4147-A177-3AD203B41FA5}">
                      <a16:colId xmlns:a16="http://schemas.microsoft.com/office/drawing/2014/main" val="3575881044"/>
                    </a:ext>
                  </a:extLst>
                </a:gridCol>
                <a:gridCol w="1098313">
                  <a:extLst>
                    <a:ext uri="{9D8B030D-6E8A-4147-A177-3AD203B41FA5}">
                      <a16:colId xmlns:a16="http://schemas.microsoft.com/office/drawing/2014/main" val="3456363485"/>
                    </a:ext>
                  </a:extLst>
                </a:gridCol>
              </a:tblGrid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open_list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close_list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9785369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22600476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ABC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273965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C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ABD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4103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EBD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6129648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BDF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SCAE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320675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5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BDG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SCAEF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68166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261603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51013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055686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753119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48643"/>
                  </a:ext>
                </a:extLst>
              </a:tr>
            </a:tbl>
          </a:graphicData>
        </a:graphic>
      </p:graphicFrame>
      <p:sp>
        <p:nvSpPr>
          <p:cNvPr id="7" name="文本框 13">
            <a:extLst>
              <a:ext uri="{FF2B5EF4-FFF2-40B4-BE49-F238E27FC236}">
                <a16:creationId xmlns:a16="http://schemas.microsoft.com/office/drawing/2014/main" id="{27BF903A-3901-0924-EE8E-9855D205F780}"/>
              </a:ext>
            </a:extLst>
          </p:cNvPr>
          <p:cNvSpPr txBox="1"/>
          <p:nvPr/>
        </p:nvSpPr>
        <p:spPr>
          <a:xfrm>
            <a:off x="308407" y="3326627"/>
            <a:ext cx="7757187" cy="343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(start)</a:t>
            </a: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min(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key=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lambda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end: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current_node.neighbours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).f &gt;=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).f &gt;=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close_list.pop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neighbour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 and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832414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14">
            <a:extLst>
              <a:ext uri="{FF2B5EF4-FFF2-40B4-BE49-F238E27FC236}">
                <a16:creationId xmlns:a16="http://schemas.microsoft.com/office/drawing/2014/main" id="{6C5179B9-DD96-115D-3790-0A19DF7F0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061" y="1224314"/>
            <a:ext cx="2162139" cy="288285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26088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5" dirty="0">
                <a:uFill>
                  <a:solidFill>
                    <a:srgbClr val="D0CECE"/>
                  </a:solidFill>
                </a:uFill>
              </a:rPr>
              <a:t>Exercise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 4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28</a:t>
            </a:fld>
            <a:endParaRPr spc="-6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984BB6-EB76-4DAE-8EF0-F70C033AFF4F}"/>
              </a:ext>
            </a:extLst>
          </p:cNvPr>
          <p:cNvSpPr/>
          <p:nvPr/>
        </p:nvSpPr>
        <p:spPr>
          <a:xfrm>
            <a:off x="2971800" y="2743200"/>
            <a:ext cx="866405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A0C925-00A7-416B-9D4D-B9B846336C00}"/>
              </a:ext>
            </a:extLst>
          </p:cNvPr>
          <p:cNvSpPr/>
          <p:nvPr/>
        </p:nvSpPr>
        <p:spPr>
          <a:xfrm>
            <a:off x="6477000" y="1107830"/>
            <a:ext cx="705773" cy="343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13">
            <a:extLst>
              <a:ext uri="{FF2B5EF4-FFF2-40B4-BE49-F238E27FC236}">
                <a16:creationId xmlns:a16="http://schemas.microsoft.com/office/drawing/2014/main" id="{9595EA1C-5318-CB7C-A18D-586651E25A7F}"/>
              </a:ext>
            </a:extLst>
          </p:cNvPr>
          <p:cNvSpPr/>
          <p:nvPr/>
        </p:nvSpPr>
        <p:spPr>
          <a:xfrm>
            <a:off x="6477000" y="1107830"/>
            <a:ext cx="705773" cy="343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13">
            <a:extLst>
              <a:ext uri="{FF2B5EF4-FFF2-40B4-BE49-F238E27FC236}">
                <a16:creationId xmlns:a16="http://schemas.microsoft.com/office/drawing/2014/main" id="{60DE02F8-2743-2FD6-34F9-23C14BC00175}"/>
              </a:ext>
            </a:extLst>
          </p:cNvPr>
          <p:cNvSpPr/>
          <p:nvPr/>
        </p:nvSpPr>
        <p:spPr>
          <a:xfrm>
            <a:off x="6477000" y="1107830"/>
            <a:ext cx="705773" cy="343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2">
            <a:extLst>
              <a:ext uri="{FF2B5EF4-FFF2-40B4-BE49-F238E27FC236}">
                <a16:creationId xmlns:a16="http://schemas.microsoft.com/office/drawing/2014/main" id="{578724E0-AA08-ADE6-E19D-01AB5E30F7C0}"/>
              </a:ext>
            </a:extLst>
          </p:cNvPr>
          <p:cNvSpPr/>
          <p:nvPr/>
        </p:nvSpPr>
        <p:spPr>
          <a:xfrm>
            <a:off x="2971800" y="2743200"/>
            <a:ext cx="866405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3">
            <a:extLst>
              <a:ext uri="{FF2B5EF4-FFF2-40B4-BE49-F238E27FC236}">
                <a16:creationId xmlns:a16="http://schemas.microsoft.com/office/drawing/2014/main" id="{95B2E430-48CE-749A-C4BE-338C9BFA0F41}"/>
              </a:ext>
            </a:extLst>
          </p:cNvPr>
          <p:cNvSpPr/>
          <p:nvPr/>
        </p:nvSpPr>
        <p:spPr>
          <a:xfrm>
            <a:off x="6477000" y="1107830"/>
            <a:ext cx="705773" cy="343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右箭头 16">
            <a:extLst>
              <a:ext uri="{FF2B5EF4-FFF2-40B4-BE49-F238E27FC236}">
                <a16:creationId xmlns:a16="http://schemas.microsoft.com/office/drawing/2014/main" id="{CBFEE79B-CF32-EAF1-CF7C-57386B0D33AF}"/>
              </a:ext>
            </a:extLst>
          </p:cNvPr>
          <p:cNvSpPr/>
          <p:nvPr/>
        </p:nvSpPr>
        <p:spPr>
          <a:xfrm>
            <a:off x="2188504" y="1358388"/>
            <a:ext cx="658639" cy="3771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F601387-0FE5-5E78-161B-CDB80A9214FE}"/>
              </a:ext>
            </a:extLst>
          </p:cNvPr>
          <p:cNvGrpSpPr/>
          <p:nvPr/>
        </p:nvGrpSpPr>
        <p:grpSpPr>
          <a:xfrm>
            <a:off x="990601" y="1219199"/>
            <a:ext cx="3891238" cy="2005997"/>
            <a:chOff x="990601" y="1219199"/>
            <a:chExt cx="3891238" cy="2005997"/>
          </a:xfrm>
        </p:grpSpPr>
        <p:pic>
          <p:nvPicPr>
            <p:cNvPr id="25" name="图片 11">
              <a:extLst>
                <a:ext uri="{FF2B5EF4-FFF2-40B4-BE49-F238E27FC236}">
                  <a16:creationId xmlns:a16="http://schemas.microsoft.com/office/drawing/2014/main" id="{DE889E22-C935-F926-3107-351BCEB8C9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-693" t="570"/>
            <a:stretch/>
          </p:blipFill>
          <p:spPr>
            <a:xfrm>
              <a:off x="990601" y="1219199"/>
              <a:ext cx="3891238" cy="2005997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F387185-6FF7-FBC4-B87C-066970DA7902}"/>
                </a:ext>
              </a:extLst>
            </p:cNvPr>
            <p:cNvSpPr/>
            <p:nvPr/>
          </p:nvSpPr>
          <p:spPr>
            <a:xfrm>
              <a:off x="990601" y="1219199"/>
              <a:ext cx="228599" cy="762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8" name="直接箭头连接符 7">
            <a:extLst>
              <a:ext uri="{FF2B5EF4-FFF2-40B4-BE49-F238E27FC236}">
                <a16:creationId xmlns:a16="http://schemas.microsoft.com/office/drawing/2014/main" id="{A2DE3901-F825-B7AA-C515-F47DB5F2372A}"/>
              </a:ext>
            </a:extLst>
          </p:cNvPr>
          <p:cNvCxnSpPr>
            <a:cxnSpLocks/>
          </p:cNvCxnSpPr>
          <p:nvPr/>
        </p:nvCxnSpPr>
        <p:spPr>
          <a:xfrm>
            <a:off x="1216787" y="1295400"/>
            <a:ext cx="689828" cy="8382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9">
            <a:extLst>
              <a:ext uri="{FF2B5EF4-FFF2-40B4-BE49-F238E27FC236}">
                <a16:creationId xmlns:a16="http://schemas.microsoft.com/office/drawing/2014/main" id="{63B4121A-63DC-F515-5121-8FFCB479466A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1219306" y="1295400"/>
            <a:ext cx="3276494" cy="8382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本框 8">
            <a:extLst>
              <a:ext uri="{FF2B5EF4-FFF2-40B4-BE49-F238E27FC236}">
                <a16:creationId xmlns:a16="http://schemas.microsoft.com/office/drawing/2014/main" id="{963BA4BB-D630-BED6-B530-074837BE44C7}"/>
              </a:ext>
            </a:extLst>
          </p:cNvPr>
          <p:cNvSpPr txBox="1"/>
          <p:nvPr/>
        </p:nvSpPr>
        <p:spPr>
          <a:xfrm>
            <a:off x="215915" y="1110734"/>
            <a:ext cx="1003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openList</a:t>
            </a:r>
            <a:endParaRPr lang="zh-CN" altLang="en-US" dirty="0"/>
          </a:p>
        </p:txBody>
      </p:sp>
      <p:pic>
        <p:nvPicPr>
          <p:cNvPr id="33" name="图片 7">
            <a:extLst>
              <a:ext uri="{FF2B5EF4-FFF2-40B4-BE49-F238E27FC236}">
                <a16:creationId xmlns:a16="http://schemas.microsoft.com/office/drawing/2014/main" id="{79FEDEF8-D702-4E2E-C919-3DD448C00E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9413" y="3365293"/>
            <a:ext cx="2301830" cy="3063627"/>
          </a:xfrm>
          <a:prstGeom prst="rect">
            <a:avLst/>
          </a:prstGeom>
        </p:spPr>
      </p:pic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D046083A-2509-6F99-6429-91A99F07C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701860"/>
              </p:ext>
            </p:extLst>
          </p:nvPr>
        </p:nvGraphicFramePr>
        <p:xfrm>
          <a:off x="5021591" y="523345"/>
          <a:ext cx="3383134" cy="402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4786">
                  <a:extLst>
                    <a:ext uri="{9D8B030D-6E8A-4147-A177-3AD203B41FA5}">
                      <a16:colId xmlns:a16="http://schemas.microsoft.com/office/drawing/2014/main" val="2544753554"/>
                    </a:ext>
                  </a:extLst>
                </a:gridCol>
                <a:gridCol w="741722">
                  <a:extLst>
                    <a:ext uri="{9D8B030D-6E8A-4147-A177-3AD203B41FA5}">
                      <a16:colId xmlns:a16="http://schemas.microsoft.com/office/drawing/2014/main" val="4284987241"/>
                    </a:ext>
                  </a:extLst>
                </a:gridCol>
                <a:gridCol w="1098313">
                  <a:extLst>
                    <a:ext uri="{9D8B030D-6E8A-4147-A177-3AD203B41FA5}">
                      <a16:colId xmlns:a16="http://schemas.microsoft.com/office/drawing/2014/main" val="3575881044"/>
                    </a:ext>
                  </a:extLst>
                </a:gridCol>
                <a:gridCol w="1098313">
                  <a:extLst>
                    <a:ext uri="{9D8B030D-6E8A-4147-A177-3AD203B41FA5}">
                      <a16:colId xmlns:a16="http://schemas.microsoft.com/office/drawing/2014/main" val="3456363485"/>
                    </a:ext>
                  </a:extLst>
                </a:gridCol>
              </a:tblGrid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open_list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close_list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9785369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22600476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ABC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273965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C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ABD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4103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EBD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6129648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BDF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SCAE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320675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5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BDG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SCAEF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68166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BG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SCAEFD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261603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51013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055686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753119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48643"/>
                  </a:ext>
                </a:extLst>
              </a:tr>
            </a:tbl>
          </a:graphicData>
        </a:graphic>
      </p:graphicFrame>
      <p:sp>
        <p:nvSpPr>
          <p:cNvPr id="7" name="文本框 13">
            <a:extLst>
              <a:ext uri="{FF2B5EF4-FFF2-40B4-BE49-F238E27FC236}">
                <a16:creationId xmlns:a16="http://schemas.microsoft.com/office/drawing/2014/main" id="{B7C04C1E-90D9-C478-F232-23499F2B2078}"/>
              </a:ext>
            </a:extLst>
          </p:cNvPr>
          <p:cNvSpPr txBox="1"/>
          <p:nvPr/>
        </p:nvSpPr>
        <p:spPr>
          <a:xfrm>
            <a:off x="308407" y="3326627"/>
            <a:ext cx="7757187" cy="343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(start)</a:t>
            </a: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min(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key=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lambda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end: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current_node.neighbours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).f &gt;=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).f &gt;=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close_list.pop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neighbour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 and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321726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14">
            <a:extLst>
              <a:ext uri="{FF2B5EF4-FFF2-40B4-BE49-F238E27FC236}">
                <a16:creationId xmlns:a16="http://schemas.microsoft.com/office/drawing/2014/main" id="{6EF58B72-00DB-A504-7BF5-51AAD5F3F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6693" y="1279070"/>
            <a:ext cx="2173707" cy="28931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32184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5" dirty="0">
                <a:uFill>
                  <a:solidFill>
                    <a:srgbClr val="D0CECE"/>
                  </a:solidFill>
                </a:uFill>
              </a:rPr>
              <a:t>Exercise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 4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29</a:t>
            </a:fld>
            <a:endParaRPr spc="-6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A0C925-00A7-416B-9D4D-B9B846336C00}"/>
              </a:ext>
            </a:extLst>
          </p:cNvPr>
          <p:cNvSpPr/>
          <p:nvPr/>
        </p:nvSpPr>
        <p:spPr>
          <a:xfrm>
            <a:off x="6477000" y="1107830"/>
            <a:ext cx="705773" cy="343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2">
            <a:extLst>
              <a:ext uri="{FF2B5EF4-FFF2-40B4-BE49-F238E27FC236}">
                <a16:creationId xmlns:a16="http://schemas.microsoft.com/office/drawing/2014/main" id="{09BACF90-EF45-2AD1-1EA2-48CFB6764D93}"/>
              </a:ext>
            </a:extLst>
          </p:cNvPr>
          <p:cNvSpPr/>
          <p:nvPr/>
        </p:nvSpPr>
        <p:spPr>
          <a:xfrm>
            <a:off x="2971800" y="2743200"/>
            <a:ext cx="866405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3">
            <a:extLst>
              <a:ext uri="{FF2B5EF4-FFF2-40B4-BE49-F238E27FC236}">
                <a16:creationId xmlns:a16="http://schemas.microsoft.com/office/drawing/2014/main" id="{D83F7A64-5614-1151-11E8-FEC608037EEA}"/>
              </a:ext>
            </a:extLst>
          </p:cNvPr>
          <p:cNvSpPr/>
          <p:nvPr/>
        </p:nvSpPr>
        <p:spPr>
          <a:xfrm>
            <a:off x="6477000" y="1107830"/>
            <a:ext cx="705773" cy="343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3">
            <a:extLst>
              <a:ext uri="{FF2B5EF4-FFF2-40B4-BE49-F238E27FC236}">
                <a16:creationId xmlns:a16="http://schemas.microsoft.com/office/drawing/2014/main" id="{E28980ED-3EB9-0ADA-A81F-248FF032B907}"/>
              </a:ext>
            </a:extLst>
          </p:cNvPr>
          <p:cNvSpPr/>
          <p:nvPr/>
        </p:nvSpPr>
        <p:spPr>
          <a:xfrm>
            <a:off x="6477000" y="1107830"/>
            <a:ext cx="705773" cy="343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13">
            <a:extLst>
              <a:ext uri="{FF2B5EF4-FFF2-40B4-BE49-F238E27FC236}">
                <a16:creationId xmlns:a16="http://schemas.microsoft.com/office/drawing/2014/main" id="{DB55E269-31C4-77BE-9044-792FA345CBD9}"/>
              </a:ext>
            </a:extLst>
          </p:cNvPr>
          <p:cNvSpPr/>
          <p:nvPr/>
        </p:nvSpPr>
        <p:spPr>
          <a:xfrm>
            <a:off x="6477000" y="1107830"/>
            <a:ext cx="705773" cy="343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12">
            <a:extLst>
              <a:ext uri="{FF2B5EF4-FFF2-40B4-BE49-F238E27FC236}">
                <a16:creationId xmlns:a16="http://schemas.microsoft.com/office/drawing/2014/main" id="{112AF893-0B51-6D55-1178-85E0C96FCBE6}"/>
              </a:ext>
            </a:extLst>
          </p:cNvPr>
          <p:cNvSpPr/>
          <p:nvPr/>
        </p:nvSpPr>
        <p:spPr>
          <a:xfrm>
            <a:off x="2971800" y="2743200"/>
            <a:ext cx="866405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13">
            <a:extLst>
              <a:ext uri="{FF2B5EF4-FFF2-40B4-BE49-F238E27FC236}">
                <a16:creationId xmlns:a16="http://schemas.microsoft.com/office/drawing/2014/main" id="{0CBCDC39-C406-7C60-A1A4-303681547AE9}"/>
              </a:ext>
            </a:extLst>
          </p:cNvPr>
          <p:cNvSpPr/>
          <p:nvPr/>
        </p:nvSpPr>
        <p:spPr>
          <a:xfrm>
            <a:off x="6477000" y="1107830"/>
            <a:ext cx="705773" cy="343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右箭头 16">
            <a:extLst>
              <a:ext uri="{FF2B5EF4-FFF2-40B4-BE49-F238E27FC236}">
                <a16:creationId xmlns:a16="http://schemas.microsoft.com/office/drawing/2014/main" id="{D84ED27F-A39F-325C-D060-65FFCF6FB4EF}"/>
              </a:ext>
            </a:extLst>
          </p:cNvPr>
          <p:cNvSpPr/>
          <p:nvPr/>
        </p:nvSpPr>
        <p:spPr>
          <a:xfrm>
            <a:off x="2188504" y="1358388"/>
            <a:ext cx="658639" cy="3771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39FD4E1-A410-23A2-72DB-E7ACA4E0BDB0}"/>
              </a:ext>
            </a:extLst>
          </p:cNvPr>
          <p:cNvGrpSpPr/>
          <p:nvPr/>
        </p:nvGrpSpPr>
        <p:grpSpPr>
          <a:xfrm>
            <a:off x="990601" y="1219199"/>
            <a:ext cx="3891238" cy="2005997"/>
            <a:chOff x="990601" y="1219199"/>
            <a:chExt cx="3891238" cy="2005997"/>
          </a:xfrm>
        </p:grpSpPr>
        <p:pic>
          <p:nvPicPr>
            <p:cNvPr id="26" name="图片 11">
              <a:extLst>
                <a:ext uri="{FF2B5EF4-FFF2-40B4-BE49-F238E27FC236}">
                  <a16:creationId xmlns:a16="http://schemas.microsoft.com/office/drawing/2014/main" id="{01F28381-ED82-DBFB-1F55-C34BFCD1BA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-693" t="570"/>
            <a:stretch/>
          </p:blipFill>
          <p:spPr>
            <a:xfrm>
              <a:off x="990601" y="1219199"/>
              <a:ext cx="3891238" cy="2005997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7A06A81-4CF9-788B-BCB9-3D63F155F248}"/>
                </a:ext>
              </a:extLst>
            </p:cNvPr>
            <p:cNvSpPr/>
            <p:nvPr/>
          </p:nvSpPr>
          <p:spPr>
            <a:xfrm>
              <a:off x="990601" y="1219199"/>
              <a:ext cx="228599" cy="762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9" name="直接箭头连接符 7">
            <a:extLst>
              <a:ext uri="{FF2B5EF4-FFF2-40B4-BE49-F238E27FC236}">
                <a16:creationId xmlns:a16="http://schemas.microsoft.com/office/drawing/2014/main" id="{A8A59E29-3F71-304E-CC61-3DB8AC3F1D4B}"/>
              </a:ext>
            </a:extLst>
          </p:cNvPr>
          <p:cNvCxnSpPr>
            <a:cxnSpLocks/>
          </p:cNvCxnSpPr>
          <p:nvPr/>
        </p:nvCxnSpPr>
        <p:spPr>
          <a:xfrm>
            <a:off x="1216787" y="1295400"/>
            <a:ext cx="1526413" cy="5334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9">
            <a:extLst>
              <a:ext uri="{FF2B5EF4-FFF2-40B4-BE49-F238E27FC236}">
                <a16:creationId xmlns:a16="http://schemas.microsoft.com/office/drawing/2014/main" id="{B052BA9A-7D21-C546-7F65-110575454A04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1219306" y="1295400"/>
            <a:ext cx="3276494" cy="8382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本框 8">
            <a:extLst>
              <a:ext uri="{FF2B5EF4-FFF2-40B4-BE49-F238E27FC236}">
                <a16:creationId xmlns:a16="http://schemas.microsoft.com/office/drawing/2014/main" id="{F53F9EFF-F949-B355-3243-216BF725F71B}"/>
              </a:ext>
            </a:extLst>
          </p:cNvPr>
          <p:cNvSpPr txBox="1"/>
          <p:nvPr/>
        </p:nvSpPr>
        <p:spPr>
          <a:xfrm>
            <a:off x="215915" y="1110734"/>
            <a:ext cx="1003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openList</a:t>
            </a:r>
            <a:endParaRPr lang="zh-CN" altLang="en-US" dirty="0"/>
          </a:p>
        </p:txBody>
      </p:sp>
      <p:pic>
        <p:nvPicPr>
          <p:cNvPr id="33" name="图片 7">
            <a:extLst>
              <a:ext uri="{FF2B5EF4-FFF2-40B4-BE49-F238E27FC236}">
                <a16:creationId xmlns:a16="http://schemas.microsoft.com/office/drawing/2014/main" id="{9E98992D-F50D-2DE9-F903-BB36A42F6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9860" y="3764691"/>
            <a:ext cx="2200016" cy="2893100"/>
          </a:xfrm>
          <a:prstGeom prst="rect">
            <a:avLst/>
          </a:prstGeom>
        </p:spPr>
      </p:pic>
      <p:cxnSp>
        <p:nvCxnSpPr>
          <p:cNvPr id="35" name="直接箭头连接符 9">
            <a:extLst>
              <a:ext uri="{FF2B5EF4-FFF2-40B4-BE49-F238E27FC236}">
                <a16:creationId xmlns:a16="http://schemas.microsoft.com/office/drawing/2014/main" id="{DDF6F734-D18B-7977-BC70-FCD504B4E57C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1219306" y="1295400"/>
            <a:ext cx="1627837" cy="12192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417ADA28-D2A3-741F-2957-284038D8B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645913"/>
              </p:ext>
            </p:extLst>
          </p:nvPr>
        </p:nvGraphicFramePr>
        <p:xfrm>
          <a:off x="5021591" y="523345"/>
          <a:ext cx="3383134" cy="402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4786">
                  <a:extLst>
                    <a:ext uri="{9D8B030D-6E8A-4147-A177-3AD203B41FA5}">
                      <a16:colId xmlns:a16="http://schemas.microsoft.com/office/drawing/2014/main" val="2544753554"/>
                    </a:ext>
                  </a:extLst>
                </a:gridCol>
                <a:gridCol w="741722">
                  <a:extLst>
                    <a:ext uri="{9D8B030D-6E8A-4147-A177-3AD203B41FA5}">
                      <a16:colId xmlns:a16="http://schemas.microsoft.com/office/drawing/2014/main" val="4284987241"/>
                    </a:ext>
                  </a:extLst>
                </a:gridCol>
                <a:gridCol w="1098313">
                  <a:extLst>
                    <a:ext uri="{9D8B030D-6E8A-4147-A177-3AD203B41FA5}">
                      <a16:colId xmlns:a16="http://schemas.microsoft.com/office/drawing/2014/main" val="3575881044"/>
                    </a:ext>
                  </a:extLst>
                </a:gridCol>
                <a:gridCol w="1098313">
                  <a:extLst>
                    <a:ext uri="{9D8B030D-6E8A-4147-A177-3AD203B41FA5}">
                      <a16:colId xmlns:a16="http://schemas.microsoft.com/office/drawing/2014/main" val="3456363485"/>
                    </a:ext>
                  </a:extLst>
                </a:gridCol>
              </a:tblGrid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open_list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close_list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9785369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22600476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ABC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273965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C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ABD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4103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EBD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6129648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BDF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SCAE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320675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5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BDG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SCAEF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68166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BG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SCAEFD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261603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7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SCAFB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51013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055686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753119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48643"/>
                  </a:ext>
                </a:extLst>
              </a:tr>
            </a:tbl>
          </a:graphicData>
        </a:graphic>
      </p:graphicFrame>
      <p:pic>
        <p:nvPicPr>
          <p:cNvPr id="46" name="图片 8">
            <a:extLst>
              <a:ext uri="{FF2B5EF4-FFF2-40B4-BE49-F238E27FC236}">
                <a16:creationId xmlns:a16="http://schemas.microsoft.com/office/drawing/2014/main" id="{8383ABE1-9E9B-F0DC-4FDF-E77E4F821B66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>
            <a:off x="6933645" y="4546705"/>
            <a:ext cx="1780867" cy="1933150"/>
          </a:xfrm>
          <a:prstGeom prst="rect">
            <a:avLst/>
          </a:prstGeom>
        </p:spPr>
      </p:pic>
      <p:sp>
        <p:nvSpPr>
          <p:cNvPr id="7" name="文本框 13">
            <a:extLst>
              <a:ext uri="{FF2B5EF4-FFF2-40B4-BE49-F238E27FC236}">
                <a16:creationId xmlns:a16="http://schemas.microsoft.com/office/drawing/2014/main" id="{9C6E2ED5-E43B-50E7-07C7-8B597F80D61A}"/>
              </a:ext>
            </a:extLst>
          </p:cNvPr>
          <p:cNvSpPr txBox="1"/>
          <p:nvPr/>
        </p:nvSpPr>
        <p:spPr>
          <a:xfrm>
            <a:off x="308407" y="3326627"/>
            <a:ext cx="7757187" cy="343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(start)</a:t>
            </a: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min(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key=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lambda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end: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current_node.neighbours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).f &gt;=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).f &gt;=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close_list.pop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neighbour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 and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63267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5" y="321563"/>
            <a:ext cx="292322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5" dirty="0">
                <a:uFill>
                  <a:solidFill>
                    <a:srgbClr val="D0CECE"/>
                  </a:solidFill>
                </a:uFill>
              </a:rPr>
              <a:t>Exercise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 4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34E07AA-088B-4B32-97F5-F1E37F910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717" y="1107830"/>
            <a:ext cx="2065553" cy="2716277"/>
          </a:xfrm>
          <a:prstGeom prst="rect">
            <a:avLst/>
          </a:prstGeom>
        </p:spPr>
      </p:pic>
      <p:pic>
        <p:nvPicPr>
          <p:cNvPr id="10" name="图片 7">
            <a:extLst>
              <a:ext uri="{FF2B5EF4-FFF2-40B4-BE49-F238E27FC236}">
                <a16:creationId xmlns:a16="http://schemas.microsoft.com/office/drawing/2014/main" id="{2263EFFE-B302-10D7-CCF9-EA6CD48D1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6542" y="3200400"/>
            <a:ext cx="2373758" cy="3129553"/>
          </a:xfrm>
          <a:prstGeom prst="rect">
            <a:avLst/>
          </a:prstGeom>
        </p:spPr>
      </p:pic>
      <p:sp>
        <p:nvSpPr>
          <p:cNvPr id="12" name="矩形 13">
            <a:extLst>
              <a:ext uri="{FF2B5EF4-FFF2-40B4-BE49-F238E27FC236}">
                <a16:creationId xmlns:a16="http://schemas.microsoft.com/office/drawing/2014/main" id="{DC3F009F-EBED-F426-9111-6DF8D565C255}"/>
              </a:ext>
            </a:extLst>
          </p:cNvPr>
          <p:cNvSpPr/>
          <p:nvPr/>
        </p:nvSpPr>
        <p:spPr>
          <a:xfrm>
            <a:off x="6477000" y="1107830"/>
            <a:ext cx="705773" cy="343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2">
            <a:extLst>
              <a:ext uri="{FF2B5EF4-FFF2-40B4-BE49-F238E27FC236}">
                <a16:creationId xmlns:a16="http://schemas.microsoft.com/office/drawing/2014/main" id="{A7D0E6A6-5A09-C89A-634C-B106670CED53}"/>
              </a:ext>
            </a:extLst>
          </p:cNvPr>
          <p:cNvSpPr/>
          <p:nvPr/>
        </p:nvSpPr>
        <p:spPr>
          <a:xfrm>
            <a:off x="2971800" y="2743200"/>
            <a:ext cx="866405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2">
            <a:extLst>
              <a:ext uri="{FF2B5EF4-FFF2-40B4-BE49-F238E27FC236}">
                <a16:creationId xmlns:a16="http://schemas.microsoft.com/office/drawing/2014/main" id="{1EC84022-B133-CF7E-0BCA-20A4F30E0F65}"/>
              </a:ext>
            </a:extLst>
          </p:cNvPr>
          <p:cNvSpPr/>
          <p:nvPr/>
        </p:nvSpPr>
        <p:spPr>
          <a:xfrm>
            <a:off x="2971800" y="2743200"/>
            <a:ext cx="866405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右箭头 16">
            <a:extLst>
              <a:ext uri="{FF2B5EF4-FFF2-40B4-BE49-F238E27FC236}">
                <a16:creationId xmlns:a16="http://schemas.microsoft.com/office/drawing/2014/main" id="{2EB2096C-66DF-5984-1488-E1F600C09D87}"/>
              </a:ext>
            </a:extLst>
          </p:cNvPr>
          <p:cNvSpPr/>
          <p:nvPr/>
        </p:nvSpPr>
        <p:spPr>
          <a:xfrm>
            <a:off x="2188504" y="1358388"/>
            <a:ext cx="658639" cy="3771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9746DC9-644B-BB64-9DC4-02186753D3C6}"/>
              </a:ext>
            </a:extLst>
          </p:cNvPr>
          <p:cNvGrpSpPr/>
          <p:nvPr/>
        </p:nvGrpSpPr>
        <p:grpSpPr>
          <a:xfrm>
            <a:off x="990601" y="1219199"/>
            <a:ext cx="3891238" cy="2005997"/>
            <a:chOff x="990601" y="1219199"/>
            <a:chExt cx="3891238" cy="2005997"/>
          </a:xfrm>
        </p:grpSpPr>
        <p:pic>
          <p:nvPicPr>
            <p:cNvPr id="22" name="图片 11">
              <a:extLst>
                <a:ext uri="{FF2B5EF4-FFF2-40B4-BE49-F238E27FC236}">
                  <a16:creationId xmlns:a16="http://schemas.microsoft.com/office/drawing/2014/main" id="{6D98C770-DA20-C9C0-774C-630E80AF22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-693" t="570"/>
            <a:stretch/>
          </p:blipFill>
          <p:spPr>
            <a:xfrm>
              <a:off x="990601" y="1219199"/>
              <a:ext cx="3891238" cy="2005997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9E47B1-0182-FC4E-5E9F-76BECBDDFC9F}"/>
                </a:ext>
              </a:extLst>
            </p:cNvPr>
            <p:cNvSpPr/>
            <p:nvPr/>
          </p:nvSpPr>
          <p:spPr>
            <a:xfrm>
              <a:off x="990601" y="1219199"/>
              <a:ext cx="228599" cy="762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5" name="直接箭头连接符 7">
            <a:extLst>
              <a:ext uri="{FF2B5EF4-FFF2-40B4-BE49-F238E27FC236}">
                <a16:creationId xmlns:a16="http://schemas.microsoft.com/office/drawing/2014/main" id="{DA84254A-174D-2669-1E43-CFE32AC43FB1}"/>
              </a:ext>
            </a:extLst>
          </p:cNvPr>
          <p:cNvCxnSpPr>
            <a:cxnSpLocks/>
          </p:cNvCxnSpPr>
          <p:nvPr/>
        </p:nvCxnSpPr>
        <p:spPr>
          <a:xfrm>
            <a:off x="1216787" y="1295400"/>
            <a:ext cx="1526413" cy="5334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9">
            <a:extLst>
              <a:ext uri="{FF2B5EF4-FFF2-40B4-BE49-F238E27FC236}">
                <a16:creationId xmlns:a16="http://schemas.microsoft.com/office/drawing/2014/main" id="{ED6D87E7-22F6-A40D-BD18-3E2C449DF77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1219306" y="1295400"/>
            <a:ext cx="3276494" cy="8382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本框 8">
            <a:extLst>
              <a:ext uri="{FF2B5EF4-FFF2-40B4-BE49-F238E27FC236}">
                <a16:creationId xmlns:a16="http://schemas.microsoft.com/office/drawing/2014/main" id="{323723BD-9400-88CF-A474-30E1ECAC0829}"/>
              </a:ext>
            </a:extLst>
          </p:cNvPr>
          <p:cNvSpPr txBox="1"/>
          <p:nvPr/>
        </p:nvSpPr>
        <p:spPr>
          <a:xfrm>
            <a:off x="215915" y="1110734"/>
            <a:ext cx="1003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openList</a:t>
            </a:r>
            <a:endParaRPr lang="zh-CN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40495E-A7B2-D167-320C-27DF28376E0F}"/>
              </a:ext>
            </a:extLst>
          </p:cNvPr>
          <p:cNvSpPr txBox="1"/>
          <p:nvPr/>
        </p:nvSpPr>
        <p:spPr>
          <a:xfrm>
            <a:off x="9109790" y="2312079"/>
            <a:ext cx="5321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Menlo" panose="020B0609030804020204" pitchFamily="49" charset="0"/>
              </a:rPr>
              <a:t>16</a:t>
            </a:r>
            <a:endParaRPr lang="en-US" sz="1400" dirty="0"/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55576C02-AF8F-1A4D-138C-C1C021D68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877575"/>
              </p:ext>
            </p:extLst>
          </p:nvPr>
        </p:nvGraphicFramePr>
        <p:xfrm>
          <a:off x="5021591" y="523345"/>
          <a:ext cx="3383134" cy="402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4786">
                  <a:extLst>
                    <a:ext uri="{9D8B030D-6E8A-4147-A177-3AD203B41FA5}">
                      <a16:colId xmlns:a16="http://schemas.microsoft.com/office/drawing/2014/main" val="2544753554"/>
                    </a:ext>
                  </a:extLst>
                </a:gridCol>
                <a:gridCol w="741722">
                  <a:extLst>
                    <a:ext uri="{9D8B030D-6E8A-4147-A177-3AD203B41FA5}">
                      <a16:colId xmlns:a16="http://schemas.microsoft.com/office/drawing/2014/main" val="4284987241"/>
                    </a:ext>
                  </a:extLst>
                </a:gridCol>
                <a:gridCol w="1098313">
                  <a:extLst>
                    <a:ext uri="{9D8B030D-6E8A-4147-A177-3AD203B41FA5}">
                      <a16:colId xmlns:a16="http://schemas.microsoft.com/office/drawing/2014/main" val="3575881044"/>
                    </a:ext>
                  </a:extLst>
                </a:gridCol>
                <a:gridCol w="1098313">
                  <a:extLst>
                    <a:ext uri="{9D8B030D-6E8A-4147-A177-3AD203B41FA5}">
                      <a16:colId xmlns:a16="http://schemas.microsoft.com/office/drawing/2014/main" val="3456363485"/>
                    </a:ext>
                  </a:extLst>
                </a:gridCol>
              </a:tblGrid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open_list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close_list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9785369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22600476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ABC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273965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C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ABD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4103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EBD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6129648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BDF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SCAE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320675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5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BDG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SCAEF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68166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BG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SCAEFD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261603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7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SCAFB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51013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8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SCAFBD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055686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753119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48643"/>
                  </a:ext>
                </a:extLst>
              </a:tr>
            </a:tbl>
          </a:graphicData>
        </a:graphic>
      </p:graphicFrame>
      <p:pic>
        <p:nvPicPr>
          <p:cNvPr id="43" name="图片 15">
            <a:extLst>
              <a:ext uri="{FF2B5EF4-FFF2-40B4-BE49-F238E27FC236}">
                <a16:creationId xmlns:a16="http://schemas.microsoft.com/office/drawing/2014/main" id="{C5357F50-DEE9-5242-DAC4-BCE0290AD67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>
            <a:off x="6477000" y="4480681"/>
            <a:ext cx="2973612" cy="1563445"/>
          </a:xfrm>
          <a:prstGeom prst="rect">
            <a:avLst/>
          </a:prstGeom>
        </p:spPr>
      </p:pic>
      <p:sp>
        <p:nvSpPr>
          <p:cNvPr id="7" name="文本框 13">
            <a:extLst>
              <a:ext uri="{FF2B5EF4-FFF2-40B4-BE49-F238E27FC236}">
                <a16:creationId xmlns:a16="http://schemas.microsoft.com/office/drawing/2014/main" id="{EC52094C-948E-CE1E-53CB-23E957C40DB7}"/>
              </a:ext>
            </a:extLst>
          </p:cNvPr>
          <p:cNvSpPr txBox="1"/>
          <p:nvPr/>
        </p:nvSpPr>
        <p:spPr>
          <a:xfrm>
            <a:off x="308407" y="3326627"/>
            <a:ext cx="7757187" cy="343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(start)</a:t>
            </a: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min(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key=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lambda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end: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current_node.neighbours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).f &gt;=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).f &gt;=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close_list.pop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neighbour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 and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439811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5" y="321563"/>
            <a:ext cx="292322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5" dirty="0">
                <a:uFill>
                  <a:solidFill>
                    <a:srgbClr val="D0CECE"/>
                  </a:solidFill>
                </a:uFill>
              </a:rPr>
              <a:t>Exercise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 4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pic>
        <p:nvPicPr>
          <p:cNvPr id="10" name="图片 7">
            <a:extLst>
              <a:ext uri="{FF2B5EF4-FFF2-40B4-BE49-F238E27FC236}">
                <a16:creationId xmlns:a16="http://schemas.microsoft.com/office/drawing/2014/main" id="{2263EFFE-B302-10D7-CCF9-EA6CD48D1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540" y="1137256"/>
            <a:ext cx="1916231" cy="2526351"/>
          </a:xfrm>
          <a:prstGeom prst="rect">
            <a:avLst/>
          </a:prstGeom>
        </p:spPr>
      </p:pic>
      <p:sp>
        <p:nvSpPr>
          <p:cNvPr id="12" name="矩形 13">
            <a:extLst>
              <a:ext uri="{FF2B5EF4-FFF2-40B4-BE49-F238E27FC236}">
                <a16:creationId xmlns:a16="http://schemas.microsoft.com/office/drawing/2014/main" id="{DC3F009F-EBED-F426-9111-6DF8D565C255}"/>
              </a:ext>
            </a:extLst>
          </p:cNvPr>
          <p:cNvSpPr/>
          <p:nvPr/>
        </p:nvSpPr>
        <p:spPr>
          <a:xfrm>
            <a:off x="6477000" y="1107830"/>
            <a:ext cx="705773" cy="343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2">
            <a:extLst>
              <a:ext uri="{FF2B5EF4-FFF2-40B4-BE49-F238E27FC236}">
                <a16:creationId xmlns:a16="http://schemas.microsoft.com/office/drawing/2014/main" id="{A7D0E6A6-5A09-C89A-634C-B106670CED53}"/>
              </a:ext>
            </a:extLst>
          </p:cNvPr>
          <p:cNvSpPr/>
          <p:nvPr/>
        </p:nvSpPr>
        <p:spPr>
          <a:xfrm>
            <a:off x="2971800" y="2743200"/>
            <a:ext cx="866405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2">
            <a:extLst>
              <a:ext uri="{FF2B5EF4-FFF2-40B4-BE49-F238E27FC236}">
                <a16:creationId xmlns:a16="http://schemas.microsoft.com/office/drawing/2014/main" id="{1EC84022-B133-CF7E-0BCA-20A4F30E0F65}"/>
              </a:ext>
            </a:extLst>
          </p:cNvPr>
          <p:cNvSpPr/>
          <p:nvPr/>
        </p:nvSpPr>
        <p:spPr>
          <a:xfrm>
            <a:off x="2971800" y="2743200"/>
            <a:ext cx="866405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右箭头 16">
            <a:extLst>
              <a:ext uri="{FF2B5EF4-FFF2-40B4-BE49-F238E27FC236}">
                <a16:creationId xmlns:a16="http://schemas.microsoft.com/office/drawing/2014/main" id="{2EB2096C-66DF-5984-1488-E1F600C09D87}"/>
              </a:ext>
            </a:extLst>
          </p:cNvPr>
          <p:cNvSpPr/>
          <p:nvPr/>
        </p:nvSpPr>
        <p:spPr>
          <a:xfrm>
            <a:off x="2188504" y="1358388"/>
            <a:ext cx="658639" cy="3771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9746DC9-644B-BB64-9DC4-02186753D3C6}"/>
              </a:ext>
            </a:extLst>
          </p:cNvPr>
          <p:cNvGrpSpPr/>
          <p:nvPr/>
        </p:nvGrpSpPr>
        <p:grpSpPr>
          <a:xfrm>
            <a:off x="990601" y="1219199"/>
            <a:ext cx="3891238" cy="2005997"/>
            <a:chOff x="990601" y="1219199"/>
            <a:chExt cx="3891238" cy="2005997"/>
          </a:xfrm>
        </p:grpSpPr>
        <p:pic>
          <p:nvPicPr>
            <p:cNvPr id="22" name="图片 11">
              <a:extLst>
                <a:ext uri="{FF2B5EF4-FFF2-40B4-BE49-F238E27FC236}">
                  <a16:creationId xmlns:a16="http://schemas.microsoft.com/office/drawing/2014/main" id="{6D98C770-DA20-C9C0-774C-630E80AF22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-693" t="570"/>
            <a:stretch/>
          </p:blipFill>
          <p:spPr>
            <a:xfrm>
              <a:off x="990601" y="1219199"/>
              <a:ext cx="3891238" cy="2005997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9E47B1-0182-FC4E-5E9F-76BECBDDFC9F}"/>
                </a:ext>
              </a:extLst>
            </p:cNvPr>
            <p:cNvSpPr/>
            <p:nvPr/>
          </p:nvSpPr>
          <p:spPr>
            <a:xfrm>
              <a:off x="990601" y="1219199"/>
              <a:ext cx="228599" cy="762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6" name="直接箭头连接符 9">
            <a:extLst>
              <a:ext uri="{FF2B5EF4-FFF2-40B4-BE49-F238E27FC236}">
                <a16:creationId xmlns:a16="http://schemas.microsoft.com/office/drawing/2014/main" id="{ED6D87E7-22F6-A40D-BD18-3E2C449DF77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1219306" y="1295400"/>
            <a:ext cx="3276494" cy="8382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本框 8">
            <a:extLst>
              <a:ext uri="{FF2B5EF4-FFF2-40B4-BE49-F238E27FC236}">
                <a16:creationId xmlns:a16="http://schemas.microsoft.com/office/drawing/2014/main" id="{323723BD-9400-88CF-A474-30E1ECAC0829}"/>
              </a:ext>
            </a:extLst>
          </p:cNvPr>
          <p:cNvSpPr txBox="1"/>
          <p:nvPr/>
        </p:nvSpPr>
        <p:spPr>
          <a:xfrm>
            <a:off x="215915" y="1110734"/>
            <a:ext cx="1003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openList</a:t>
            </a:r>
            <a:endParaRPr lang="zh-CN" altLang="en-US" dirty="0"/>
          </a:p>
        </p:txBody>
      </p:sp>
      <p:pic>
        <p:nvPicPr>
          <p:cNvPr id="7" name="图片 7">
            <a:extLst>
              <a:ext uri="{FF2B5EF4-FFF2-40B4-BE49-F238E27FC236}">
                <a16:creationId xmlns:a16="http://schemas.microsoft.com/office/drawing/2014/main" id="{EB332952-D71A-CDB2-093F-062014EF65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3717" y="3886200"/>
            <a:ext cx="2919876" cy="272134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5A54EAE-7FB2-2E98-9BB3-7EAB0A0C0CA8}"/>
              </a:ext>
            </a:extLst>
          </p:cNvPr>
          <p:cNvSpPr/>
          <p:nvPr/>
        </p:nvSpPr>
        <p:spPr>
          <a:xfrm>
            <a:off x="11125200" y="3726324"/>
            <a:ext cx="914400" cy="9980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直接箭头连接符 7">
            <a:extLst>
              <a:ext uri="{FF2B5EF4-FFF2-40B4-BE49-F238E27FC236}">
                <a16:creationId xmlns:a16="http://schemas.microsoft.com/office/drawing/2014/main" id="{5D8EA703-49FB-4539-0382-73425C75792A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1219306" y="1295400"/>
            <a:ext cx="2362094" cy="9906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7869F0C6-BA84-EABD-600B-C750BD44D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981583"/>
              </p:ext>
            </p:extLst>
          </p:nvPr>
        </p:nvGraphicFramePr>
        <p:xfrm>
          <a:off x="5021591" y="523345"/>
          <a:ext cx="3383134" cy="402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4786">
                  <a:extLst>
                    <a:ext uri="{9D8B030D-6E8A-4147-A177-3AD203B41FA5}">
                      <a16:colId xmlns:a16="http://schemas.microsoft.com/office/drawing/2014/main" val="2544753554"/>
                    </a:ext>
                  </a:extLst>
                </a:gridCol>
                <a:gridCol w="741722">
                  <a:extLst>
                    <a:ext uri="{9D8B030D-6E8A-4147-A177-3AD203B41FA5}">
                      <a16:colId xmlns:a16="http://schemas.microsoft.com/office/drawing/2014/main" val="4284987241"/>
                    </a:ext>
                  </a:extLst>
                </a:gridCol>
                <a:gridCol w="1098313">
                  <a:extLst>
                    <a:ext uri="{9D8B030D-6E8A-4147-A177-3AD203B41FA5}">
                      <a16:colId xmlns:a16="http://schemas.microsoft.com/office/drawing/2014/main" val="3575881044"/>
                    </a:ext>
                  </a:extLst>
                </a:gridCol>
                <a:gridCol w="1098313">
                  <a:extLst>
                    <a:ext uri="{9D8B030D-6E8A-4147-A177-3AD203B41FA5}">
                      <a16:colId xmlns:a16="http://schemas.microsoft.com/office/drawing/2014/main" val="3456363485"/>
                    </a:ext>
                  </a:extLst>
                </a:gridCol>
              </a:tblGrid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open_list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close_list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9785369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22600476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ABC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273965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C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ABD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4103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EBD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6129648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BDF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SCAE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320675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5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BDG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SCAEF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68166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BG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SCAEFD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261603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7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SCAFB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51013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8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SCAFBD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055686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9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GF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SCABDE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753119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48643"/>
                  </a:ext>
                </a:extLst>
              </a:tr>
            </a:tbl>
          </a:graphicData>
        </a:graphic>
      </p:graphicFrame>
      <p:pic>
        <p:nvPicPr>
          <p:cNvPr id="36" name="图片 8">
            <a:extLst>
              <a:ext uri="{FF2B5EF4-FFF2-40B4-BE49-F238E27FC236}">
                <a16:creationId xmlns:a16="http://schemas.microsoft.com/office/drawing/2014/main" id="{427DB836-FCC5-0C4B-7CFC-DAED0E94B63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>
            <a:off x="6933645" y="4546705"/>
            <a:ext cx="1780867" cy="1933150"/>
          </a:xfrm>
          <a:prstGeom prst="rect">
            <a:avLst/>
          </a:prstGeom>
        </p:spPr>
      </p:pic>
      <p:sp>
        <p:nvSpPr>
          <p:cNvPr id="9" name="文本框 13">
            <a:extLst>
              <a:ext uri="{FF2B5EF4-FFF2-40B4-BE49-F238E27FC236}">
                <a16:creationId xmlns:a16="http://schemas.microsoft.com/office/drawing/2014/main" id="{5EDF3EDA-B279-8E76-3A87-F78795178945}"/>
              </a:ext>
            </a:extLst>
          </p:cNvPr>
          <p:cNvSpPr txBox="1"/>
          <p:nvPr/>
        </p:nvSpPr>
        <p:spPr>
          <a:xfrm>
            <a:off x="308407" y="3326627"/>
            <a:ext cx="7757187" cy="343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(start)</a:t>
            </a: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min(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key=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lambda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end: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current_node.neighbours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).f &gt;=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).f &gt;=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close_list.pop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neighbour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 and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24856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5" y="321563"/>
            <a:ext cx="292322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heavy" spc="-15" dirty="0">
                <a:uFill>
                  <a:solidFill>
                    <a:srgbClr val="D0CECE"/>
                  </a:solidFill>
                </a:uFill>
              </a:rPr>
              <a:t>Exercise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 4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12" name="矩形 13">
            <a:extLst>
              <a:ext uri="{FF2B5EF4-FFF2-40B4-BE49-F238E27FC236}">
                <a16:creationId xmlns:a16="http://schemas.microsoft.com/office/drawing/2014/main" id="{DC3F009F-EBED-F426-9111-6DF8D565C255}"/>
              </a:ext>
            </a:extLst>
          </p:cNvPr>
          <p:cNvSpPr/>
          <p:nvPr/>
        </p:nvSpPr>
        <p:spPr>
          <a:xfrm>
            <a:off x="6477000" y="1107830"/>
            <a:ext cx="705773" cy="343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2">
            <a:extLst>
              <a:ext uri="{FF2B5EF4-FFF2-40B4-BE49-F238E27FC236}">
                <a16:creationId xmlns:a16="http://schemas.microsoft.com/office/drawing/2014/main" id="{A7D0E6A6-5A09-C89A-634C-B106670CED53}"/>
              </a:ext>
            </a:extLst>
          </p:cNvPr>
          <p:cNvSpPr/>
          <p:nvPr/>
        </p:nvSpPr>
        <p:spPr>
          <a:xfrm>
            <a:off x="2971800" y="2743200"/>
            <a:ext cx="866405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2">
            <a:extLst>
              <a:ext uri="{FF2B5EF4-FFF2-40B4-BE49-F238E27FC236}">
                <a16:creationId xmlns:a16="http://schemas.microsoft.com/office/drawing/2014/main" id="{1EC84022-B133-CF7E-0BCA-20A4F30E0F65}"/>
              </a:ext>
            </a:extLst>
          </p:cNvPr>
          <p:cNvSpPr/>
          <p:nvPr/>
        </p:nvSpPr>
        <p:spPr>
          <a:xfrm>
            <a:off x="2971800" y="2743200"/>
            <a:ext cx="866405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右箭头 16">
            <a:extLst>
              <a:ext uri="{FF2B5EF4-FFF2-40B4-BE49-F238E27FC236}">
                <a16:creationId xmlns:a16="http://schemas.microsoft.com/office/drawing/2014/main" id="{2EB2096C-66DF-5984-1488-E1F600C09D87}"/>
              </a:ext>
            </a:extLst>
          </p:cNvPr>
          <p:cNvSpPr/>
          <p:nvPr/>
        </p:nvSpPr>
        <p:spPr>
          <a:xfrm>
            <a:off x="2188504" y="1358388"/>
            <a:ext cx="658639" cy="3771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9746DC9-644B-BB64-9DC4-02186753D3C6}"/>
              </a:ext>
            </a:extLst>
          </p:cNvPr>
          <p:cNvGrpSpPr/>
          <p:nvPr/>
        </p:nvGrpSpPr>
        <p:grpSpPr>
          <a:xfrm>
            <a:off x="990601" y="1219199"/>
            <a:ext cx="3891238" cy="2005997"/>
            <a:chOff x="990601" y="1219199"/>
            <a:chExt cx="3891238" cy="2005997"/>
          </a:xfrm>
        </p:grpSpPr>
        <p:pic>
          <p:nvPicPr>
            <p:cNvPr id="22" name="图片 11">
              <a:extLst>
                <a:ext uri="{FF2B5EF4-FFF2-40B4-BE49-F238E27FC236}">
                  <a16:creationId xmlns:a16="http://schemas.microsoft.com/office/drawing/2014/main" id="{6D98C770-DA20-C9C0-774C-630E80AF22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693" t="570"/>
            <a:stretch/>
          </p:blipFill>
          <p:spPr>
            <a:xfrm>
              <a:off x="990601" y="1219199"/>
              <a:ext cx="3891238" cy="2005997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9E47B1-0182-FC4E-5E9F-76BECBDDFC9F}"/>
                </a:ext>
              </a:extLst>
            </p:cNvPr>
            <p:cNvSpPr/>
            <p:nvPr/>
          </p:nvSpPr>
          <p:spPr>
            <a:xfrm>
              <a:off x="990601" y="1219199"/>
              <a:ext cx="228599" cy="762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6" name="直接箭头连接符 9">
            <a:extLst>
              <a:ext uri="{FF2B5EF4-FFF2-40B4-BE49-F238E27FC236}">
                <a16:creationId xmlns:a16="http://schemas.microsoft.com/office/drawing/2014/main" id="{ED6D87E7-22F6-A40D-BD18-3E2C449DF77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1219306" y="1295400"/>
            <a:ext cx="3276494" cy="8382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本框 8">
            <a:extLst>
              <a:ext uri="{FF2B5EF4-FFF2-40B4-BE49-F238E27FC236}">
                <a16:creationId xmlns:a16="http://schemas.microsoft.com/office/drawing/2014/main" id="{323723BD-9400-88CF-A474-30E1ECAC0829}"/>
              </a:ext>
            </a:extLst>
          </p:cNvPr>
          <p:cNvSpPr txBox="1"/>
          <p:nvPr/>
        </p:nvSpPr>
        <p:spPr>
          <a:xfrm>
            <a:off x="215915" y="1110734"/>
            <a:ext cx="1003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openList</a:t>
            </a:r>
            <a:endParaRPr lang="zh-CN" altLang="en-US" dirty="0"/>
          </a:p>
        </p:txBody>
      </p:sp>
      <p:pic>
        <p:nvPicPr>
          <p:cNvPr id="7" name="图片 7">
            <a:extLst>
              <a:ext uri="{FF2B5EF4-FFF2-40B4-BE49-F238E27FC236}">
                <a16:creationId xmlns:a16="http://schemas.microsoft.com/office/drawing/2014/main" id="{EB332952-D71A-CDB2-093F-062014EF6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1163" y="1196805"/>
            <a:ext cx="2919876" cy="272134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5A54EAE-7FB2-2E98-9BB3-7EAB0A0C0CA8}"/>
              </a:ext>
            </a:extLst>
          </p:cNvPr>
          <p:cNvSpPr/>
          <p:nvPr/>
        </p:nvSpPr>
        <p:spPr>
          <a:xfrm>
            <a:off x="11125200" y="3726324"/>
            <a:ext cx="914400" cy="9980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图片 7">
            <a:extLst>
              <a:ext uri="{FF2B5EF4-FFF2-40B4-BE49-F238E27FC236}">
                <a16:creationId xmlns:a16="http://schemas.microsoft.com/office/drawing/2014/main" id="{DB6EC850-AF2C-84D8-E03C-8F88CCE8D8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7678" y="3958676"/>
            <a:ext cx="3090736" cy="2721344"/>
          </a:xfrm>
          <a:prstGeom prst="rect">
            <a:avLst/>
          </a:prstGeom>
        </p:spPr>
      </p:pic>
      <p:sp>
        <p:nvSpPr>
          <p:cNvPr id="11" name="矩形 8">
            <a:extLst>
              <a:ext uri="{FF2B5EF4-FFF2-40B4-BE49-F238E27FC236}">
                <a16:creationId xmlns:a16="http://schemas.microsoft.com/office/drawing/2014/main" id="{9FABD716-83AC-98DE-FA0D-581DF9ED7A8C}"/>
              </a:ext>
            </a:extLst>
          </p:cNvPr>
          <p:cNvSpPr/>
          <p:nvPr/>
        </p:nvSpPr>
        <p:spPr>
          <a:xfrm>
            <a:off x="11718803" y="4584371"/>
            <a:ext cx="320797" cy="1587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8">
            <a:extLst>
              <a:ext uri="{FF2B5EF4-FFF2-40B4-BE49-F238E27FC236}">
                <a16:creationId xmlns:a16="http://schemas.microsoft.com/office/drawing/2014/main" id="{ECBC42CD-1F5B-293B-8193-ED4011AEF0DF}"/>
              </a:ext>
            </a:extLst>
          </p:cNvPr>
          <p:cNvSpPr/>
          <p:nvPr/>
        </p:nvSpPr>
        <p:spPr>
          <a:xfrm>
            <a:off x="10960427" y="3860471"/>
            <a:ext cx="1204493" cy="9157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8">
            <a:extLst>
              <a:ext uri="{FF2B5EF4-FFF2-40B4-BE49-F238E27FC236}">
                <a16:creationId xmlns:a16="http://schemas.microsoft.com/office/drawing/2014/main" id="{F744B768-92DC-7C50-8622-EDAC9E9EE59F}"/>
              </a:ext>
            </a:extLst>
          </p:cNvPr>
          <p:cNvSpPr/>
          <p:nvPr/>
        </p:nvSpPr>
        <p:spPr>
          <a:xfrm>
            <a:off x="10791846" y="1040922"/>
            <a:ext cx="1204493" cy="9157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455D0E4-FAAC-FE2A-517C-BE3E8CFF97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600059"/>
              </p:ext>
            </p:extLst>
          </p:nvPr>
        </p:nvGraphicFramePr>
        <p:xfrm>
          <a:off x="5021591" y="243840"/>
          <a:ext cx="3383134" cy="402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4786">
                  <a:extLst>
                    <a:ext uri="{9D8B030D-6E8A-4147-A177-3AD203B41FA5}">
                      <a16:colId xmlns:a16="http://schemas.microsoft.com/office/drawing/2014/main" val="2544753554"/>
                    </a:ext>
                  </a:extLst>
                </a:gridCol>
                <a:gridCol w="741722">
                  <a:extLst>
                    <a:ext uri="{9D8B030D-6E8A-4147-A177-3AD203B41FA5}">
                      <a16:colId xmlns:a16="http://schemas.microsoft.com/office/drawing/2014/main" val="4284987241"/>
                    </a:ext>
                  </a:extLst>
                </a:gridCol>
                <a:gridCol w="1098313">
                  <a:extLst>
                    <a:ext uri="{9D8B030D-6E8A-4147-A177-3AD203B41FA5}">
                      <a16:colId xmlns:a16="http://schemas.microsoft.com/office/drawing/2014/main" val="3575881044"/>
                    </a:ext>
                  </a:extLst>
                </a:gridCol>
                <a:gridCol w="1098313">
                  <a:extLst>
                    <a:ext uri="{9D8B030D-6E8A-4147-A177-3AD203B41FA5}">
                      <a16:colId xmlns:a16="http://schemas.microsoft.com/office/drawing/2014/main" val="3456363485"/>
                    </a:ext>
                  </a:extLst>
                </a:gridCol>
              </a:tblGrid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open_list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close_list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9785369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22600476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ABC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273965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C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ABD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4103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EBD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6129648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BDF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SCAE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320675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5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BDG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SCAEF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68166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BG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SCAEFD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261603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7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SCAFB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510134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8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SCAFBD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055686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9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GF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SCABDE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753119"/>
                  </a:ext>
                </a:extLst>
              </a:tr>
              <a:tr h="2839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10</a:t>
                      </a:r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F</a:t>
                      </a:r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G</a:t>
                      </a:r>
                      <a:endParaRPr lang="en-US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SCABDEF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48643"/>
                  </a:ext>
                </a:extLst>
              </a:tr>
            </a:tbl>
          </a:graphicData>
        </a:graphic>
      </p:graphicFrame>
      <p:sp>
        <p:nvSpPr>
          <p:cNvPr id="13" name="文本框 13">
            <a:extLst>
              <a:ext uri="{FF2B5EF4-FFF2-40B4-BE49-F238E27FC236}">
                <a16:creationId xmlns:a16="http://schemas.microsoft.com/office/drawing/2014/main" id="{81D84933-DD12-9196-5070-2A92C6FE2091}"/>
              </a:ext>
            </a:extLst>
          </p:cNvPr>
          <p:cNvSpPr txBox="1"/>
          <p:nvPr/>
        </p:nvSpPr>
        <p:spPr>
          <a:xfrm>
            <a:off x="308407" y="3326627"/>
            <a:ext cx="7757187" cy="343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(start)</a:t>
            </a: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min(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key=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lambda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end: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current_node.neighbours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).f &gt;=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).f &gt;=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neighbour.f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1400" b="0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Cccccccccccc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close_list.pop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neighbour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 and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open_list.append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neighbour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085173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0"/>
              </a:spcBef>
            </a:pPr>
            <a:r>
              <a:rPr dirty="0"/>
              <a:t>Thanks </a:t>
            </a:r>
            <a:r>
              <a:rPr spc="-5" dirty="0"/>
              <a:t>for </a:t>
            </a:r>
            <a:r>
              <a:rPr dirty="0"/>
              <a:t>your</a:t>
            </a:r>
            <a:r>
              <a:rPr spc="-395" dirty="0"/>
              <a:t> </a:t>
            </a:r>
            <a:r>
              <a:rPr spc="-5" dirty="0"/>
              <a:t>time</a:t>
            </a:r>
          </a:p>
        </p:txBody>
      </p:sp>
      <p:sp>
        <p:nvSpPr>
          <p:cNvPr id="3" name="object 3"/>
          <p:cNvSpPr/>
          <p:nvPr/>
        </p:nvSpPr>
        <p:spPr>
          <a:xfrm>
            <a:off x="285008" y="3859479"/>
            <a:ext cx="11730990" cy="0"/>
          </a:xfrm>
          <a:custGeom>
            <a:avLst/>
            <a:gdLst/>
            <a:ahLst/>
            <a:cxnLst/>
            <a:rect l="l" t="t" r="r" b="b"/>
            <a:pathLst>
              <a:path w="11730990">
                <a:moveTo>
                  <a:pt x="0" y="0"/>
                </a:moveTo>
                <a:lnTo>
                  <a:pt x="11730806" y="1"/>
                </a:lnTo>
              </a:path>
            </a:pathLst>
          </a:custGeom>
          <a:ln w="12700">
            <a:solidFill>
              <a:srgbClr val="D0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450719" y="411408"/>
            <a:ext cx="3460750" cy="6631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3671</TotalTime>
  <Words>3236</Words>
  <Application>Microsoft Macintosh PowerPoint</Application>
  <PresentationFormat>Widescreen</PresentationFormat>
  <Paragraphs>655</Paragraphs>
  <Slides>33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Carlito</vt:lpstr>
      <vt:lpstr>等线</vt:lpstr>
      <vt:lpstr>Arial</vt:lpstr>
      <vt:lpstr>Calibri</vt:lpstr>
      <vt:lpstr>Cambria Math</vt:lpstr>
      <vt:lpstr>Menlo</vt:lpstr>
      <vt:lpstr>Times New Roman</vt:lpstr>
      <vt:lpstr>Office Theme</vt:lpstr>
      <vt:lpstr>Tutorial 2  COMP5511 Artificial Intelligence Concepts</vt:lpstr>
      <vt:lpstr>Search Algorithm</vt:lpstr>
      <vt:lpstr> Breadth-first Search</vt:lpstr>
      <vt:lpstr> Breadth-first Search</vt:lpstr>
      <vt:lpstr> Depth-first Search </vt:lpstr>
      <vt:lpstr> Hill Climbing</vt:lpstr>
      <vt:lpstr> Hill Climbing</vt:lpstr>
      <vt:lpstr> Hill Climbing</vt:lpstr>
      <vt:lpstr> Hill Climbing</vt:lpstr>
      <vt:lpstr> Hill Climbing</vt:lpstr>
      <vt:lpstr>Exercise</vt:lpstr>
      <vt:lpstr> Exercise 1</vt:lpstr>
      <vt:lpstr> Exercise 1</vt:lpstr>
      <vt:lpstr> Exercise 2</vt:lpstr>
      <vt:lpstr> Exercise 2</vt:lpstr>
      <vt:lpstr> Exercise 3</vt:lpstr>
      <vt:lpstr> Exercise 3</vt:lpstr>
      <vt:lpstr> Exercise 3</vt:lpstr>
      <vt:lpstr> Exercise 3</vt:lpstr>
      <vt:lpstr> Exercise 3</vt:lpstr>
      <vt:lpstr> Exercise 3</vt:lpstr>
      <vt:lpstr> Exercise 4</vt:lpstr>
      <vt:lpstr> Exercise 4</vt:lpstr>
      <vt:lpstr> Exercise 4</vt:lpstr>
      <vt:lpstr> Exercise 4</vt:lpstr>
      <vt:lpstr> Exercise 4</vt:lpstr>
      <vt:lpstr> Exercise 4</vt:lpstr>
      <vt:lpstr> Exercise 4</vt:lpstr>
      <vt:lpstr> Exercise 4</vt:lpstr>
      <vt:lpstr> Exercise 4</vt:lpstr>
      <vt:lpstr> Exercise 4</vt:lpstr>
      <vt:lpstr> Exercise 4</vt:lpstr>
      <vt:lpstr>Thanks for your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2 COMP5511: Artificial Intelligence Concepts</dc:title>
  <dc:creator>lzm</dc:creator>
  <cp:lastModifiedBy>Haokai Hong</cp:lastModifiedBy>
  <cp:revision>42</cp:revision>
  <dcterms:created xsi:type="dcterms:W3CDTF">2021-09-06T05:53:42Z</dcterms:created>
  <dcterms:modified xsi:type="dcterms:W3CDTF">2025-09-07T09:22:15Z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2021-01-29T00:00:00Z</vt:filetime>
  </property>
  <property fmtid="{D5CDD505-2E9C-101B-9397-08002B2CF9AE}" pid="3" name="LastSaved">
    <vt:filetime>2021-09-06T00:00:00Z</vt:filetime>
  </property>
</Properties>
</file>